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0:30</a:t>
            </a:r>
          </a:p>
          <a:p xmlns:a="http://schemas.openxmlformats.org/drawingml/2006/main"/>
          <a:p xmlns:a="http://schemas.openxmlformats.org/drawingml/2006/main">
            <a:r>
              <a:t>Good afternoon. I'm Zenan, and with Luke and Michael I'll show you how we taught a robot to understand what a construction worker is doing, so it keeps them safe without stopping all the time. I'll cover the problem and our solution, Michael the rig and results, and Luke the project management and what it takes to use this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Installing ceiling panels means holding heavy boards above your head. A collaborative robot can take the weight while the worker does what people are good at: aligning and fixing the panel.</a:t>
            </a:r>
          </a:p>
          <a:p/>
          <a:p>
            <a:r>
              <a:t>The catch is that the worker now stands next to a moving robot. Today's standard approach draws fixed zones around the robot and stops it whenever someone is inside. It can't tell someone walking in to work from someone walking away.</a:t>
            </a:r>
          </a:p>
          <a:p/>
          <a:p>
            <a:r>
              <a:t>Stop too late and someone gets hurt. Stop too often and crews switch the robot off. Getting this right helps installation crews, contractors, and the engineers who design and certify these systems.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1:15</a:t>
            </a:r>
          </a:p>
          <a:p/>
          <a:p>
            <a:r>
              <a:t>My part of the project was the software: the controllers, the sensing and the link to the robot. We compared three controllers, each adding one piece of information.</a:t>
            </a:r>
          </a:p>
          <a:p/>
          <a:p>
            <a:r>
              <a:t>Fixed zones use distance only; that's today's practice, so it's our baseline. Reactive control also looks at how fast you're approaching. Our predictive controller adds the task phase, whether you're approaching, working or walking away, plus a predictor that flags when you're about to step into the stop zone.</a:t>
            </a:r>
          </a:p>
          <a:p/>
          <a:p>
            <a:r>
              <a:t>The key rule is in the dark bar: the learned parts can only slow the robot, never speed it up. So a wrong guess can never make it less safe than the reactive controller.</a:t>
            </a:r>
          </a:p>
          <a:p/>
          <a:p>
            <a:r>
              <a:t>Why these choices? The robot carries a panel, so contact while it moves is not acceptable; that points to speed and separation monitoring from the robot safety standard. The hidden Markov model gives explainable phases from very little training data. And the slow-only rule means safety never depends on the machine learning being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0:45</a:t>
            </a:r>
          </a:p>
          <a:p/>
          <a:p>
            <a:r>
              <a:t>Twelve people took part under Monash ethics approval. Each did three blocks of the panel task, one controller per block, in rotated order, with cued movements like a quick step toward the robot, and a short questionnaire after each block.</a:t>
            </a:r>
          </a:p>
          <a:p/>
          <a:p>
            <a:r>
              <a:t>Our key method decision was logging every sensor input. That let us replay all three controllers on exactly the same movement, like three referees judging the same match footage, so differences come from the controller, not the person. The replay matched every command the robot actually received.</a:t>
            </a:r>
          </a:p>
          <a:p/>
          <a:p>
            <a:r>
              <a:t>Michael will now show you the rig we tested on and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the physical setup and assembly of this cell. [Michael: name one or two concrete things you set up.]</a:t>
            </a:r>
          </a:p>
          <a:p/>
          <a:p>
            <a:r>
              <a:t>The UR10 arm lifts a light panel stand-in to ceiling height and holds it while the participant works underneath. The cameras on the overhead frame track a marker cap on the head to about a millimetre. The suit uses small motion sensors to give 23 body segments. The controller reads all of this about sixty times a second and decides how fast the robot may move.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First, safety. Each time someone stepped into the stop zone, 970 times in total, all three controllers had already asked the robot to stop. On the measured distance, none of them failed.</a:t>
            </a:r>
          </a:p>
          <a:p/>
          <a:p>
            <a:r>
              <a:t>The difference is timing. Ours asked for the stop about a tenth of a second earlier than fixed zones, for every one of the twelve people.</a:t>
            </a:r>
          </a:p>
          <a:p/>
          <a:p>
            <a:r>
              <a:t>That matters when the distance is measured wrongly, which it always is a little. If the true distance was 5 centimetres smaller than measured, fixed zones would still have covered 31 percent of entries, reactive 42, and ours 67. The prediction buys a safety margin against sensing error.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0:45</a:t>
            </a:r>
          </a:p>
          <a:p/>
          <a:p>
            <a:r>
              <a:t>The cost: our controller flicked between stop and go far more often, about fifteen brief stop requests a minute against two for fixed zones. It releases the stop as soon as the risk dips, so a noisy speed estimate makes it flicker. A short release delay should remove most of this.</a:t>
            </a:r>
          </a:p>
          <a:p/>
          <a:p>
            <a:r>
              <a:t>Overall it added under a second of unnecessary stopping per minute, and participants didn't notice. Their picks for the safest block were spread three, five and three across the controllers, which is chance.</a:t>
            </a:r>
          </a:p>
          <a:p/>
          <a:p>
            <a:r>
              <a:t>And once asked, the robot stopped in a median of 0.16 seconds, never more than 0.23.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0:45</a:t>
            </a:r>
          </a:p>
          <a:p/>
          <a:p>
            <a:r>
              <a:t>The biggest lesson was not which controller is best. Under all three, the robot was stopped for about a third of every trial, because the task puts the worker in the stop zone: you have to be close to load the panel, work under it and unload it.</a:t>
            </a:r>
          </a:p>
          <a:p/>
          <a:p>
            <a:r>
              <a:t>So the next real gain is switching to a contact-safe mode, like hand guiding, while the worker is under the panel. Our system already knows the phase, so it can make that switch.</a:t>
            </a:r>
          </a:p>
          <a:p/>
          <a:p>
            <a:r>
              <a:t>Luke will now explain how we managed the project and what it would take to use this on a real site.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0:55</a:t>
            </a:r>
          </a:p>
          <a:p/>
          <a:p>
            <a:r>
              <a:t>My role was coordinating with the lab staff and our supervisors, Yihai and Will. We planned four stages: design and simulation in July, building and pilot-testing the rig in August, twelve participant sessions in September, and analysis and writing in October.</a:t>
            </a:r>
          </a:p>
          <a:p/>
          <a:p>
            <a:r>
              <a:t>Three setbacks shaped the project. Some sessions restarted under a new participant ID, so we worked out from the data who was who, using helmet height and intake answers. Midway through, the software's distance reference changed, so we analysed the two versions separately and replayed the exact code that ran. And our supervisors found the paper too technical, so we rewrote it in plain language. Each setback narrowed what we could claim, and we reported that honestly.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Moving from the lab to a site brings real constraints.</a:t>
            </a:r>
          </a:p>
          <a:p/>
          <a:p>
            <a:r>
              <a:t>Safety: this is a research prototype using the robot's ordinary speed controls, not a certified safety function, and our measurements suggest allowing half a second to react, not 0.4.</a:t>
            </a:r>
          </a:p>
          <a:p/>
          <a:p>
            <a:r>
              <a:t>Cost: cameras and suits need calibration, maintenance and training for every crew, weighed against the labour saved.</a:t>
            </a:r>
          </a:p>
          <a:p/>
          <a:p>
            <a:r>
              <a:t>Health: the aim is to take overhead lifting off workers, and the suit was rated only mildly restrictive.</a:t>
            </a:r>
          </a:p>
          <a:p/>
          <a:p>
            <a:r>
              <a:t>Carbon: we didn't measure energy use, so we make no carbon claim.</a:t>
            </a:r>
          </a:p>
          <a:p/>
          <a:p>
            <a:r>
              <a:t>People: participants felt safe, but crews have to accept a robot as a co-worker, and any site system must meet the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0:35</a:t>
            </a:r>
          </a:p>
          <a:p/>
          <a:p>
            <a:r>
              <a:t>So, our answer. On safety, yes: our controller was as safe as fixed zones on every measure, with more margin when the sensors are wrong. On efficiency, partly: trials took the same time, but the robot stopped slightly more.</a:t>
            </a:r>
          </a:p>
          <a:p/>
          <a:p>
            <a:r>
              <a:t>Next: a release delay, a contact-safe mode under the panel, and trials with real crews.</a:t>
            </a:r>
          </a:p>
          <a:p/>
          <a:p>
            <a:r>
              <a:t>If you're choosing an FYP, this area combines robotics, sensing, human factors and construction, and there's plenty left to do.</a:t>
            </a:r>
          </a:p>
          <a:p/>
          <a:p>
            <a:r>
              <a:t>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Keeping workers safe without stopping the robot for no reason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pic>
        <p:nvPicPr>
          <p:cNvPr id="4" name="Picture 3" descr="task-frame.jpg"/>
          <p:cNvPicPr>
            <a:picLocks noChangeAspect="1"/>
          </p:cNvPicPr>
          <p:nvPr/>
        </p:nvPicPr>
        <p:blipFill>
          <a:blip r:embed="rId2"/>
          <a:stretch>
            <a:fillRect/>
          </a:stretch>
        </p:blipFill>
        <p:spPr>
          <a:xfrm>
            <a:off x="548640" y="1325880"/>
            <a:ext cx="4191000" cy="4526280"/>
          </a:xfrm>
          <a:prstGeom prst="rect">
            <a:avLst/>
          </a:prstGeom>
        </p:spPr>
      </p:pic>
      <p:sp>
        <p:nvSpPr>
          <p:cNvPr id="5" name="Oval 4"/>
          <p:cNvSpPr/>
          <p:nvPr/>
        </p:nvSpPr>
        <p:spPr>
          <a:xfrm>
            <a:off x="5349240" y="137160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6035040" y="1325880"/>
            <a:ext cx="5669280" cy="1188720"/>
          </a:xfrm>
          <a:prstGeom prst="rect">
            <a:avLst/>
          </a:prstGeom>
          <a:noFill/>
        </p:spPr>
        <p:txBody>
          <a:bodyPr wrap="square" anchor="t" lIns="45720" rIns="45720">
            <a:spAutoFit/>
          </a:bodyPr>
          <a:lstStyle/>
          <a:p>
            <a:pPr algn="l"/>
            <a:r>
              <a:rPr sz="1900" b="1">
                <a:solidFill>
                  <a:srgbClr val="172D3D"/>
                </a:solidFill>
                <a:latin typeface="Arial"/>
              </a:rPr>
              <a:t>Overhead panel work is heavy and awkward</a:t>
            </a:r>
          </a:p>
          <a:p>
            <a:pPr algn="l">
              <a:spcBef>
                <a:spcPts val="855"/>
              </a:spcBef>
            </a:pPr>
            <a:r>
              <a:rPr sz="1900" b="0">
                <a:solidFill>
                  <a:srgbClr val="172D3D"/>
                </a:solidFill>
                <a:latin typeface="Arial"/>
              </a:rPr>
              <a:t>A robot can hold the panel while the worker does the skilled part.</a:t>
            </a:r>
          </a:p>
        </p:txBody>
      </p:sp>
      <p:sp>
        <p:nvSpPr>
          <p:cNvPr id="7" name="Oval 6"/>
          <p:cNvSpPr/>
          <p:nvPr/>
        </p:nvSpPr>
        <p:spPr>
          <a:xfrm>
            <a:off x="534924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6035040" y="2560320"/>
            <a:ext cx="5669280" cy="1188720"/>
          </a:xfrm>
          <a:prstGeom prst="rect">
            <a:avLst/>
          </a:prstGeom>
          <a:noFill/>
        </p:spPr>
        <p:txBody>
          <a:bodyPr wrap="square" anchor="t" lIns="45720" rIns="45720">
            <a:spAutoFit/>
          </a:bodyPr>
          <a:lstStyle/>
          <a:p>
            <a:pPr algn="l"/>
            <a:r>
              <a:rPr sz="1900" b="1">
                <a:solidFill>
                  <a:srgbClr val="172D3D"/>
                </a:solidFill>
                <a:latin typeface="Arial"/>
              </a:rPr>
              <a:t>So the worker stands next to a moving robot</a:t>
            </a:r>
          </a:p>
          <a:p>
            <a:pPr algn="l">
              <a:spcBef>
                <a:spcPts val="855"/>
              </a:spcBef>
            </a:pPr>
            <a:r>
              <a:rPr sz="1900" b="0">
                <a:solidFill>
                  <a:srgbClr val="172D3D"/>
                </a:solidFill>
                <a:latin typeface="Arial"/>
              </a:rPr>
              <a:t>Safety zones stop the robot whenever someone is close.</a:t>
            </a:r>
          </a:p>
        </p:txBody>
      </p:sp>
      <p:sp>
        <p:nvSpPr>
          <p:cNvPr id="9" name="Oval 8"/>
          <p:cNvSpPr/>
          <p:nvPr/>
        </p:nvSpPr>
        <p:spPr>
          <a:xfrm>
            <a:off x="5349240" y="384048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6035040" y="3794760"/>
            <a:ext cx="5669280" cy="1188720"/>
          </a:xfrm>
          <a:prstGeom prst="rect">
            <a:avLst/>
          </a:prstGeom>
          <a:noFill/>
        </p:spPr>
        <p:txBody>
          <a:bodyPr wrap="square" anchor="t" lIns="45720" rIns="45720">
            <a:spAutoFit/>
          </a:bodyPr>
          <a:lstStyle/>
          <a:p>
            <a:pPr algn="l"/>
            <a:r>
              <a:rPr sz="1900" b="1">
                <a:solidFill>
                  <a:srgbClr val="172D3D"/>
                </a:solidFill>
                <a:latin typeface="Arial"/>
              </a:rPr>
              <a:t>Stop too late: injury.  Stop too often: no one uses it.</a:t>
            </a:r>
          </a:p>
          <a:p>
            <a:pPr algn="l">
              <a:spcBef>
                <a:spcPts val="855"/>
              </a:spcBef>
            </a:pPr>
            <a:r>
              <a:rPr sz="1900" b="0">
                <a:solidFill>
                  <a:srgbClr val="172D3D"/>
                </a:solidFill>
                <a:latin typeface="Arial"/>
              </a:rPr>
              <a:t>The safety system has to be right in both directions.</a:t>
            </a:r>
          </a:p>
        </p:txBody>
      </p:sp>
      <p:sp>
        <p:nvSpPr>
          <p:cNvPr id="11" name="Rounded Rectangle 10"/>
          <p:cNvSpPr/>
          <p:nvPr/>
        </p:nvSpPr>
        <p:spPr>
          <a:xfrm>
            <a:off x="5349240" y="5120640"/>
            <a:ext cx="6355080" cy="7315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148072"/>
            <a:ext cx="6126480" cy="685800"/>
          </a:xfrm>
          <a:prstGeom prst="rect">
            <a:avLst/>
          </a:prstGeom>
          <a:noFill/>
        </p:spPr>
        <p:txBody>
          <a:bodyPr wrap="square" anchor="ctr" lIns="45720" rIns="45720">
            <a:spAutoFit/>
          </a:bodyPr>
          <a:lstStyle/>
          <a:p>
            <a:pPr algn="l"/>
            <a:r>
              <a:rPr sz="1600" b="1">
                <a:solidFill>
                  <a:srgbClr val="172D3D"/>
                </a:solidFill>
                <a:latin typeface="Arial"/>
              </a:rPr>
              <a:t>Who benefits: </a:t>
            </a:r>
            <a:r>
              <a:rPr sz="1600" b="0">
                <a:solidFill>
                  <a:srgbClr val="172D3D"/>
                </a:solidFill>
                <a:latin typeface="Arial"/>
              </a:rPr>
              <a:t>installation crews, contractors, and the engineers who design and certify collaborative robots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pic>
        <p:nvPicPr>
          <p:cNvPr id="4" name="Picture 3" descr="apparatus-a.jpg"/>
          <p:cNvPicPr>
            <a:picLocks noChangeAspect="1"/>
          </p:cNvPicPr>
          <p:nvPr/>
        </p:nvPicPr>
        <p:blipFill>
          <a:blip r:embed="rId2"/>
          <a:stretch>
            <a:fillRect/>
          </a:stretch>
        </p:blipFill>
        <p:spPr>
          <a:xfrm>
            <a:off x="548640" y="1234440"/>
            <a:ext cx="6675120" cy="3754755"/>
          </a:xfrm>
          <a:prstGeom prst="rect">
            <a:avLst/>
          </a:prstGeom>
        </p:spPr>
      </p:pic>
      <p:pic>
        <p:nvPicPr>
          <p:cNvPr id="5" name="Picture 4" descr="apparatus-b.jpg"/>
          <p:cNvPicPr>
            <a:picLocks noChangeAspect="1"/>
          </p:cNvPicPr>
          <p:nvPr/>
        </p:nvPicPr>
        <p:blipFill>
          <a:blip r:embed="rId3"/>
          <a:stretch>
            <a:fillRect/>
          </a:stretch>
        </p:blipFill>
        <p:spPr>
          <a:xfrm>
            <a:off x="7726679" y="1234440"/>
            <a:ext cx="4023360" cy="2259787"/>
          </a:xfrm>
          <a:prstGeom prst="rect">
            <a:avLst/>
          </a:prstGeom>
        </p:spPr>
      </p:pic>
      <p:pic>
        <p:nvPicPr>
          <p:cNvPr id="6" name="Picture 5" descr="apparatus-c.jpg"/>
          <p:cNvPicPr>
            <a:picLocks noChangeAspect="1"/>
          </p:cNvPicPr>
          <p:nvPr/>
        </p:nvPicPr>
        <p:blipFill>
          <a:blip r:embed="rId4"/>
          <a:stretch>
            <a:fillRect/>
          </a:stretch>
        </p:blipFill>
        <p:spPr>
          <a:xfrm>
            <a:off x="7726679" y="3593592"/>
            <a:ext cx="4023360" cy="2263140"/>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a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positions of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no better than chance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actually stop (max 0.23 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39"/>
            <a:ext cx="3200400" cy="1965960"/>
          </a:xfrm>
          <a:prstGeom prst="rect">
            <a:avLst/>
          </a:prstGeom>
          <a:noFill/>
        </p:spPr>
        <p:txBody>
          <a:bodyPr wrap="square" anchor="t" lIns="45720" rIns="45720">
            <a:spAutoFit/>
          </a:bodyPr>
          <a:lstStyle/>
          <a:p>
            <a:pPr algn="l"/>
            <a:r>
              <a:rPr sz="2100" b="1">
                <a:solidFill>
                  <a:srgbClr val="006DAE"/>
                </a:solidFill>
                <a:latin typeface="Arial"/>
              </a:rPr>
              <a:t>Net zero carbon</a:t>
            </a:r>
          </a:p>
          <a:p>
            <a:pPr algn="l">
              <a:spcBef>
                <a:spcPts val="810"/>
              </a:spcBef>
            </a:pPr>
            <a:r>
              <a:rPr sz="1800" b="0">
                <a:solidFill>
                  <a:srgbClr val="172D3D"/>
                </a:solidFill>
                <a:latin typeface="Arial"/>
              </a:rPr>
              <a:t>Not measured. Robot energy and any saving from less rework need their own study.</a:t>
            </a:r>
          </a:p>
        </p:txBody>
      </p:sp>
      <p:sp>
        <p:nvSpPr>
          <p:cNvPr id="12" name="Rounded Rectangle 11"/>
          <p:cNvSpPr/>
          <p:nvPr/>
        </p:nvSpPr>
        <p:spPr>
          <a:xfrm>
            <a:off x="434340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749039"/>
            <a:ext cx="3200400"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4" name="Rounded Rectangle 13"/>
          <p:cNvSpPr/>
          <p:nvPr/>
        </p:nvSpPr>
        <p:spPr>
          <a:xfrm>
            <a:off x="813816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749039"/>
            <a:ext cx="3200400"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