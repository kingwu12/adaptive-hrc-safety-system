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0718b674bb4430d" Type="http://schemas.openxmlformats.org/officeDocument/2006/relationships/extended-properties" Target="docProps/app.xml"/><Relationship Id="R43d2732ff6134f34" Type="http://schemas.openxmlformats.org/package/2006/relationships/metadata/core-properties" Target="docProps/core.xml"/><Relationship Id="Rfb1adf5d5f48450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b3804e82d8a4676"/>
  </p:sldMasterIdLst>
  <p:notesMasterIdLst>
    <p:notesMasterId xmlns:r="http://schemas.openxmlformats.org/officeDocument/2006/relationships" r:id="Rd5667a8528e84bc1"/>
  </p:notesMasterIdLst>
  <p:sldIdLst>
    <p:sldId xmlns:r="http://schemas.openxmlformats.org/officeDocument/2006/relationships" id="256" r:id="Ref2a4bf3706c4352"/>
    <p:sldId xmlns:r="http://schemas.openxmlformats.org/officeDocument/2006/relationships" id="257" r:id="Re6cd846b0b584733"/>
    <p:sldId xmlns:r="http://schemas.openxmlformats.org/officeDocument/2006/relationships" id="258" r:id="R731e077aa12e4340"/>
    <p:sldId xmlns:ns0="http://schemas.openxmlformats.org/officeDocument/2006/relationships" id="268" ns0:id="rId19"/>
    <p:sldId xmlns:ns0="http://schemas.openxmlformats.org/officeDocument/2006/relationships" id="269" ns0:id="rId20"/>
    <p:sldId xmlns:r="http://schemas.openxmlformats.org/officeDocument/2006/relationships" id="259" r:id="Rf6250f778e214466"/>
    <p:sldId xmlns:r="http://schemas.openxmlformats.org/officeDocument/2006/relationships" id="260" r:id="R427b3517ce644e16"/>
    <p:sldId xmlns:r="http://schemas.openxmlformats.org/officeDocument/2006/relationships" id="261" r:id="R1e9d0d0c5f744df0"/>
    <p:sldId xmlns:r="http://schemas.openxmlformats.org/officeDocument/2006/relationships" id="262" r:id="R67d8387fc811496e"/>
    <p:sldId xmlns:r="http://schemas.openxmlformats.org/officeDocument/2006/relationships" id="263" r:id="R65dff22df0704d17"/>
    <p:sldId xmlns:ns0="http://schemas.openxmlformats.org/officeDocument/2006/relationships" id="270" ns0:id="rId21"/>
    <p:sldId xmlns:ns0="http://schemas.openxmlformats.org/officeDocument/2006/relationships" id="271" ns0:id="rId22"/>
    <p:sldId xmlns:r="http://schemas.openxmlformats.org/officeDocument/2006/relationships" id="264" r:id="R5788775e71334f66"/>
    <p:sldId xmlns:r="http://schemas.openxmlformats.org/officeDocument/2006/relationships" id="265" r:id="Re14ba9e474d542fd"/>
    <p:sldId xmlns:r="http://schemas.openxmlformats.org/officeDocument/2006/relationships" id="266" r:id="R7735b38b9c204791"/>
    <p:sldId xmlns:r="http://schemas.openxmlformats.org/officeDocument/2006/relationships" id="267" r:id="R997e45ef8e6d46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1b3804e82d8a4676" Type="http://schemas.openxmlformats.org/officeDocument/2006/relationships/slideMaster" Target="slideMasters/slideMaster1.xml"/><Relationship Id="R1e9d0d0c5f744df0" Type="http://schemas.openxmlformats.org/officeDocument/2006/relationships/slide" Target="slides/slide6.xml"/><Relationship Id="R2aef5c3067004dd4" Type="http://schemas.openxmlformats.org/officeDocument/2006/relationships/tableStyles" Target="tableStyles.xml"/><Relationship Id="R427b3517ce644e16" Type="http://schemas.openxmlformats.org/officeDocument/2006/relationships/slide" Target="slides/slide5.xml"/><Relationship Id="R5788775e71334f66" Type="http://schemas.openxmlformats.org/officeDocument/2006/relationships/slide" Target="slides/slide9.xml"/><Relationship Id="R62cd735ce6a94590" Type="http://schemas.openxmlformats.org/officeDocument/2006/relationships/viewProps" Target="viewProps.xml"/><Relationship Id="R65dff22df0704d17" Type="http://schemas.openxmlformats.org/officeDocument/2006/relationships/slide" Target="slides/slide8.xml"/><Relationship Id="R67d8387fc811496e" Type="http://schemas.openxmlformats.org/officeDocument/2006/relationships/slide" Target="slides/slide7.xml"/><Relationship Id="R731e077aa12e4340" Type="http://schemas.openxmlformats.org/officeDocument/2006/relationships/slide" Target="slides/slide3.xml"/><Relationship Id="R7735b38b9c204791" Type="http://schemas.openxmlformats.org/officeDocument/2006/relationships/slide" Target="slides/slide11.xml"/><Relationship Id="R997e45ef8e6d46c1" Type="http://schemas.openxmlformats.org/officeDocument/2006/relationships/slide" Target="slides/slide12.xml"/><Relationship Id="Ra6d426e1991e4c5d" Type="http://schemas.openxmlformats.org/officeDocument/2006/relationships/theme" Target="theme/theme1.xml"/><Relationship Id="Rbe14295336034ba3" Type="http://schemas.openxmlformats.org/officeDocument/2006/relationships/presProps" Target="presProps.xml"/><Relationship Id="Rd5667a8528e84bc1" Type="http://schemas.openxmlformats.org/officeDocument/2006/relationships/notesMaster" Target="notesMasters/notesMaster1.xml"/><Relationship Id="Re14ba9e474d542fd" Type="http://schemas.openxmlformats.org/officeDocument/2006/relationships/slide" Target="slides/slide10.xml"/><Relationship Id="Re6cd846b0b584733" Type="http://schemas.openxmlformats.org/officeDocument/2006/relationships/slide" Target="slides/slide2.xml"/><Relationship Id="Ref2a4bf3706c4352" Type="http://schemas.openxmlformats.org/officeDocument/2006/relationships/slide" Target="slides/slide1.xml"/><Relationship Id="Rf6250f778e214466" Type="http://schemas.openxmlformats.org/officeDocument/2006/relationships/slide" Target="slides/slide4.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78f5b71cffb54a8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834da4d420a42bf" Type="http://schemas.openxmlformats.org/officeDocument/2006/relationships/notesMaster" Target="../notesMasters/notesMaster1.xml"/><Relationship Id="R60ca0d92abc2463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ce400d898854509" Type="http://schemas.openxmlformats.org/officeDocument/2006/relationships/slide" Target="../slides/slide2.xml"/><Relationship Id="Re67749f329144c8f"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934a24217e384990" Type="http://schemas.openxmlformats.org/officeDocument/2006/relationships/slide" Target="../slides/slide3.xml"/><Relationship Id="Ref9034fd29bd4f8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a58b568617744f3" Type="http://schemas.openxmlformats.org/officeDocument/2006/relationships/notesMaster" Target="../notesMasters/notesMaster1.xml"/><Relationship Id="R800bd4631cd8471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a2a711a7ae74ad0" Type="http://schemas.openxmlformats.org/officeDocument/2006/relationships/notesMaster" Target="../notesMasters/notesMaster1.xml"/><Relationship Id="Refb9eec3cf474aeb"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042cbee26784eda" Type="http://schemas.openxmlformats.org/officeDocument/2006/relationships/slide" Target="../slides/slide6.xml"/><Relationship Id="Re2aeef5ea0294e8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1e0a8753cc64c35" Type="http://schemas.openxmlformats.org/officeDocument/2006/relationships/slide" Target="../slides/slide7.xml"/><Relationship Id="Rb274258e3bee4fef"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73c498bf85444b96" Type="http://schemas.openxmlformats.org/officeDocument/2006/relationships/notesMaster" Target="../notesMasters/notesMaster1.xml"/><Relationship Id="R7647cdd0cb5d47e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0719d8f8fcd4b50" Type="http://schemas.openxmlformats.org/officeDocument/2006/relationships/notesMaster" Target="../notesMasters/notesMaster1.xml"/><Relationship Id="Re3ebdc55c4ab4b15"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a842dc0673354bd9" Type="http://schemas.openxmlformats.org/officeDocument/2006/relationships/notesMaster" Target="../notesMasters/notesMaster1.xml"/><Relationship Id="Rfc12875c0a6943f0"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a4b7ddf3e204438" Type="http://schemas.openxmlformats.org/officeDocument/2006/relationships/slide" Target="../slides/slide11.xml"/><Relationship Id="R410427bf2b5d414b"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89c4af0287f4d7a" Type="http://schemas.openxmlformats.org/officeDocument/2006/relationships/slide" Target="../slides/slide12.xml"/><Relationship Id="R1ec5baba6fde4780"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20 seconds</a:t>
            </a:r>
          </a:p>
          <a:p xmlns:a="http://schemas.openxmlformats.org/drawingml/2006/main">
            <a:r>
              <a:t/>
            </a:r>
          </a:p>
          <a:p xmlns:a="http://schemas.openxmlformats.org/drawingml/2006/main">
            <a:r>
              <a:t>Our project investigates how a robot can support a ceiling panel while a person works around it. We developed a controller that uses movement and task context, and examined its behaviour and the reported experience of the task.</a:t>
            </a:r>
          </a:p>
          <a:p xmlns:a="http://schemas.openxmlformats.org/drawingml/2006/main">
            <a:r>
              <a:t/>
            </a:r>
          </a:p>
          <a:p xmlns:a="http://schemas.openxmlformats.org/drawingml/2006/main">
            <a:r>
              <a:t>Sources: Canonical paper, title, abstract and acknowledgment; team contributions supplied by Zenan on 19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r>
              <a:t/>
            </a:r>
          </a:p>
          <a:p xmlns:a="http://schemas.openxmlformats.org/drawingml/2006/main">
            <a:r>
              <a:t>The task combines robot-supported handling with human alignment and judgement. A simple distance rule is easy to understand, but it treats different movements similarly. An approaching worker and a retreating worker may be at the same distance while needing different coordination. Our aim was to investigate whether context helps without allowing it to increase the command beyond the geometric limit. Reduced strain, cost and environmental impact are potential motivations, not benefits measured in this study.</a:t>
            </a:r>
          </a:p>
          <a:p xmlns:a="http://schemas.openxmlformats.org/drawingml/2006/main">
            <a:r>
              <a:t/>
            </a:r>
          </a:p>
          <a:p xmlns:a="http://schemas.openxmlformats.org/drawingml/2006/main">
            <a:r>
              <a:t>Sources: Paper Introduction; Bock (2015), doi:10.1016/j.autcon.2015.07.022; Wei et al. (2023), doi:10.26599/JIC.2023.9180002.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p xmlns:a="http://schemas.openxmlformats.org/drawingml/2006/main">
            <a:r>
              <a:t>This is the laboratory cell during a participant session. The UR10 holds the panel surrogate at ceiling height; the OptiTrack cameras are the units on the overhead frame, and they track a marker cluster on the participant's head cap. The participant also wears the Xsens suit, which gives us the position of 23 body segments. The worker loads the panel, retreats before the lift, works near the raised panel, and retreats again before lowering. Robot position and joint motion are recorded alongside controller requests. Faces are obscured in all footage we show.</a:t>
            </a:r>
          </a:p>
          <a:p xmlns:a="http://schemas.openxmlformats.org/drawingml/2006/main"/>
          <a:p xmlns:a="http://schemas.openxmlformats.org/drawingml/2006/main">
            <a:r>
              <a:t>Sources: paper Fig. 2 (apparatus), Section III-B Apparatus and Sensing.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65 seconds</a:t>
            </a:r>
          </a:p>
          <a:p xmlns:a="http://schemas.openxmlformats.org/drawingml/2006/main">
            <a:r>
              <a:t/>
            </a:r>
          </a:p>
          <a:p xmlns:a="http://schemas.openxmlformats.org/drawingml/2006/main">
            <a:r>
              <a:t>The three conditions separate the value of distance, movement and context. Fixed zones provide a simple reference. Reactive control adjusts the speed request using distance and closing speed. Predictive control adds recognised task phase and a short look ahead toward a boundary. The learned model recognises approaching, working or retreating; a separate calculation predicts boundary approach. At identical inputs and geometric state, predictive control cannot request a higher speed than reactive control. Any coordination benefit must therefore come from intervention timing or subsequent interaction, not from simply allowing faster movement.</a:t>
            </a:r>
          </a:p>
          <a:p xmlns:a="http://schemas.openxmlformats.org/drawingml/2006/main">
            <a:r>
              <a:t/>
            </a:r>
          </a:p>
          <a:p xmlns:a="http://schemas.openxmlformats.org/drawingml/2006/main">
            <a:r>
              <a:t>Sources: Paper System Design; src/hrc_safety/controllers/controllers.py; Byner et al. (2019), doi:10.1016/j.rcim.2018.11.002.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55 seconds</a:t>
            </a:r>
          </a:p>
          <a:p xmlns:a="http://schemas.openxmlformats.org/drawingml/2006/main">
            <a:r>
              <a:t/>
            </a:r>
          </a:p>
          <a:p xmlns:a="http://schemas.openxmlformats.org/drawingml/2006/main">
            <a:r>
              <a:t>The planned design rotates fixed, reactive and predictive control across three blocks, each scheduling routine, distractor and rapid-movement trials. Objective measurements and questionnaire items address different aspects of collaboration. The analysis currently includes fourteen complete telemetry trials associated with three study IDs, thirty-one block forms associated with eleven IDs, and eleven matched intake/end sets. Nine IDs have all three block forms. Session restarts mean IDs cannot all be treated as distinct people, and telemetry and surveys cover different subsets. We therefore report descriptive findings without a statistical controller ranking.</a:t>
            </a:r>
          </a:p>
          <a:p xmlns:a="http://schemas.openxmlformats.org/drawingml/2006/main">
            <a:r>
              <a:t/>
            </a:r>
          </a:p>
          <a:p xmlns:a="http://schemas.openxmlformats.org/drawingml/2006/main">
            <a:r>
              <a:t>Sources: Paper Experimental Method; data/analysis/recovered/results.json; data/analysis/questionnaires/results.json. Fourteen trials, 65,697 telemetry rows, 31 block responses, eleven matched intake/end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p xmlns:a="http://schemas.openxmlformats.org/drawingml/2006/main">
            <a:r>
              <a:t>The model assigns each observation to one of three task phases. For the version that can operate online using only present and past observations, accuracy was 79.4 percent. Giving the three phases equal weight lowers the score to 72.5 percent, so the overall figure hides weaker performance outside the dominant working phase. Validation held out each of three development operators in turn across thirty-two accepted trials.</a:t>
            </a:r>
          </a:p>
          <a:p xmlns:a="http://schemas.openxmlformats.org/drawingml/2006/main"/>
          <a:p xmlns:a="http://schemas.openxmlformats.org/drawingml/2006/main">
            <a:r>
              <a:t>The cost of learned context showed up in the trials. The predictive controller issued between 15 and 73 protective-stop onsets per trial, against 6 to 9 for the fixed and reactive controllers, but only two or three per trial lasted a second or more. The rest were sub-half-second toggles near a threshold. It did not hold the robot stopped for longer; it switched the request far more often. That is a design defect we can fix with hysteresis or a minimum stop dwell on the learned inputs, without touching the deterministic envelope.</a:t>
            </a:r>
          </a:p>
          <a:p xmlns:a="http://schemas.openxmlformats.org/drawingml/2006/main"/>
          <a:p xmlns:a="http://schemas.openxmlformats.org/drawingml/2006/main">
            <a:r>
              <a:t>Sources: data/models/pilot_hmm.json validation; paper Table III stop-onset column and Section VII-A.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60 seconds</a:t>
            </a:r>
          </a:p>
          <a:p xmlns:a="http://schemas.openxmlformats.org/drawingml/2006/main">
            <a:r>
              <a:t/>
            </a:r>
          </a:p>
          <a:p xmlns:a="http://schemas.openxmlformats.org/drawingml/2006/main">
            <a:r>
              <a:t>The safety and trust questions use five-point ratings. Eight of eleven matched safety ratings increased, one was unchanged and two decreased. Trust was more mixed: five increased, three were unchanged and three decreased. Block ratings also indicated strong stopping confidence and low demand, but these are custom individual items rather than validated composite scales. Restricting block analysis to nine complete response sets left twenty-nine of thirty medians unchanged. The paired stopping ratings did not show a uniform improvement. Familiarity and supervised operation may help explain the experience, but the data cannot isolate a predictive-controller benefit. Michael will now explain what the measurements taught us and how we managed the experimental challenges.</a:t>
            </a:r>
          </a:p>
          <a:p xmlns:a="http://schemas.openxmlformats.org/drawingml/2006/main">
            <a:r>
              <a:t/>
            </a:r>
          </a:p>
          <a:p xmlns:a="http://schemas.openxmlformats.org/drawingml/2006/main">
            <a:r>
              <a:t>Sources: data/analysis/questionnaires/results.json pre_post and complete_case_median_sensitivity; paper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Michael | 55 seconds</a:t>
            </a:r>
          </a:p>
          <a:p xmlns:a="http://schemas.openxmlformats.org/drawingml/2006/main">
            <a:r>
              <a:t/>
            </a:r>
          </a:p>
          <a:p xmlns:a="http://schemas.openxmlformats.org/drawingml/2006/main">
            <a:r>
              <a:t>We checked the head-distance calculation against head position and the robot position recorded at the same instant. Across thirteen earlier-reference trials, the 95th-percentile discrepancy ranged from about 0.41 to 0.53 metres. The later live-reference trial agreed arithmetically. This is a discrepancy between two calculations, not a measured human–robot clearance error. The later controller also used body segment origins, which require separate validation. The practical lesson is that the robot, body, tool and panel occupy volumes: agreement for one point is not sufficient to establish protective clearance.</a:t>
            </a:r>
          </a:p>
          <a:p xmlns:a="http://schemas.openxmlformats.org/drawingml/2006/main">
            <a:r>
              <a:t/>
            </a:r>
          </a:p>
          <a:p xmlns:a="http://schemas.openxmlformats.org/drawingml/2006/main">
            <a:r>
              <a:t>Sources: data/analysis/recovered/results.json head_geometry_error_p95_m; trials 1–5 P17, 6–13 P22, 14 P24; paper Geometric Inputs and Cued Movements.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Michael | 55 seconds</a:t>
            </a:r>
          </a:p>
          <a:p xmlns:a="http://schemas.openxmlformats.org/drawingml/2006/main">
            <a:r>
              <a:t/>
            </a:r>
          </a:p>
          <a:p xmlns:a="http://schemas.openxmlformats.org/drawingml/2006/main">
            <a:r>
              <a:t>The main management challenge was integrating interdependent components, not implementing a classifier alone. The sensing, control and recording interfaces had to work together. Recorded commands and measured robot motion let us examine behaviour rather than relying on command acknowledgements. Geometry differences and variable execution of cues were handled by separating configurations and checking movement evidence. Incomplete sessions and identifier restarts limited the comparisons, so the analysis uses complete trial streams and avoids inventing missing data. These setbacks changed the strength of our conclusions. Luke will now relate those findings to deployment constraints and the team’s contribution.</a:t>
            </a:r>
          </a:p>
          <a:p xmlns:a="http://schemas.openxmlformats.org/drawingml/2006/main">
            <a:r>
              <a:t/>
            </a:r>
          </a:p>
          <a:p xmlns:a="http://schemas.openxmlformats.org/drawingml/2006/main">
            <a:r>
              <a:t>Sources: Repository architecture and experiment documentation; paper System Design, Methods and Limitations; original questionnaire and telemetry analysis. Controls listed as implemented analysis responses, not a claim of complete pre-experiment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45 seconds</a:t>
            </a:r>
          </a:p>
          <a:p xmlns:a="http://schemas.openxmlformats.org/drawingml/2006/main">
            <a:r>
              <a:t/>
            </a:r>
          </a:p>
          <a:p xmlns:a="http://schemas.openxmlformats.org/drawingml/2006/main">
            <a:r>
              <a:t>The installed system would need validated protective geometry and stopping performance; the current software speed command is not a certified safety function. Optical and body tracking also introduce equipment, calibration, maintenance and training costs. The suit may affect movement, and a supervised laboratory task does not represent every construction worker or site. Environmental benefits were not measured: energy use and material effects would need an appropriate comparison before claiming a carbon or waste reduction. These constraints shape the engineering decision about where such a system could be useful.</a:t>
            </a:r>
          </a:p>
          <a:p xmlns:a="http://schemas.openxmlformats.org/drawingml/2006/main">
            <a:r>
              <a:t/>
            </a:r>
          </a:p>
          <a:p xmlns:a="http://schemas.openxmlformats.org/drawingml/2006/main">
            <a:r>
              <a:t>Sources: Paper Safety and Efficiency Interpretation and Limitations; NIST Marvel and Norcross, doi:10.1016/j.rcim.2016.08.001. Cost and environmental entries are deployment considerations; no quantified benefits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40 seconds</a:t>
            </a:r>
          </a:p>
          <a:p xmlns:a="http://schemas.openxmlformats.org/drawingml/2006/main">
            <a:r>
              <a:t/>
            </a:r>
          </a:p>
          <a:p xmlns:a="http://schemas.openxmlformats.org/drawingml/2006/main">
            <a:r>
              <a:t>All three of us contributed to designing the experiment and preparing the final report. Our main areas of work differed: Zenan focused on software development and technical integration. I handled communication and coordination with laboratory staff and supervisors. Michael supported the physical setup and assembly. Bringing the technical system, laboratory arrangements and experimental design together was a shared project effort. AI tools supported coding, analysis and manuscript preparation.</a:t>
            </a:r>
          </a:p>
          <a:p xmlns:a="http://schemas.openxmlformats.org/drawingml/2006/main">
            <a:r>
              <a:t/>
            </a:r>
          </a:p>
          <a:p xmlns:a="http://schemas.openxmlformats.org/drawingml/2006/main">
            <a:r>
              <a:t>Sources: Contribution descriptions and shared-work clarification supplied by Zenan on 19 September 2026; manuscript AI Assistance Declaration.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30 seconds</a:t>
            </a:r>
          </a:p>
          <a:p xmlns:a="http://schemas.openxmlformats.org/drawingml/2006/main"/>
          <a:p xmlns:a="http://schemas.openxmlformats.org/drawingml/2006/main">
            <a:r>
              <a:t>The contribution is a physical construction-task prototype that separates task recognition from geometric command limits and examines objective behaviour alongside experience. We demonstrated the integration and obtained concrete findings: phase recognition at 79 percent, favourable reported experience, a stop-request chattering defect in the predictive policy, and a strong dependence of the results on the geometric reference. We have not established that predictive control improves safety or efficiency. The next comparison needs validated clearance and stopping measurements, the chattering fix, and reliable controller exposure per participant. Thank you; we welcome your questions.</a:t>
            </a:r>
          </a:p>
          <a:p xmlns:a="http://schemas.openxmlformats.org/drawingml/2006/main"/>
          <a:p xmlns:a="http://schemas.openxmlformats.org/drawingml/2006/main">
            <a:r>
              <a:t>Sources: paper Conclusion and Section VII.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d78081893954c3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c21d838408c46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a87548a7f7941e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1559b8a073b478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32fd7869cf1403b"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096e0c9343d446b"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148740cb099245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2cad81473d534a9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6d196350af4f481d"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786ca8dd05164a50"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aac1b3982b6b456e"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4af0695dad56425c"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c6ab5c07a7fe480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4feb6f4d589f4498"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Title slide_image option 1">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9959E34-7D5A-4BD7-8251-3B069FE78CA1}"/>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D5275896-2C72-498D-B653-414BBE17557D}"/>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F16C37D6-C2E2-49C2-8CCA-00F002D0D28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890999CC-DE80-4843-A760-7D43FDD36995}"/>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2.xml><?xml version="1.0" encoding="utf-8"?>
<p:sldLayout xmlns:p="http://schemas.openxmlformats.org/presentationml/2006/main" preserve="1" userDrawn="1">
  <p:cSld name="Title slide_image option 2">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5A8440E5-1D3D-467C-9331-C80E53D74DF9}"/>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8A02B849-B130-40B4-8741-8B68F7172123}"/>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175D9F5F-88F1-4E36-9CB2-B54ADEE31DFD}"/>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5BDD50A3-E67B-4774-84EE-10ABC7E22B69}"/>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3.xml><?xml version="1.0" encoding="utf-8"?>
<p:sldLayout xmlns:p="http://schemas.openxmlformats.org/presentationml/2006/main" preserve="1" userDrawn="1">
  <p:cSld name="Title slide_image option 3">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8C18B34-15C1-4501-A171-E4A379C18BE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0D890E79-75EE-455E-BC7C-FE9972AC9C25}"/>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E6CC4F13-DD70-4E24-BB60-54CBB58584F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65C29C93-3E71-46BC-8193-E32D10C3E3D3}"/>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4.xml><?xml version="1.0" encoding="utf-8"?>
<p:sldLayout xmlns:p="http://schemas.openxmlformats.org/presentationml/2006/main" preserve="1" userDrawn="1">
  <p:cSld name="Title slide_image option 4">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3C596B7D-0569-427C-9D0A-20EC6B25FF8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713619B6-C40D-42CA-950C-2BE9B668EB98}"/>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05014D11-E9D0-4F5C-B088-03C35C98B651}"/>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11CD9A49-9F7E-4D7D-8A8E-8517C81558AD}"/>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
        <p:nvSpPr>
          <p:cNvPr id="9" name="Freeform 8">
            <a:extLst xmlns:a="http://schemas.openxmlformats.org/drawingml/2006/main">
              <a:ext uri="{FF2B5EF4-FFF2-40B4-BE49-F238E27FC236}">
                <a16:creationId xmlns:a16="http://schemas.microsoft.com/office/drawing/2014/main" id="{D3A273D6-276C-4B9E-A311-A28B57A20E48}"/>
              </a:ext>
            </a:extLst>
          </p:cNvPr>
          <p:cNvSpPr>
            <a:spLocks xmlns:a="http://schemas.openxmlformats.org/drawingml/2006/main" noGrp="1"/>
          </p:cNvSpPr>
          <p:nvPr/>
        </p:nvSpPr>
        <p:spPr>
          <a:xfrm xmlns:a="http://schemas.openxmlformats.org/drawingml/2006/main">
            <a:off x="8652398" y="2502"/>
            <a:ext cx="2926807" cy="6882646"/>
          </a:xfrm>
          <a:custGeom xmlns:a="http://schemas.openxmlformats.org/drawingml/2006/main">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Copy with subheadings_grey">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84CE05A7-6415-4224-8099-BD7EAE31C5D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435EAB2A-BE35-48CB-AAD6-859040DC75E9}"/>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0D9F5A9-7F8A-4AE2-8B4C-704C44886080}"/>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DDF9E08A-D944-47D4-B39B-FCF57408EFA8}"/>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2" name="Text Placeholder 17">
            <a:extLst xmlns:a="http://schemas.openxmlformats.org/drawingml/2006/main">
              <a:ext uri="{FF2B5EF4-FFF2-40B4-BE49-F238E27FC236}">
                <a16:creationId xmlns:a16="http://schemas.microsoft.com/office/drawing/2014/main" id="{A773E9C9-FB34-442E-B4ED-B5293CC0B78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43" name="Text Placeholder 17">
            <a:extLst xmlns:a="http://schemas.openxmlformats.org/drawingml/2006/main">
              <a:ext uri="{FF2B5EF4-FFF2-40B4-BE49-F238E27FC236}">
                <a16:creationId xmlns:a16="http://schemas.microsoft.com/office/drawing/2014/main" id="{40EF88CF-6144-4D04-865C-B5DB53277F89}"/>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0" name="Text Placeholder 17">
            <a:extLst xmlns:a="http://schemas.openxmlformats.org/drawingml/2006/main">
              <a:ext uri="{FF2B5EF4-FFF2-40B4-BE49-F238E27FC236}">
                <a16:creationId xmlns:a16="http://schemas.microsoft.com/office/drawing/2014/main" id="{466839EE-A660-4E54-AD29-483FC9EA9A24}"/>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6.xml><?xml version="1.0" encoding="utf-8"?>
<p:sldLayout xmlns:p="http://schemas.openxmlformats.org/presentationml/2006/main" preserve="1" userDrawn="1">
  <p:cSld name="Copy with subheadings_blue">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6EEE7214-2952-44DB-A3C6-C505C832EF7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006DA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D280CD4B-221B-4766-B1FD-F59FC5358362}"/>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2B870B4A-5659-431F-9C52-5FFF9310E6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10" name="Text Placeholder 17">
            <a:extLst xmlns:a="http://schemas.openxmlformats.org/drawingml/2006/main">
              <a:ext uri="{FF2B5EF4-FFF2-40B4-BE49-F238E27FC236}">
                <a16:creationId xmlns:a16="http://schemas.microsoft.com/office/drawing/2014/main" id="{119DE6AA-0BCF-43ED-9B93-485A1E6DA675}"/>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1" name="Text Placeholder 17">
            <a:extLst xmlns:a="http://schemas.openxmlformats.org/drawingml/2006/main">
              <a:ext uri="{FF2B5EF4-FFF2-40B4-BE49-F238E27FC236}">
                <a16:creationId xmlns:a16="http://schemas.microsoft.com/office/drawing/2014/main" id="{A7184EA4-0CE3-477E-BCBE-1058D62AB5F7}"/>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13" name="Text Placeholder 17">
            <a:extLst xmlns:a="http://schemas.openxmlformats.org/drawingml/2006/main">
              <a:ext uri="{FF2B5EF4-FFF2-40B4-BE49-F238E27FC236}">
                <a16:creationId xmlns:a16="http://schemas.microsoft.com/office/drawing/2014/main" id="{9D07E0DE-CCF8-4C7E-83F9-601B50B1CF7E}"/>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4" name="Text Placeholder 17">
            <a:extLst xmlns:a="http://schemas.openxmlformats.org/drawingml/2006/main">
              <a:ext uri="{FF2B5EF4-FFF2-40B4-BE49-F238E27FC236}">
                <a16:creationId xmlns:a16="http://schemas.microsoft.com/office/drawing/2014/main" id="{7017B2EC-6CC6-46B0-A700-31BC918FDD36}"/>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7.xml><?xml version="1.0" encoding="utf-8"?>
<p:sldLayout xmlns:p="http://schemas.openxmlformats.org/presentationml/2006/main" preserve="1" userDrawn="1">
  <p:cSld name="Bulleted list with 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7445E1A-58B1-4A2E-9C8B-81FEEFB29B18}"/>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7FE20C2D-3F5B-4F70-ACC0-A43A693819BA}"/>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37E586F7-ACAF-46BA-9016-3EE4934EFF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25" name="Text Placeholder 17">
            <a:extLst xmlns:a="http://schemas.openxmlformats.org/drawingml/2006/main">
              <a:ext uri="{FF2B5EF4-FFF2-40B4-BE49-F238E27FC236}">
                <a16:creationId xmlns:a16="http://schemas.microsoft.com/office/drawing/2014/main" id="{4079832C-F1D0-4BDF-95EE-6F177A1F4B1B}"/>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1 (20PT, ARIAL NARROW, UPPER CASE)</a:t>
            </a:r>
          </a:p>
        </p:txBody>
      </p:sp>
      <p:sp>
        <p:nvSpPr>
          <p:cNvPr id="26" name="Text Placeholder 17">
            <a:extLst xmlns:a="http://schemas.openxmlformats.org/drawingml/2006/main">
              <a:ext uri="{FF2B5EF4-FFF2-40B4-BE49-F238E27FC236}">
                <a16:creationId xmlns:a16="http://schemas.microsoft.com/office/drawing/2014/main" id="{6F2D5B67-BB1A-48F0-ACC1-7BFF3B19DF82}"/>
              </a:ext>
            </a:extLst>
          </p:cNvPr>
          <p:cNvSpPr>
            <a:spLocks xmlns:a="http://schemas.openxmlformats.org/drawingml/2006/main" noGrp="1"/>
          </p:cNvSpPr>
          <p:nvPr>
            <p:ph type="body" idx="16" hasCustomPrompt="1"/>
          </p:nvPr>
        </p:nvSpPr>
        <p:spPr>
          <a:xfrm xmlns:a="http://schemas.openxmlformats.org/drawingml/2006/main">
            <a:off x="300211" y="2131371"/>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one column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a:p xmlns:a="http://schemas.openxmlformats.org/drawingml/2006/main">
            <a:endParaRPr/>
          </a:p>
        </p:txBody>
      </p:sp>
      <p:sp>
        <p:nvSpPr>
          <p:cNvPr id="27" name="Text Placeholder 17">
            <a:extLst xmlns:a="http://schemas.openxmlformats.org/drawingml/2006/main">
              <a:ext uri="{FF2B5EF4-FFF2-40B4-BE49-F238E27FC236}">
                <a16:creationId xmlns:a16="http://schemas.microsoft.com/office/drawing/2014/main" id="{30CDAF4D-0CE9-426B-94B4-B1E0C5A23F2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 (20PT, ARIAL NARROW, UPPER CASE)</a:t>
            </a:r>
          </a:p>
        </p:txBody>
      </p:sp>
      <p:sp>
        <p:nvSpPr>
          <p:cNvPr id="28" name="Text Placeholder 17">
            <a:extLst xmlns:a="http://schemas.openxmlformats.org/drawingml/2006/main">
              <a:ext uri="{FF2B5EF4-FFF2-40B4-BE49-F238E27FC236}">
                <a16:creationId xmlns:a16="http://schemas.microsoft.com/office/drawing/2014/main" id="{7415D1DC-1E04-4B04-86DC-6692F58340CA}"/>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marR="0" indent="-342900" algn="l" defTabSz="914400">
              <a:lnSpc>
                <a:spcPct val="90000"/>
              </a:lnSpc>
              <a:spcBef>
                <a:spcPts val="1000"/>
              </a:spcBef>
              <a:spcAft>
                <a:spcPts val="0"/>
              </a:spcAft>
              <a:buClrTx/>
              <a:buSzTx/>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two column (20pt, Arial)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pPr marL="342900" marR="0" lvl="0" indent="-342900" algn="l" defTabSz="914400">
              <a:lnSpc>
                <a:spcPct val="90000"/>
              </a:lnSpc>
              <a:spcBef>
                <a:spcPts val="1000"/>
              </a:spcBef>
              <a:spcAft>
                <a:spcPts val="0"/>
              </a:spcAft>
              <a:buClrTx/>
              <a:buSzTx/>
              <a:buFont typeface="Arial"/>
              <a:buChar char="•"/>
            </a:pPr>
            <a:r>
              <a:t>Bullet list, two column (20pt, Arial) </a:t>
            </a:r>
          </a:p>
          <a:p xmlns:a="http://schemas.openxmlformats.org/drawingml/2006/main">
            <a:endParaRPr/>
          </a:p>
        </p:txBody>
      </p:sp>
      <p:sp>
        <p:nvSpPr>
          <p:cNvPr id="29" name="Freeform 28">
            <a:extLst xmlns:a="http://schemas.openxmlformats.org/drawingml/2006/main">
              <a:ext uri="{FF2B5EF4-FFF2-40B4-BE49-F238E27FC236}">
                <a16:creationId xmlns:a16="http://schemas.microsoft.com/office/drawing/2014/main" id="{058D2D07-A5B3-4538-800D-BACEC3B23477}"/>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Copy with two images">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8599A87E-2CE9-4FFB-A5FA-16FC7F80B973}"/>
              </a:ext>
            </a:extLst>
          </p:cNvPr>
          <p:cNvSpPr>
            <a:spLocks xmlns:a="http://schemas.openxmlformats.org/drawingml/2006/main" noGrp="1"/>
          </p:cNvSpPr>
          <p:nvPr>
            <p:ph type="body" idx="11" hasCustomPrompt="1"/>
          </p:nvPr>
        </p:nvSpPr>
        <p:spPr>
          <a:xfrm xmlns:a="http://schemas.openxmlformats.org/drawingml/2006/main">
            <a:off x="306060" y="1046138"/>
            <a:ext cx="7451725" cy="466468"/>
          </a:xfrm>
          <a:prstGeom xmlns:a="http://schemas.openxmlformats.org/drawingml/2006/main" prst="rect">
            <a:avLst/>
          </a:prstGeom>
        </p:spPr>
        <p:txBody>
          <a:bodyPr xmlns:a="http://schemas.openxmlformats.org/drawingml/2006/main"/>
          <a:lstStyle xmlns:a="http://schemas.openxmlformats.org/drawingml/2006/main">
            <a:lvl1pPr>
              <a:buNone/>
              <a:defRPr sz="2400">
                <a:solidFill>
                  <a:schemeClr val="tx1"/>
                </a:solidFill>
              </a:defRPr>
            </a:lvl1pPr>
          </a:lstStyle>
          <a:p xmlns:a="http://schemas.openxmlformats.org/drawingml/2006/main">
            <a:r>
              <a:t>SUB HEADING (24PT, UPPER CASE)</a:t>
            </a:r>
            <a:endParaRPr/>
          </a:p>
        </p:txBody>
      </p:sp>
      <p:sp>
        <p:nvSpPr>
          <p:cNvPr id="19" name="Text Placeholder 22">
            <a:extLst xmlns:a="http://schemas.openxmlformats.org/drawingml/2006/main">
              <a:ext uri="{FF2B5EF4-FFF2-40B4-BE49-F238E27FC236}">
                <a16:creationId xmlns:a16="http://schemas.microsoft.com/office/drawing/2014/main" id="{54C78CB8-E688-43B0-9DF8-E35BBE492586}"/>
              </a:ext>
            </a:extLst>
          </p:cNvPr>
          <p:cNvSpPr>
            <a:spLocks xmlns:a="http://schemas.openxmlformats.org/drawingml/2006/main" noGrp="1"/>
          </p:cNvSpPr>
          <p:nvPr>
            <p:ph type="body" idx="13" hasCustomPrompt="1"/>
          </p:nvPr>
        </p:nvSpPr>
        <p:spPr>
          <a:xfrm xmlns:a="http://schemas.openxmlformats.org/drawingml/2006/main">
            <a:off x="306060" y="359998"/>
            <a:ext cx="7452026" cy="736956"/>
          </a:xfrm>
          <a:prstGeom xmlns:a="http://schemas.openxmlformats.org/drawingml/2006/main" prst="rect">
            <a:avLst/>
          </a:prstGeom>
        </p:spPr>
        <p:txBody>
          <a:bodyPr xmlns:a="http://schemas.openxmlformats.org/drawingml/2006/main"/>
          <a:lstStyle xmlns:a="http://schemas.openxmlformats.org/drawingml/2006/main">
            <a:lvl1pPr>
              <a:buNone/>
              <a:defRPr sz="4200" b="1" baseline="0">
                <a:solidFill>
                  <a:schemeClr val="tx1"/>
                </a:solidFill>
              </a:defRPr>
            </a:lvl1pPr>
          </a:lstStyle>
          <a:p xmlns:a="http://schemas.openxmlformats.org/drawingml/2006/main">
            <a:pPr lvl="0">
              <a:buNone/>
            </a:pPr>
            <a:r>
              <a:t>HEADING (42PT, UPPER CASE)</a:t>
            </a:r>
          </a:p>
        </p:txBody>
      </p:sp>
      <p:sp>
        <p:nvSpPr>
          <p:cNvPr id="23" name="Text Placeholder 17">
            <a:extLst xmlns:a="http://schemas.openxmlformats.org/drawingml/2006/main">
              <a:ext uri="{FF2B5EF4-FFF2-40B4-BE49-F238E27FC236}">
                <a16:creationId xmlns:a16="http://schemas.microsoft.com/office/drawing/2014/main" id="{E4565448-45EF-490B-BE61-7AE0E03A2481}"/>
              </a:ext>
            </a:extLst>
          </p:cNvPr>
          <p:cNvSpPr>
            <a:spLocks xmlns:a="http://schemas.openxmlformats.org/drawingml/2006/main" noGrp="1"/>
          </p:cNvSpPr>
          <p:nvPr>
            <p:ph type="body" idx="14" hasCustomPrompt="1"/>
          </p:nvPr>
        </p:nvSpPr>
        <p:spPr>
          <a:xfrm xmlns:a="http://schemas.openxmlformats.org/drawingml/2006/main">
            <a:off x="306060" y="1763411"/>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(20PT, ARIAL NARROW, UPPER CASE)</a:t>
            </a:r>
          </a:p>
        </p:txBody>
      </p:sp>
      <p:sp>
        <p:nvSpPr>
          <p:cNvPr id="24" name="Text Placeholder 17">
            <a:extLst xmlns:a="http://schemas.openxmlformats.org/drawingml/2006/main">
              <a:ext uri="{FF2B5EF4-FFF2-40B4-BE49-F238E27FC236}">
                <a16:creationId xmlns:a16="http://schemas.microsoft.com/office/drawing/2014/main" id="{9EBD0A08-9D48-4854-B1C1-3F5149C62175}"/>
              </a:ext>
            </a:extLst>
          </p:cNvPr>
          <p:cNvSpPr>
            <a:spLocks xmlns:a="http://schemas.openxmlformats.org/drawingml/2006/main" noGrp="1"/>
          </p:cNvSpPr>
          <p:nvPr>
            <p:ph type="body" idx="16" hasCustomPrompt="1"/>
          </p:nvPr>
        </p:nvSpPr>
        <p:spPr>
          <a:xfrm xmlns:a="http://schemas.openxmlformats.org/drawingml/2006/main">
            <a:off x="300212" y="2131371"/>
            <a:ext cx="4352700" cy="3976132"/>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25" name="Picture Placeholder 17">
            <a:extLst xmlns:a="http://schemas.openxmlformats.org/drawingml/2006/main">
              <a:ext uri="{FF2B5EF4-FFF2-40B4-BE49-F238E27FC236}">
                <a16:creationId xmlns:a16="http://schemas.microsoft.com/office/drawing/2014/main" id="{C1F8CC9E-1830-4D72-86E5-9C602E9F3D8D}"/>
              </a:ext>
            </a:extLst>
          </p:cNvPr>
          <p:cNvSpPr>
            <a:spLocks xmlns:a="http://schemas.openxmlformats.org/drawingml/2006/main" noGrp="1"/>
          </p:cNvSpPr>
          <p:nvPr>
            <p:ph type="pic" idx="17"/>
          </p:nvPr>
        </p:nvSpPr>
        <p:spPr>
          <a:xfrm xmlns:a="http://schemas.openxmlformats.org/drawingml/2006/main">
            <a:off x="7380288" y="2520000"/>
            <a:ext cx="4027879" cy="22679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26" name="Picture Placeholder 19">
            <a:extLst xmlns:a="http://schemas.openxmlformats.org/drawingml/2006/main">
              <a:ext uri="{FF2B5EF4-FFF2-40B4-BE49-F238E27FC236}">
                <a16:creationId xmlns:a16="http://schemas.microsoft.com/office/drawing/2014/main" id="{357364C1-864B-476B-B866-1199A8427FB8}"/>
              </a:ext>
            </a:extLst>
          </p:cNvPr>
          <p:cNvSpPr>
            <a:spLocks xmlns:a="http://schemas.openxmlformats.org/drawingml/2006/main" noGrp="1"/>
          </p:cNvSpPr>
          <p:nvPr>
            <p:ph type="pic" idx="18"/>
          </p:nvPr>
        </p:nvSpPr>
        <p:spPr>
          <a:xfrm xmlns:a="http://schemas.openxmlformats.org/drawingml/2006/main">
            <a:off x="4960507" y="2519363"/>
            <a:ext cx="2281237" cy="2268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preserve="1" userDrawn="1">
  <p:cSld name="Full slide image with caption">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6061F949-74A9-4216-AC7C-A5C7AFD8C4C7}"/>
              </a:ext>
            </a:extLst>
          </p:cNvPr>
          <p:cNvSpPr>
            <a:spLocks xmlns:a="http://schemas.openxmlformats.org/drawingml/2006/main" noGrp="1"/>
          </p:cNvSpPr>
          <p:nvPr>
            <p:ph type="pic" idx="15"/>
          </p:nvPr>
        </p:nvSpPr>
        <p:spPr>
          <a:xfrm xmlns:a="http://schemas.openxmlformats.org/drawingml/2006/main">
            <a:off x="0" y="-8466"/>
            <a:ext cx="10371666" cy="6866466"/>
          </a:xfrm>
          <a:custGeom xmlns:a="http://schemas.openxmlformats.org/drawingml/2006/main">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rect l="l" t="t" r="r" b="b"/>
            <a:pathLst>
              <a:path w="10371666" h="6866466">
                <a:moveTo>
                  <a:pt x="0" y="8466"/>
                </a:moveTo>
                <a:lnTo>
                  <a:pt x="9245601" y="0"/>
                </a:lnTo>
                <a:lnTo>
                  <a:pt x="10371666" y="6849533"/>
                </a:lnTo>
                <a:lnTo>
                  <a:pt x="0" y="6866466"/>
                </a:lnTo>
                <a:lnTo>
                  <a:pt x="0" y="8466"/>
                </a:lnTo>
                <a:close/>
              </a:path>
            </a:pathLst>
          </a:custGeom>
        </p:spPr>
        <p:txBody>
          <a:bodyPr xmlns:a="http://schemas.openxmlformats.org/drawingml/2006/main"/>
          <a:lstStyle xmlns:a="http://schemas.openxmlformats.org/drawingml/2006/main"/>
          <a:p xmlns:a="http://schemas.openxmlformats.org/drawingml/2006/main">
            <a:endParaRPr/>
          </a:p>
        </p:txBody>
      </p:sp>
      <p:sp>
        <p:nvSpPr>
          <p:cNvPr id="13" name="Text Placeholder 17">
            <a:extLst xmlns:a="http://schemas.openxmlformats.org/drawingml/2006/main">
              <a:ext uri="{FF2B5EF4-FFF2-40B4-BE49-F238E27FC236}">
                <a16:creationId xmlns:a16="http://schemas.microsoft.com/office/drawing/2014/main" id="{B0F437CF-4DF7-4CE5-ACC9-5B8FF6EE71EC}"/>
              </a:ext>
            </a:extLst>
          </p:cNvPr>
          <p:cNvSpPr>
            <a:spLocks xmlns:a="http://schemas.openxmlformats.org/drawingml/2006/main" noGrp="1"/>
          </p:cNvSpPr>
          <p:nvPr>
            <p:ph type="body" idx="14" hasCustomPrompt="1"/>
          </p:nvPr>
        </p:nvSpPr>
        <p:spPr>
          <a:xfrm xmlns:a="http://schemas.openxmlformats.org/drawingml/2006/main">
            <a:off x="9689170" y="332573"/>
            <a:ext cx="2309631" cy="130284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Image caption (title case)</a:t>
            </a:r>
          </a:p>
        </p:txBody>
      </p:sp>
    </p:spTree>
  </p:cSld>
</p:sldLayout>
</file>

<file path=ppt/slideLayouts/slideLayout10.xml><?xml version="1.0" encoding="utf-8"?>
<p:sldLayout xmlns:p="http://schemas.openxmlformats.org/presentationml/2006/main" preserve="1" userDrawn="1">
  <p:cSld name="Section divider">
    <p:spTree>
      <p:nvGrpSpPr>
        <p:cNvPr id="1" name=""/>
        <p:cNvGrpSpPr/>
        <p:nvPr/>
      </p:nvGrpSpPr>
      <p:grpSpPr>
        <a:xfrm xmlns:a="http://schemas.openxmlformats.org/drawingml/2006/main"/>
      </p:grpSpPr>
      <p:sp>
        <p:nvSpPr>
          <p:cNvPr id="5" name="Freeform 4">
            <a:extLst xmlns:a="http://schemas.openxmlformats.org/drawingml/2006/main">
              <a:ext uri="{FF2B5EF4-FFF2-40B4-BE49-F238E27FC236}">
                <a16:creationId xmlns:a16="http://schemas.microsoft.com/office/drawing/2014/main" id="{446DC7FA-2DC5-4C50-B2B9-4DB3ED1B2C14}"/>
              </a:ext>
            </a:extLst>
          </p:cNvPr>
          <p:cNvSpPr>
            <a:spLocks xmlns:a="http://schemas.openxmlformats.org/drawingml/2006/main" noGrp="1"/>
          </p:cNvSpPr>
          <p:nvPr/>
        </p:nvSpPr>
        <p:spPr>
          <a:xfrm xmlns:a="http://schemas.openxmlformats.org/drawingml/2006/main">
            <a:off x="-19050" y="-9525"/>
            <a:ext cx="9420225" cy="6867525"/>
          </a:xfrm>
          <a:custGeom xmlns:a="http://schemas.openxmlformats.org/drawingml/2006/main">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rect l="l" t="t" r="r" b="b"/>
            <a:pathLst>
              <a:path w="8905875" h="6896100">
                <a:moveTo>
                  <a:pt x="9525" y="0"/>
                </a:moveTo>
                <a:lnTo>
                  <a:pt x="4724400" y="0"/>
                </a:lnTo>
                <a:lnTo>
                  <a:pt x="8905875" y="6896100"/>
                </a:lnTo>
                <a:lnTo>
                  <a:pt x="0" y="6896100"/>
                </a:lnTo>
                <a:lnTo>
                  <a:pt x="9525" y="0"/>
                </a:lnTo>
                <a:close/>
              </a:path>
            </a:pathLst>
          </a:custGeom>
          <a:solidFill xmlns:a="http://schemas.openxmlformats.org/drawingml/2006/main">
            <a:srgbClr val="006DAE"/>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 Placeholder 22">
            <a:extLst xmlns:a="http://schemas.openxmlformats.org/drawingml/2006/main">
              <a:ext uri="{FF2B5EF4-FFF2-40B4-BE49-F238E27FC236}">
                <a16:creationId xmlns:a16="http://schemas.microsoft.com/office/drawing/2014/main" id="{E3619149-78E1-4EF5-9904-0118824ABE09}"/>
              </a:ext>
            </a:extLst>
          </p:cNvPr>
          <p:cNvSpPr>
            <a:spLocks xmlns:a="http://schemas.openxmlformats.org/drawingml/2006/main" noGrp="1"/>
          </p:cNvSpPr>
          <p:nvPr>
            <p:ph type="body" idx="13" hasCustomPrompt="1"/>
          </p:nvPr>
        </p:nvSpPr>
        <p:spPr>
          <a:xfrm xmlns:a="http://schemas.openxmlformats.org/drawingml/2006/main">
            <a:off x="138368" y="1741593"/>
            <a:ext cx="5757606" cy="3435594"/>
          </a:xfrm>
          <a:prstGeom xmlns:a="http://schemas.openxmlformats.org/drawingml/2006/main" prst="rect">
            <a:avLst/>
          </a:prstGeom>
        </p:spPr>
        <p:txBody>
          <a:bodyPr xmlns:a="http://schemas.openxmlformats.org/drawingml/2006/main" wrap="square"/>
          <a:lstStyle xmlns:a="http://schemas.openxmlformats.org/drawingml/2006/main">
            <a:lvl1pPr algn="r">
              <a:buNone/>
              <a:defRPr sz="4400" b="1" baseline="0">
                <a:solidFill>
                  <a:schemeClr val="bg1"/>
                </a:solidFill>
              </a:defRPr>
            </a:lvl1pPr>
          </a:lstStyle>
          <a:p xmlns:a="http://schemas.openxmlformats.org/drawingml/2006/main">
            <a:pPr lvl="0">
              <a:buNone/>
            </a:pPr>
            <a:r>
              <a:t>SECTION DIVIDER OR PULL-OUT QUOTE (UPPER CASE)</a:t>
            </a:r>
          </a:p>
        </p:txBody>
      </p:sp>
      <p:sp>
        <p:nvSpPr>
          <p:cNvPr id="3" name="Picture Placeholder 2">
            <a:extLst xmlns:a="http://schemas.openxmlformats.org/drawingml/2006/main">
              <a:ext uri="{FF2B5EF4-FFF2-40B4-BE49-F238E27FC236}">
                <a16:creationId xmlns:a16="http://schemas.microsoft.com/office/drawing/2014/main" id="{BF47C82E-9673-4E62-9CF1-D73F08BECA4E}"/>
              </a:ext>
            </a:extLst>
          </p:cNvPr>
          <p:cNvSpPr>
            <a:spLocks xmlns:a="http://schemas.openxmlformats.org/drawingml/2006/main" noGrp="1"/>
          </p:cNvSpPr>
          <p:nvPr>
            <p:ph type="pic" idx="14"/>
          </p:nvPr>
        </p:nvSpPr>
        <p:spPr>
          <a:xfrm xmlns:a="http://schemas.openxmlformats.org/drawingml/2006/main">
            <a:off x="6091492" y="1733018"/>
            <a:ext cx="5438775" cy="3435350"/>
          </a:xfrm>
          <a:custGeom xmlns:a="http://schemas.openxmlformats.org/drawingml/2006/main">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rect l="l" t="t" r="r" b="b"/>
            <a:pathLst>
              <a:path w="5438775" h="3435350">
                <a:moveTo>
                  <a:pt x="0" y="0"/>
                </a:moveTo>
                <a:lnTo>
                  <a:pt x="5438775" y="0"/>
                </a:lnTo>
                <a:lnTo>
                  <a:pt x="5438775" y="3435350"/>
                </a:lnTo>
                <a:lnTo>
                  <a:pt x="2247900" y="3435350"/>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preserve="1" userDrawn="1">
  <p:cSld name="Full slide copy_grey">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6C879FEF-DC91-4951-B0E5-43D3040EDF94}"/>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16E42D98-FCC5-42A8-A027-B4B5D7C4989B}"/>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B60FA61-6103-4D75-BCE8-6696DD50E3E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FC321D5D-09E3-4855-A150-A1864A13D7C3}"/>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1" name="Text Placeholder 17">
            <a:extLst xmlns:a="http://schemas.openxmlformats.org/drawingml/2006/main">
              <a:ext uri="{FF2B5EF4-FFF2-40B4-BE49-F238E27FC236}">
                <a16:creationId xmlns:a16="http://schemas.microsoft.com/office/drawing/2014/main" id="{8C7804E7-0D2A-449B-8D68-48E74417A60F}"/>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1255507-862C-4540-B578-D31212BAA379}"/>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Full slide copy_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E8B06B49-0756-4552-B15F-70B193380F86}"/>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0F7056E6-5144-4734-8092-CF75883C21EF}"/>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24E110D-C152-4F5D-AD6E-1749796FB06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99E00C5E-FC26-4EDB-8B70-852B3BF6453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5" name="Rectangle 4">
            <a:extLst xmlns:a="http://schemas.openxmlformats.org/drawingml/2006/main">
              <a:ext uri="{FF2B5EF4-FFF2-40B4-BE49-F238E27FC236}">
                <a16:creationId xmlns:a16="http://schemas.microsoft.com/office/drawing/2014/main" id="{777D9326-DCC8-4AC5-A964-BF81B5FC733B}"/>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 Placeholder 17">
            <a:extLst xmlns:a="http://schemas.openxmlformats.org/drawingml/2006/main">
              <a:ext uri="{FF2B5EF4-FFF2-40B4-BE49-F238E27FC236}">
                <a16:creationId xmlns:a16="http://schemas.microsoft.com/office/drawing/2014/main" id="{3B205BC4-90F4-41C2-9740-8B9731D9D19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3.xml><?xml version="1.0" encoding="utf-8"?>
<p:sldLayout xmlns:p="http://schemas.openxmlformats.org/presentationml/2006/main" preserve="1" userDrawn="1">
  <p:cSld name="Full slide copy_texture option 2">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74E0E7A3-404F-47BF-AF25-CCD3ADBEF759}"/>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AE4CA6C5-B635-42B6-97C9-894A1BE8D5C0}"/>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122B80FA-A860-4FD5-B914-616C85F8B0FB}"/>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31F1573F-4B61-40CD-ABC6-11CAB0C717C4}"/>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9" name="Rectangle 18">
            <a:extLst xmlns:a="http://schemas.openxmlformats.org/drawingml/2006/main">
              <a:ext uri="{FF2B5EF4-FFF2-40B4-BE49-F238E27FC236}">
                <a16:creationId xmlns:a16="http://schemas.microsoft.com/office/drawing/2014/main" id="{E0B6C49D-6247-41F3-BDB2-A6294F8E0FA4}"/>
              </a:ext>
            </a:extLst>
          </p:cNvPr>
          <p:cNvSpPr>
            <a:spLocks xmlns:a="http://schemas.openxmlformats.org/drawingml/2006/main" noGrp="1"/>
          </p:cNvSpPr>
          <p:nvPr/>
        </p:nvSpPr>
        <p:spPr>
          <a:xfrm xmlns:a="http://schemas.openxmlformats.org/drawingml/2006/main">
            <a:off x="9993085" y="-19049"/>
            <a:ext cx="123825" cy="1190946"/>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Isosceles Triangle 20">
            <a:extLst xmlns:a="http://schemas.openxmlformats.org/drawingml/2006/main">
              <a:ext uri="{FF2B5EF4-FFF2-40B4-BE49-F238E27FC236}">
                <a16:creationId xmlns:a16="http://schemas.microsoft.com/office/drawing/2014/main" id="{CF19B229-16AC-4AAE-BA41-3AFED6786F7B}"/>
              </a:ext>
            </a:extLst>
          </p:cNvPr>
          <p:cNvSpPr>
            <a:spLocks xmlns:a="http://schemas.openxmlformats.org/drawingml/2006/main" noGrp="1"/>
          </p:cNvSpPr>
          <p:nvPr/>
        </p:nvSpPr>
        <p:spPr>
          <a:xfrm xmlns:a="http://schemas.openxmlformats.org/drawingml/2006/main" rot="16200000" flipH="1">
            <a:off x="8957587" y="-680357"/>
            <a:ext cx="2562223" cy="3884848"/>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C916FAF3-DF47-4D39-B6F1-D0B18A97188A}"/>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4.xml><?xml version="1.0" encoding="utf-8"?>
<p:sldLayout xmlns:p="http://schemas.openxmlformats.org/presentationml/2006/main" preserve="1" userDrawn="1">
  <p:cSld name="Full slide copy_texture option 3">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A7C78F4-BAF0-437A-B890-C0D36CFC0671}"/>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BCF51FF1-746E-439F-83FB-57971054F233}"/>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85908EF-E20C-4B94-9FB9-7887F5262661}"/>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AF089010-26FF-4595-8B83-CF46E7A1D7A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21" name="Isosceles Triangle 20">
            <a:extLst xmlns:a="http://schemas.openxmlformats.org/drawingml/2006/main">
              <a:ext uri="{FF2B5EF4-FFF2-40B4-BE49-F238E27FC236}">
                <a16:creationId xmlns:a16="http://schemas.microsoft.com/office/drawing/2014/main" id="{517F9D49-44C6-4893-997C-A982FABD18BC}"/>
              </a:ext>
            </a:extLst>
          </p:cNvPr>
          <p:cNvSpPr>
            <a:spLocks xmlns:a="http://schemas.openxmlformats.org/drawingml/2006/main" noGrp="1"/>
          </p:cNvSpPr>
          <p:nvPr/>
        </p:nvSpPr>
        <p:spPr>
          <a:xfrm xmlns:a="http://schemas.openxmlformats.org/drawingml/2006/main" rot="16200000" flipV="1">
            <a:off x="558815" y="4317983"/>
            <a:ext cx="2000250" cy="3117884"/>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Freeform 24">
            <a:extLst xmlns:a="http://schemas.openxmlformats.org/drawingml/2006/main">
              <a:ext uri="{FF2B5EF4-FFF2-40B4-BE49-F238E27FC236}">
                <a16:creationId xmlns:a16="http://schemas.microsoft.com/office/drawing/2014/main" id="{4E6DC48B-D6CC-419D-8282-6A48CD645964}"/>
              </a:ext>
            </a:extLst>
          </p:cNvPr>
          <p:cNvSpPr>
            <a:spLocks xmlns:a="http://schemas.openxmlformats.org/drawingml/2006/main" noGrp="1"/>
          </p:cNvSpPr>
          <p:nvPr/>
        </p:nvSpPr>
        <p:spPr>
          <a:xfrm xmlns:a="http://schemas.openxmlformats.org/drawingml/2006/main" flipH="1">
            <a:off x="-1" y="4876800"/>
            <a:ext cx="1176335" cy="1962472"/>
          </a:xfrm>
          <a:custGeom xmlns:a="http://schemas.openxmlformats.org/drawingml/2006/main">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rect l="l" t="t" r="r" b="b"/>
            <a:pathLst>
              <a:path w="1711036" h="9592694">
                <a:moveTo>
                  <a:pt x="0" y="3742485"/>
                </a:moveTo>
                <a:lnTo>
                  <a:pt x="1691986" y="0"/>
                </a:lnTo>
                <a:lnTo>
                  <a:pt x="1711036" y="9509516"/>
                </a:lnTo>
                <a:lnTo>
                  <a:pt x="1701511" y="9592694"/>
                </a:lnTo>
                <a:lnTo>
                  <a:pt x="0" y="3742485"/>
                </a:lnTo>
                <a:close/>
              </a:path>
            </a:pathLst>
          </a:custGeom>
          <a:solidFill xmlns:a="http://schemas.openxmlformats.org/drawingml/2006/main">
            <a:srgbClr val="006CAB">
              <a:alpha val="5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13C6D13E-CFCB-47C9-B8DB-2A2A8DC4D5A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Masters/_rels/slideMaster1.xml.rels><?xml version='1.0' encoding='UTF-8' standalone='yes'?>
<Relationships xmlns="http://schemas.openxmlformats.org/package/2006/relationships"><Relationship Id="R1b9328ccffe648b4" Type="http://schemas.openxmlformats.org/officeDocument/2006/relationships/slideLayout" Target="../slideLayouts/slideLayout8.xml"/><Relationship Id="R1dfc7f19fa704866" Type="http://schemas.openxmlformats.org/officeDocument/2006/relationships/slideLayout" Target="../slideLayouts/slideLayout14.xml"/><Relationship Id="R1ffa163bd37f414f" Type="http://schemas.openxmlformats.org/officeDocument/2006/relationships/slideLayout" Target="../slideLayouts/slideLayout3.xml"/><Relationship Id="R2a86f35e3c584ee9" Type="http://schemas.openxmlformats.org/officeDocument/2006/relationships/theme" Target="theme/theme2.xml"/><Relationship Id="R3a0dc306b4894c6d" Type="http://schemas.openxmlformats.org/officeDocument/2006/relationships/slideLayout" Target="../slideLayouts/slideLayout5.xml"/><Relationship Id="R42a1128e575d497b" Type="http://schemas.openxmlformats.org/officeDocument/2006/relationships/slideLayout" Target="../slideLayouts/slideLayout2.xml"/><Relationship Id="R589b750b09334bb5" Type="http://schemas.openxmlformats.org/officeDocument/2006/relationships/slideLayout" Target="../slideLayouts/slideLayout4.xml"/><Relationship Id="R5af9248e6aca4236" Type="http://schemas.openxmlformats.org/officeDocument/2006/relationships/slideLayout" Target="../slideLayouts/slideLayout6.xml"/><Relationship Id="R72188e8a28aa44ac" Type="http://schemas.openxmlformats.org/officeDocument/2006/relationships/slideLayout" Target="../slideLayouts/slideLayout1.xml"/><Relationship Id="R8c3a2de5b0f54fd2" Type="http://schemas.openxmlformats.org/officeDocument/2006/relationships/slideLayout" Target="../slideLayouts/slideLayout7.xml"/><Relationship Id="R9af3c20229a6487b" Type="http://schemas.openxmlformats.org/officeDocument/2006/relationships/slideLayout" Target="../slideLayouts/slideLayout12.xml"/><Relationship Id="Ra57d29800d784d02" Type="http://schemas.openxmlformats.org/officeDocument/2006/relationships/slideLayout" Target="../slideLayouts/slideLayout11.xml"/><Relationship Id="Rbb8cbd0f6d0046cf" Type="http://schemas.openxmlformats.org/officeDocument/2006/relationships/slideLayout" Target="../slideLayouts/slideLayout10.xml"/><Relationship Id="Rf1a9c5cd38834962" Type="http://schemas.openxmlformats.org/officeDocument/2006/relationships/slideLayout" Target="../slideLayouts/slideLayout13.xml"/><Relationship Id="Rfcaa18d8cdfa451f" Type="http://schemas.openxmlformats.org/officeDocument/2006/relationships/slideLayout" Target="../slideLayouts/slideLayout9.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88e8a28aa44ac"/>
    <p:sldLayoutId xmlns:r="http://schemas.openxmlformats.org/officeDocument/2006/relationships" id="2147483650" r:id="R42a1128e575d497b"/>
    <p:sldLayoutId xmlns:r="http://schemas.openxmlformats.org/officeDocument/2006/relationships" id="2147483651" r:id="R1ffa163bd37f414f"/>
    <p:sldLayoutId xmlns:r="http://schemas.openxmlformats.org/officeDocument/2006/relationships" id="2147483652" r:id="R589b750b09334bb5"/>
    <p:sldLayoutId xmlns:r="http://schemas.openxmlformats.org/officeDocument/2006/relationships" id="2147483653" r:id="R3a0dc306b4894c6d"/>
    <p:sldLayoutId xmlns:r="http://schemas.openxmlformats.org/officeDocument/2006/relationships" id="2147483654" r:id="R5af9248e6aca4236"/>
    <p:sldLayoutId xmlns:r="http://schemas.openxmlformats.org/officeDocument/2006/relationships" id="2147483655" r:id="R8c3a2de5b0f54fd2"/>
    <p:sldLayoutId xmlns:r="http://schemas.openxmlformats.org/officeDocument/2006/relationships" id="2147483656" r:id="R1b9328ccffe648b4"/>
    <p:sldLayoutId xmlns:r="http://schemas.openxmlformats.org/officeDocument/2006/relationships" id="2147483657" r:id="Rfcaa18d8cdfa451f"/>
    <p:sldLayoutId xmlns:r="http://schemas.openxmlformats.org/officeDocument/2006/relationships" id="2147483658" r:id="Rbb8cbd0f6d0046cf"/>
    <p:sldLayoutId xmlns:r="http://schemas.openxmlformats.org/officeDocument/2006/relationships" id="2147483659" r:id="Ra57d29800d784d02"/>
    <p:sldLayoutId xmlns:r="http://schemas.openxmlformats.org/officeDocument/2006/relationships" id="2147483660" r:id="R9af3c20229a6487b"/>
    <p:sldLayoutId xmlns:r="http://schemas.openxmlformats.org/officeDocument/2006/relationships" id="2147483661" r:id="Rf1a9c5cd38834962"/>
    <p:sldLayoutId xmlns:r="http://schemas.openxmlformats.org/officeDocument/2006/relationships" id="2147483662" r:id="R1dfc7f19fa704866"/>
  </p:sldLayoutIdLst>
  <p:hf hdr="0" ftr="0" dt="0"/>
  <p:txStyles>
    <p:titleStyle>
      <a:lvl1pPr xmlns:a="http://schemas.openxmlformats.org/drawingml/2006/main" algn="l" defTabSz="914400">
        <a:lnSpc>
          <a:spcPct val="90000"/>
        </a:lnSpc>
        <a:spcBef>
          <a:spcPct val="0"/>
        </a:spcBef>
        <a:buNone/>
        <a:defRPr sz="3400" b="1" i="0" kern="1200">
          <a:solidFill>
            <a:schemeClr val="bg1"/>
          </a:solidFill>
          <a:latin typeface="Arial Narrow"/>
          <a:ea typeface="Arial Narrow"/>
          <a:cs typeface="Arial Narrow"/>
        </a:defRPr>
      </a:lvl1pPr>
    </p:titleStyle>
    <p:bodyStyle>
      <a:lvl1pPr xmlns:a="http://schemas.openxmlformats.org/drawingml/2006/main" marL="0" indent="0" algn="l" defTabSz="914400">
        <a:lnSpc>
          <a:spcPct val="90000"/>
        </a:lnSpc>
        <a:spcBef>
          <a:spcPts val="1000"/>
        </a:spcBef>
        <a:buFont typeface="Arial"/>
        <a:buNone/>
        <a:defRPr sz="2200" kern="1200">
          <a:solidFill>
            <a:schemeClr val="bg1"/>
          </a:solidFill>
          <a:latin typeface="Arial Narrow"/>
          <a:ea typeface="Arial Narrow"/>
          <a:cs typeface="Arial Narrow"/>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257">
          <p15:clr>
            <a:srgbClr xmlns:a="http://schemas.openxmlformats.org/drawingml/2006/main" val="F26B43"/>
          </p15:clr>
        </p15:guide>
      </p15:sldGuideLst>
    </p:ext>
  </p:extLst>
</p:sldMaster>
</file>

<file path=ppt/slideMasters/theme/theme2.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9052ae64574d38" Type="http://schemas.openxmlformats.org/officeDocument/2006/relationships/slideLayout" Target="../slideLayouts/slideLayout3.xml"/><Relationship Id="Re4b7dc44a8c84b5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a99612b33a2422d" Type="http://schemas.openxmlformats.org/officeDocument/2006/relationships/slideLayout" Target="../slideLayouts/slideLayout11.xml"/><Relationship Id="Rbc8db6ec361345e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7360c62c8364ffd" Type="http://schemas.openxmlformats.org/officeDocument/2006/relationships/slideLayout" Target="../slideLayouts/slideLayout11.xml"/><Relationship Id="R59c3280fc2da40b6" Type="http://schemas.openxmlformats.org/officeDocument/2006/relationships/image" Target="../media/image.png"/><Relationship Id="Rf381e7bc5dd04d16" Type="http://schemas.openxmlformats.org/officeDocument/2006/relationships/notesSlide" Target="../notesSlides/notesSlide3.xml"/><Relationship Id="rId4" Type="http://schemas.openxmlformats.org/officeDocument/2006/relationships/image" Target="../media/image1.jpg"/><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0d81dcff8bd647e3" Type="http://schemas.openxmlformats.org/officeDocument/2006/relationships/notesSlide" Target="../notesSlides/notesSlide4.xml"/><Relationship Id="R84f5213f192d4430"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29a2ee7a6f93400f" Type="http://schemas.openxmlformats.org/officeDocument/2006/relationships/notesSlide" Target="../notesSlides/notesSlide5.xml"/><Relationship Id="R74aec3e35fd6485c"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cefb8e191b2b47fc" Type="http://schemas.openxmlformats.org/officeDocument/2006/relationships/notesSlide" Target="../notesSlides/notesSlide6.xml"/><Relationship Id="Rf6b3c3abe40d4572" Type="http://schemas.openxmlformats.org/officeDocument/2006/relationships/slideLayout" Target="../slideLayouts/slideLayout11.xml"/><Relationship Id="Rf75f28609aee42cb" Type="http://schemas.openxmlformats.org/officeDocument/2006/relationships/chart" Target="charts/chart1.xml"/></Relationships>
</file>

<file path=ppt/slides/_rels/slide7.xml.rels><?xml version='1.0' encoding='UTF-8' standalone='yes'?>
<Relationships xmlns="http://schemas.openxmlformats.org/package/2006/relationships"><Relationship Id="R22e11fee74714025" Type="http://schemas.openxmlformats.org/officeDocument/2006/relationships/notesSlide" Target="../notesSlides/notesSlide7.xml"/><Relationship Id="Rb2a10100880f4f5f" Type="http://schemas.openxmlformats.org/officeDocument/2006/relationships/chart" Target="charts/chart2.xml"/><Relationship Id="Re6010a28fddb4f63"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1c60fa73183041ae" Type="http://schemas.openxmlformats.org/officeDocument/2006/relationships/chart" Target="charts/chart3.xml"/><Relationship Id="R957450e6b95342e0" Type="http://schemas.openxmlformats.org/officeDocument/2006/relationships/notesSlide" Target="../notesSlides/notesSlide8.xml"/><Relationship Id="Rdec7994c95f148a0"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093df7619b324c45" Type="http://schemas.openxmlformats.org/officeDocument/2006/relationships/notesSlide" Target="../notesSlides/notesSlide9.xml"/><Relationship Id="R1ef394926ddf4c15"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8455fffdbd404e73" Type="http://schemas.openxmlformats.org/officeDocument/2006/relationships/slideLayout" Target="../slideLayouts/slideLayout11.xml"/><Relationship Id="Rbe490b50346a403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c4c4b7e15844e7c" Type="http://schemas.openxmlformats.org/officeDocument/2006/relationships/notesSlide" Target="../notesSlides/notesSlide11.xml"/><Relationship Id="Ra5f08b62229a4236"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a1e4f687c1ba4bac" Type="http://schemas.openxmlformats.org/officeDocument/2006/relationships/slideLayout" Target="../slideLayouts/slideLayout11.xml"/><Relationship Id="Rbc76a62cb01b425e"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microsoft.com/office/2007/relationships/media" Target="../media/media1.mp4"/><Relationship Id="rId6" Type="http://schemas.openxmlformats.org/officeDocument/2006/relationships/video" Target="../media/media1.mp4"/><Relationship Id="rId7"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Causal recognition accuracy</c:v>
          </c:tx>
          <c:spPr>
            <a:solidFill xmlns:a="http://schemas.openxmlformats.org/drawingml/2006/main">
              <a:srgbClr val="006DAE"/>
            </a:solidFill>
          </c:spPr>
          <c:dLbls>
            <c:dLbl>
              <c:idx val="0"/>
              <c:tx>
                <c:rich>
                  <a:bodyPr xmlns:a="http://schemas.openxmlformats.org/drawingml/2006/main"/>
                  <a:lstStyle xmlns:a="http://schemas.openxmlformats.org/drawingml/2006/main"/>
                  <a:p xmlns:a="http://schemas.openxmlformats.org/drawingml/2006/main">
                    <a:r>
                      <a:rPr sz="2100">
                        <a:latin typeface="Arial"/>
                        <a:ea typeface="Arial"/>
                        <a:cs typeface="Arial"/>
                      </a:rPr>
                      <a:t>79.4%</a:t>
                    </a:r>
                  </a:p>
                </c:rich>
              </c:tx>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00">
                        <a:latin typeface="Arial"/>
                        <a:ea typeface="Arial"/>
                        <a:cs typeface="Arial"/>
                      </a:rPr>
                      <a:t>72.5%</a:t>
                    </a:r>
                  </a:p>
                </c:rich>
              </c:tx>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showLegendKey val="0"/>
              <c:showVal val="0"/>
              <c:showCatName val="0"/>
              <c:showSerName val="0"/>
              <c:showPercent val="0"/>
              <c:showBubbleSize val="0"/>
            </c:dLbl>
          </c:dLbls>
          <c:cat>
            <c:strRef>
              <c:f>'Chart Data'!$A$2:$A$3</c:f>
              <c:strCache>
                <c:ptCount val="2"/>
                <c:pt idx="0">
                  <c:v>Overall accuracy</c:v>
                </c:pt>
                <c:pt idx="1">
                  <c:v>Equal weight per phase</c:v>
                </c:pt>
              </c:strCache>
            </c:strRef>
          </c:cat>
          <c:val>
            <c:numRef>
              <c:f>'Chart Data'!$B$2:$B$3</c:f>
              <c:numCache>
                <c:formatCode>0.0%</c:formatCode>
                <c:ptCount val="2"/>
                <c:pt idx="0">
                  <c:v>0.7937</c:v>
                </c:pt>
                <c:pt idx="1">
                  <c:v>0.725</c:v>
                </c:pt>
              </c:numCache>
            </c:numRef>
          </c:val>
        </c:ser>
        <c:dLbls>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5"/>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Higher</c:v>
          </c:tx>
          <c:spPr>
            <a:solidFill xmlns:a="http://schemas.openxmlformats.org/drawingml/2006/main">
              <a:srgbClr val="89C6B4"/>
            </a:solidFill>
          </c:spPr>
          <c:cat>
            <c:strRef>
              <c:f>'Chart Data'!$A$2:$A$3</c:f>
              <c:strCache>
                <c:ptCount val="2"/>
                <c:pt idx="0">
                  <c:v>Felt safe</c:v>
                </c:pt>
                <c:pt idx="1">
                  <c:v>Trusted distance</c:v>
                </c:pt>
              </c:strCache>
            </c:strRef>
          </c:cat>
          <c:val>
            <c:numRef>
              <c:f>'Chart Data'!$B$2:$B$3</c:f>
              <c:numCache>
                <c:formatCode>General</c:formatCode>
                <c:ptCount val="2"/>
                <c:pt idx="0">
                  <c:v>8</c:v>
                </c:pt>
                <c:pt idx="1">
                  <c:v>5</c:v>
                </c:pt>
              </c:numCache>
            </c:numRef>
          </c:val>
        </c:ser>
        <c:ser>
          <c:idx val="1"/>
          <c:order val="1"/>
          <c:tx>
            <c:v>Unchanged</c:v>
          </c:tx>
          <c:spPr>
            <a:solidFill xmlns:a="http://schemas.openxmlformats.org/drawingml/2006/main">
              <a:srgbClr val="D5DDE2"/>
            </a:solidFill>
          </c:spPr>
          <c:cat>
            <c:strRef>
              <c:f>'Chart Data'!$C$2:$C$3</c:f>
              <c:strCache>
                <c:ptCount val="2"/>
                <c:pt idx="0">
                  <c:v>Felt safe</c:v>
                </c:pt>
                <c:pt idx="1">
                  <c:v>Trusted distance</c:v>
                </c:pt>
              </c:strCache>
            </c:strRef>
          </c:cat>
          <c:val>
            <c:numRef>
              <c:f>'Chart Data'!$D$2:$D$3</c:f>
              <c:numCache>
                <c:formatCode>General</c:formatCode>
                <c:ptCount val="2"/>
                <c:pt idx="0">
                  <c:v>1</c:v>
                </c:pt>
                <c:pt idx="1">
                  <c:v>3</c:v>
                </c:pt>
              </c:numCache>
            </c:numRef>
          </c:val>
        </c:ser>
        <c:ser>
          <c:idx val="2"/>
          <c:order val="2"/>
          <c:tx>
            <c:v>Lower</c:v>
          </c:tx>
          <c:spPr>
            <a:solidFill xmlns:a="http://schemas.openxmlformats.org/drawingml/2006/main">
              <a:srgbClr val="E4B47E"/>
            </a:solidFill>
          </c:spPr>
          <c:cat>
            <c:strRef>
              <c:f>'Chart Data'!$E$2:$E$3</c:f>
              <c:strCache>
                <c:ptCount val="2"/>
                <c:pt idx="0">
                  <c:v>Felt safe</c:v>
                </c:pt>
                <c:pt idx="1">
                  <c:v>Trusted distance</c:v>
                </c:pt>
              </c:strCache>
            </c:strRef>
          </c:cat>
          <c:val>
            <c:numRef>
              <c:f>'Chart Data'!$F$2:$F$3</c:f>
              <c:numCache>
                <c:formatCode>General</c:formatCode>
                <c:ptCount val="2"/>
                <c:pt idx="0">
                  <c:v>2</c:v>
                </c:pt>
                <c:pt idx="1">
                  <c:v>3</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D3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Arial"/>
                <a:ea typeface="Arial"/>
                <a:cs typeface="Arial"/>
              </a:defRPr>
            </a:pPr>
          </a:p>
        </c:txPr>
        <c:crossAx val="48672768"/>
      </c:catAx>
      <c:valAx>
        <c:axId val="48672768"/>
        <c:scaling>
          <c:orientation val="minMax"/>
          <c:max val="11"/>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95th-percentile discrepancy (m)</c:v>
          </c:tx>
          <c:spPr>
            <a:solidFill xmlns:a="http://schemas.openxmlformats.org/drawingml/2006/main">
              <a:srgbClr val="668598"/>
            </a:solidFill>
          </c:spPr>
          <c:dPt>
            <c:idx val="13"/>
            <c:invertIfNegative val="0"/>
            <c:spPr>
              <a:solidFill xmlns:a="http://schemas.openxmlformats.org/drawingml/2006/main">
                <a:srgbClr val="16866C"/>
              </a:solidFill>
            </c:spPr>
          </c:dPt>
          <c:cat>
            <c:numRef>
              <c:f>'Chart Data'!$A$2:$A$15</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'Chart Data'!$B$2:$B$15</c:f>
              <c:numCache>
                <c:formatCode>0.0</c:formatCode>
                <c:ptCount val="14"/>
                <c:pt idx="0">
                  <c:v>0.479</c:v>
                </c:pt>
                <c:pt idx="1">
                  <c:v>0.469</c:v>
                </c:pt>
                <c:pt idx="2">
                  <c:v>0.491</c:v>
                </c:pt>
                <c:pt idx="3">
                  <c:v>0.462</c:v>
                </c:pt>
                <c:pt idx="4">
                  <c:v>0.413</c:v>
                </c:pt>
                <c:pt idx="5">
                  <c:v>0.422</c:v>
                </c:pt>
                <c:pt idx="6">
                  <c:v>0.458</c:v>
                </c:pt>
                <c:pt idx="7">
                  <c:v>0.429</c:v>
                </c:pt>
                <c:pt idx="8">
                  <c:v>0.5</c:v>
                </c:pt>
                <c:pt idx="9">
                  <c:v>0.424</c:v>
                </c:pt>
                <c:pt idx="10">
                  <c:v>0.534</c:v>
                </c:pt>
                <c:pt idx="11">
                  <c:v>0.429</c:v>
                </c:pt>
                <c:pt idx="12">
                  <c:v>0.469</c:v>
                </c:pt>
                <c:pt idx="13">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0.6"/>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Discrepancy (m)</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0.2"/>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CONTEXT-AWARE&#10;ROBOT SAFETY">
            <a:extLst xmlns:a="http://schemas.openxmlformats.org/drawingml/2006/main">
              <a:ext uri="{FF2B5EF4-FFF2-40B4-BE49-F238E27FC236}">
                <a16:creationId xmlns:a16="http://schemas.microsoft.com/office/drawing/2014/main" id="{A3317F18-32B7-44E5-8BC5-E14E9441CD69}"/>
              </a:ext>
            </a:extLst>
          </p:cNvPr>
          <p:cNvSpPr>
            <a:spLocks xmlns:a="http://schemas.openxmlformats.org/drawingml/2006/main" noGrp="1"/>
          </p:cNvSpPr>
          <p:nvPr/>
        </p:nvSpPr>
        <p:spPr>
          <a:xfrm xmlns:a="http://schemas.openxmlformats.org/drawingml/2006/main">
            <a:off x="514350" y="1714500"/>
            <a:ext cx="10382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CONTEXT-AWARE</a:t>
            </a:r>
          </a:p>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ROBOT SAFETY</a:t>
            </a:r>
          </a:p>
        </p:txBody>
      </p:sp>
      <p:sp>
        <p:nvSpPr>
          <p:cNvPr id="2" name="Human–robot ceiling-panel installation">
            <a:extLst xmlns:a="http://schemas.openxmlformats.org/drawingml/2006/main">
              <a:ext uri="{FF2B5EF4-FFF2-40B4-BE49-F238E27FC236}">
                <a16:creationId xmlns:a16="http://schemas.microsoft.com/office/drawing/2014/main" id="{E152C5E9-2D23-4825-81A4-987AECF6E701}"/>
              </a:ext>
            </a:extLst>
          </p:cNvPr>
          <p:cNvSpPr>
            <a:spLocks xmlns:a="http://schemas.openxmlformats.org/drawingml/2006/main" noGrp="1"/>
          </p:cNvSpPr>
          <p:nvPr/>
        </p:nvSpPr>
        <p:spPr>
          <a:xfrm xmlns:a="http://schemas.openxmlformats.org/drawingml/2006/main">
            <a:off x="533400" y="3448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006DAE"/>
                </a:solidFill>
                <a:latin typeface="Arial"/>
                <a:ea typeface="Arial"/>
                <a:cs typeface="Arial"/>
              </a:defRPr>
            </a:pPr>
            <a:r>
              <a:rPr sz="2775" b="0">
                <a:solidFill>
                  <a:srgbClr val="006DAE"/>
                </a:solidFill>
                <a:latin typeface="Arial"/>
                <a:ea typeface="Arial"/>
                <a:cs typeface="Arial"/>
              </a:rPr>
              <a:t>01</a:t>
            </a:r>
          </a:p>
        </p:txBody>
      </p:sp>
      <p:sp>
        <p:nvSpPr>
          <p:cNvPr id="3" name="Zenan Wu · Luke Siniakov · Michael Magila">
            <a:extLst xmlns:a="http://schemas.openxmlformats.org/drawingml/2006/main">
              <a:ext uri="{FF2B5EF4-FFF2-40B4-BE49-F238E27FC236}">
                <a16:creationId xmlns:a16="http://schemas.microsoft.com/office/drawing/2014/main" id="{EF599501-92F0-4D29-8278-A8C45B8FD8D4}"/>
              </a:ext>
            </a:extLst>
          </p:cNvPr>
          <p:cNvSpPr>
            <a:spLocks xmlns:a="http://schemas.openxmlformats.org/drawingml/2006/main" noGrp="1"/>
          </p:cNvSpPr>
          <p:nvPr/>
        </p:nvSpPr>
        <p:spPr>
          <a:xfrm xmlns:a="http://schemas.openxmlformats.org/drawingml/2006/main">
            <a:off x="533400" y="43053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D"/>
                </a:solidFill>
                <a:latin typeface="Arial"/>
                <a:ea typeface="Arial"/>
                <a:cs typeface="Arial"/>
              </a:defRPr>
            </a:pPr>
            <a:r>
              <a:rPr sz="2025" b="0">
                <a:solidFill>
                  <a:srgbClr val="172D3D"/>
                </a:solidFill>
                <a:latin typeface="Arial"/>
                <a:ea typeface="Arial"/>
                <a:cs typeface="Arial"/>
              </a:rPr>
              <a:t>Zenan Wu · Luke Siniakov · Michael Magila</a:t>
            </a:r>
          </a:p>
        </p:txBody>
      </p:sp>
      <p:sp>
        <p:nvSpPr>
          <p:cNvPr id="4" name="Primary supervisor: Associate Professor Yihai Fang">
            <a:extLst xmlns:a="http://schemas.openxmlformats.org/drawingml/2006/main">
              <a:ext uri="{FF2B5EF4-FFF2-40B4-BE49-F238E27FC236}">
                <a16:creationId xmlns:a16="http://schemas.microsoft.com/office/drawing/2014/main" id="{189FF469-DE45-4D12-A788-3626CF454F4D}"/>
              </a:ext>
            </a:extLst>
          </p:cNvPr>
          <p:cNvSpPr>
            <a:spLocks xmlns:a="http://schemas.openxmlformats.org/drawingml/2006/main" noGrp="1"/>
          </p:cNvSpPr>
          <p:nvPr/>
        </p:nvSpPr>
        <p:spPr>
          <a:xfrm xmlns:a="http://schemas.openxmlformats.org/drawingml/2006/main">
            <a:off x="533400" y="50006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Primary supervisor: Associate Professor Yihai Fang</a:t>
            </a:r>
          </a:p>
        </p:txBody>
      </p:sp>
      <p:sp>
        <p:nvSpPr>
          <p:cNvPr id="5" name="Technical support: Yizhe (Will) Wang">
            <a:extLst xmlns:a="http://schemas.openxmlformats.org/drawingml/2006/main">
              <a:ext uri="{FF2B5EF4-FFF2-40B4-BE49-F238E27FC236}">
                <a16:creationId xmlns:a16="http://schemas.microsoft.com/office/drawing/2014/main" id="{C035169A-14F2-43F7-8797-C2C657DED983}"/>
              </a:ext>
            </a:extLst>
          </p:cNvPr>
          <p:cNvSpPr>
            <a:spLocks xmlns:a="http://schemas.openxmlformats.org/drawingml/2006/main" noGrp="1"/>
          </p:cNvSpPr>
          <p:nvPr/>
        </p:nvSpPr>
        <p:spPr>
          <a:xfrm xmlns:a="http://schemas.openxmlformats.org/drawingml/2006/main">
            <a:off x="533400" y="5410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Technical support: Yizhe (Will) Wang</a:t>
            </a:r>
          </a:p>
        </p:txBody>
      </p:sp>
    </p:spTree>
    <p:extLst>
      <p:ext uri="{BB962C8B-B14F-4D97-AF65-F5344CB8AC3E}">
        <p14:creationId xmlns:p14="http://schemas.microsoft.com/office/powerpoint/2010/main" val="18225140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Why ceiling-panel installation?">
            <a:extLst xmlns:a="http://schemas.openxmlformats.org/drawingml/2006/main">
              <a:ext uri="{FF2B5EF4-FFF2-40B4-BE49-F238E27FC236}">
                <a16:creationId xmlns:a16="http://schemas.microsoft.com/office/drawing/2014/main" id="{49B531E9-0792-4B69-9FED-6AA66F6A54EC}"/>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Why ceiling-panel installation?</a:t>
            </a:r>
          </a:p>
        </p:txBody>
      </p:sp>
      <p:sp>
        <p:nvSpPr>
          <p:cNvPr id="2" name="02">
            <a:extLst xmlns:a="http://schemas.openxmlformats.org/drawingml/2006/main">
              <a:ext uri="{FF2B5EF4-FFF2-40B4-BE49-F238E27FC236}">
                <a16:creationId xmlns:a16="http://schemas.microsoft.com/office/drawing/2014/main" id="{827ACDC4-7302-4283-A994-3A35376F6D28}"/>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02</a:t>
            </a:r>
          </a:p>
        </p:txBody>
      </p:sp>
      <p:sp>
        <p:nvSpPr>
          <p:cNvPr id="3" name="The robot supports the panel.&#10;The worker still needs access.">
            <a:extLst xmlns:a="http://schemas.openxmlformats.org/drawingml/2006/main">
              <a:ext uri="{FF2B5EF4-FFF2-40B4-BE49-F238E27FC236}">
                <a16:creationId xmlns:a16="http://schemas.microsoft.com/office/drawing/2014/main" id="{B0538F59-0C59-4FA7-B1F1-87BDAC679F3F}"/>
              </a:ext>
            </a:extLst>
          </p:cNvPr>
          <p:cNvSpPr>
            <a:spLocks xmlns:a="http://schemas.openxmlformats.org/drawingml/2006/main" noGrp="1"/>
          </p:cNvSpPr>
          <p:nvPr/>
        </p:nvSpPr>
        <p:spPr>
          <a:xfrm xmlns:a="http://schemas.openxmlformats.org/drawingml/2006/main">
            <a:off x="571500" y="1419225"/>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6DAE"/>
                </a:solidFill>
                <a:latin typeface="Arial"/>
                <a:ea typeface="Arial"/>
                <a:cs typeface="Arial"/>
              </a:defRPr>
            </a:pPr>
            <a:r>
              <a:rPr sz="3300" b="1">
                <a:solidFill>
                  <a:srgbClr val="006DAE"/>
                </a:solidFill>
                <a:latin typeface="Arial"/>
                <a:ea typeface="Arial"/>
                <a:cs typeface="Arial"/>
              </a:rPr>
              <a:t>The robot supports the panel.</a:t>
            </a:r>
          </a:p>
          <a:p xmlns:a="http://schemas.openxmlformats.org/drawingml/2006/main">
            <a:pPr>
              <a:defRPr sz="3300" b="1">
                <a:solidFill>
                  <a:srgbClr val="006DAE"/>
                </a:solidFill>
                <a:latin typeface="Arial"/>
                <a:ea typeface="Arial"/>
                <a:cs typeface="Arial"/>
              </a:defRPr>
            </a:pPr>
            <a:r>
              <a:rPr sz="3300" b="1">
                <a:solidFill>
                  <a:srgbClr val="006DAE"/>
                </a:solidFill>
                <a:latin typeface="Arial"/>
                <a:ea typeface="Arial"/>
                <a:cs typeface="Arial"/>
              </a:rPr>
              <a:t>The worker still needs access.</a:t>
            </a:r>
          </a:p>
        </p:txBody>
      </p:sp>
      <p:sp>
        <p:nvSpPr>
          <p:cNvPr id="4" name="Workers need room to align and fasten the panel.&#10;Stopping to">
            <a:extLst xmlns:a="http://schemas.openxmlformats.org/drawingml/2006/main">
              <a:ext uri="{FF2B5EF4-FFF2-40B4-BE49-F238E27FC236}">
                <a16:creationId xmlns:a16="http://schemas.microsoft.com/office/drawing/2014/main" id="{4676B21C-091D-44B0-A70D-EE173B572227}"/>
              </a:ext>
            </a:extLst>
          </p:cNvPr>
          <p:cNvSpPr>
            <a:spLocks xmlns:a="http://schemas.openxmlformats.org/drawingml/2006/main" noGrp="1"/>
          </p:cNvSpPr>
          <p:nvPr/>
        </p:nvSpPr>
        <p:spPr>
          <a:xfrm xmlns:a="http://schemas.openxmlformats.org/drawingml/2006/main">
            <a:off x="571500" y="29718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Workers need room to align and fasten the panel.</a:t>
            </a:r>
          </a:p>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Stopping too often can interrupt that coordination.</a:t>
            </a:r>
          </a:p>
        </p:txBody>
      </p:sp>
      <p:sp>
        <p:nvSpPr>
          <p:cNvPr id="5" name="Potential beneficiaries: installation crews and the engineer">
            <a:extLst xmlns:a="http://schemas.openxmlformats.org/drawingml/2006/main">
              <a:ext uri="{FF2B5EF4-FFF2-40B4-BE49-F238E27FC236}">
                <a16:creationId xmlns:a16="http://schemas.microsoft.com/office/drawing/2014/main" id="{7C9F4C65-82B7-48FA-BB9F-00FADC90B9A1}"/>
              </a:ext>
            </a:extLst>
          </p:cNvPr>
          <p:cNvSpPr>
            <a:spLocks xmlns:a="http://schemas.openxmlformats.org/drawingml/2006/main" noGrp="1"/>
          </p:cNvSpPr>
          <p:nvPr/>
        </p:nvSpPr>
        <p:spPr>
          <a:xfrm xmlns:a="http://schemas.openxmlformats.org/drawingml/2006/main">
            <a:off x="571500" y="4162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Potential beneficiaries: installation crews and the engineers</a:t>
            </a:r>
          </a:p>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who design collaborative construction systems.</a:t>
            </a:r>
          </a:p>
        </p:txBody>
      </p:sp>
      <p:sp>
        <p:nvSpPr>
          <p:cNvPr id="6" name="Research question: can task context improve coordination&#10;wit">
            <a:extLst xmlns:a="http://schemas.openxmlformats.org/drawingml/2006/main">
              <a:ext uri="{FF2B5EF4-FFF2-40B4-BE49-F238E27FC236}">
                <a16:creationId xmlns:a16="http://schemas.microsoft.com/office/drawing/2014/main" id="{6D0B6F88-DCE9-46A8-A55D-095F9C7A309C}"/>
              </a:ext>
            </a:extLst>
          </p:cNvPr>
          <p:cNvSpPr>
            <a:spLocks xmlns:a="http://schemas.openxmlformats.org/drawingml/2006/main" noGrp="1"/>
          </p:cNvSpPr>
          <p:nvPr/>
        </p:nvSpPr>
        <p:spPr>
          <a:xfrm xmlns:a="http://schemas.openxmlformats.org/drawingml/2006/main">
            <a:off x="5715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D3D"/>
                </a:solidFill>
                <a:latin typeface="Arial"/>
                <a:ea typeface="Arial"/>
                <a:cs typeface="Arial"/>
              </a:defRPr>
            </a:pPr>
            <a:r>
              <a:rPr sz="2025" b="1">
                <a:solidFill>
                  <a:srgbClr val="172D3D"/>
                </a:solidFill>
                <a:latin typeface="Arial"/>
                <a:ea typeface="Arial"/>
                <a:cs typeface="Arial"/>
              </a:rPr>
              <a:t>Research question: can a task-aware robot keep workers as safe as fixed zones, while keeping the work efficient?</a:t>
            </a:r>
          </a:p>
        </p:txBody>
      </p:sp>
    </p:spTree>
    <p:extLst>
      <p:ext uri="{BB962C8B-B14F-4D97-AF65-F5344CB8AC3E}">
        <p14:creationId xmlns:p14="http://schemas.microsoft.com/office/powerpoint/2010/main" val="15123273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The task and laboratory prototype">
            <a:extLst xmlns:a="http://schemas.openxmlformats.org/drawingml/2006/main">
              <a:ext uri="{FF2B5EF4-FFF2-40B4-BE49-F238E27FC236}">
                <a16:creationId xmlns:a16="http://schemas.microsoft.com/office/drawing/2014/main" id="{DA806EAB-9D1F-4D99-9E8F-92CEBF025533}"/>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The task and laboratory prototype</a:t>
            </a:r>
          </a:p>
        </p:txBody>
      </p:sp>
      <p:sp>
        <p:nvSpPr>
          <p:cNvPr id="2" name="03">
            <a:extLst xmlns:a="http://schemas.openxmlformats.org/drawingml/2006/main">
              <a:ext uri="{FF2B5EF4-FFF2-40B4-BE49-F238E27FC236}">
                <a16:creationId xmlns:a16="http://schemas.microsoft.com/office/drawing/2014/main" id="{CFB5FF92-5DE5-431F-B644-183C6C08DB0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03</a:t>
            </a:r>
          </a:p>
        </p:txBody>
      </p:sp>
      <p:sp>
        <p:nvSpPr>
          <p:cNvPr id="4" name="UR10 robot&#10;Panel surrogate&#10;Optical head tracking&#10;Body-segmen">
            <a:extLst xmlns:a="http://schemas.openxmlformats.org/drawingml/2006/main">
              <a:ext uri="{FF2B5EF4-FFF2-40B4-BE49-F238E27FC236}">
                <a16:creationId xmlns:a16="http://schemas.microsoft.com/office/drawing/2014/main" id="{8B38F4BD-A4AB-4999-A492-26BB7F873FFC}"/>
              </a:ext>
            </a:extLst>
          </p:cNvPr>
          <p:cNvSpPr>
            <a:spLocks xmlns:a="http://schemas.openxmlformats.org/drawingml/2006/main" noGrp="1"/>
          </p:cNvSpPr>
          <p:nvPr/>
        </p:nvSpPr>
        <p:spPr>
          <a:xfrm xmlns:a="http://schemas.openxmlformats.org/drawingml/2006/main">
            <a:off x="8334375" y="1619250"/>
            <a:ext cx="3238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UR10 robot</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Panel surrogate</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Optical head tracking</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Body-segment tracking</a:t>
            </a:r>
          </a:p>
        </p:txBody>
      </p:sp>
      <p:sp>
        <p:nvSpPr>
          <p:cNvPr id="5" name="Load → retreat → lift → work → retreat → lower / unload">
            <a:extLst xmlns:a="http://schemas.openxmlformats.org/drawingml/2006/main">
              <a:ext uri="{FF2B5EF4-FFF2-40B4-BE49-F238E27FC236}">
                <a16:creationId xmlns:a16="http://schemas.microsoft.com/office/drawing/2014/main" id="{F2534CDA-8026-48C5-B240-46D698435715}"/>
              </a:ext>
            </a:extLst>
          </p:cNvPr>
          <p:cNvSpPr>
            <a:spLocks xmlns:a="http://schemas.openxmlformats.org/drawingml/2006/main" noGrp="1"/>
          </p:cNvSpPr>
          <p:nvPr/>
        </p:nvSpPr>
        <p:spPr>
          <a:xfrm xmlns:a="http://schemas.openxmlformats.org/drawingml/2006/main">
            <a:off x="571500" y="488632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DAE"/>
                </a:solidFill>
                <a:latin typeface="Arial"/>
                <a:ea typeface="Arial"/>
                <a:cs typeface="Arial"/>
              </a:defRPr>
            </a:pPr>
            <a:r>
              <a:rPr sz="2250" b="1">
                <a:solidFill>
                  <a:srgbClr val="006DAE"/>
                </a:solidFill>
                <a:latin typeface="Arial"/>
                <a:ea typeface="Arial"/>
                <a:cs typeface="Arial"/>
              </a:rPr>
              <a:t>Load → retreat → lift → work → retreat → lower / unload</a:t>
            </a:r>
          </a:p>
        </p:txBody>
      </p:sp>
      <p:sp>
        <p:nvSpPr>
          <p:cNvPr id="6" name="Schematic of the procedure; scale and motion are illustrativ">
            <a:extLst xmlns:a="http://schemas.openxmlformats.org/drawingml/2006/main">
              <a:ext uri="{FF2B5EF4-FFF2-40B4-BE49-F238E27FC236}">
                <a16:creationId xmlns:a16="http://schemas.microsoft.com/office/drawing/2014/main" id="{2BCF01A8-A812-4BB7-ADB0-153753A61F5C}"/>
              </a:ext>
            </a:extLst>
          </p:cNvPr>
          <p:cNvSpPr>
            <a:spLocks xmlns:a="http://schemas.openxmlformats.org/drawingml/2006/main" noGrp="1"/>
          </p:cNvSpPr>
          <p:nvPr/>
        </p:nvSpPr>
        <p:spPr>
          <a:xfrm xmlns:a="http://schemas.openxmlformats.org/drawingml/2006/main">
            <a:off x="571500" y="552450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9"/>
                </a:solidFill>
                <a:latin typeface="Arial"/>
                <a:ea typeface="Arial"/>
                <a:cs typeface="Arial"/>
              </a:defRPr>
            </a:pPr>
            <a:r>
              <a:rPr sz="1650" b="0">
                <a:solidFill>
                  <a:srgbClr val="536B79"/>
                </a:solidFill>
                <a:latin typeface="Arial"/>
                <a:ea typeface="Arial"/>
                <a:cs typeface="Arial"/>
              </a:rPr>
              <a:t>Lab cell during a session: UR10 holding the panel at ceiling height; OptiTrack cameras on the frame. Faces obscured.</a:t>
            </a:r>
          </a:p>
        </p:txBody>
      </p:sp>
      <p:pic xmlns:a="http://schemas.openxmlformats.org/drawingml/2006/main" xmlns:r="http://schemas.openxmlformats.org/officeDocument/2006/relationships">
        <p:nvPicPr>
          <p:cNvPr id="8" name="Picture 7" descr="apparatus-a.jpg"/>
          <p:cNvPicPr>
            <a:picLocks noChangeAspect="1"/>
          </p:cNvPicPr>
          <p:nvPr/>
        </p:nvPicPr>
        <p:blipFill>
          <a:blip r:embed="rId5"/>
          <a:stretch>
            <a:fillRect/>
          </a:stretch>
        </p:blipFill>
        <p:spPr>
          <a:xfrm>
            <a:off x="1214438" y="1266825"/>
            <a:ext cx="6096000" cy="3429000"/>
          </a:xfrm>
          <a:prstGeom prst="rect">
            <a:avLst/>
          </a:prstGeom>
        </p:spPr>
      </p:pic>
    </p:spTree>
    <p:extLst>
      <p:ext uri="{BB962C8B-B14F-4D97-AF65-F5344CB8AC3E}">
        <p14:creationId xmlns:p14="http://schemas.microsoft.com/office/powerpoint/2010/main" val="151232738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Why compare three controllers?">
            <a:extLst xmlns:a="http://schemas.openxmlformats.org/drawingml/2006/main">
              <a:ext uri="{FF2B5EF4-FFF2-40B4-BE49-F238E27FC236}">
                <a16:creationId xmlns:a16="http://schemas.microsoft.com/office/drawing/2014/main" id="{33A41847-0DA5-4C1E-82A2-FB41F86F54E0}"/>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Why compare three controllers?</a:t>
            </a:r>
          </a:p>
        </p:txBody>
      </p:sp>
      <p:sp>
        <p:nvSpPr>
          <p:cNvPr id="2" name="04">
            <a:extLst xmlns:a="http://schemas.openxmlformats.org/drawingml/2006/main">
              <a:ext uri="{FF2B5EF4-FFF2-40B4-BE49-F238E27FC236}">
                <a16:creationId xmlns:a16="http://schemas.microsoft.com/office/drawing/2014/main" id="{9187A050-299B-4625-A4AC-06DB096C5727}"/>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06</a:t>
            </a:r>
          </a:p>
        </p:txBody>
      </p:sp>
      <p:graphicFrame>
        <p:nvGraphicFramePr>
          <p:cNvPr id="8" name=""/>
          <p:cNvGraphicFramePr/>
          <p:nvPr/>
        </p:nvGraphicFramePr>
        <p:xfrm>
          <a:off xmlns:a="http://schemas.openxmlformats.org/drawingml/2006/main" x="523875" y="1419225"/>
          <a:ext xmlns:a="http://schemas.openxmlformats.org/drawingml/2006/main" cx="11144250" cy="2619375"/>
        </p:xfrm>
        <a:graphic xmlns:a="http://schemas.openxmlformats.org/drawingml/2006/main">
          <a:graphicData uri="http://schemas.openxmlformats.org/drawingml/2006/table">
            <a:tbl>
              <a:tblPr/>
              <a:tblGrid>
                <a:gridCol w="2095500"/>
                <a:gridCol w="5143500"/>
                <a:gridCol w="3905250"/>
              </a:tblGrid>
              <a:tr h="654844">
                <a:tc>
                  <a:txBody>
                    <a:bodyPr/>
                    <a:lstStyle/>
                    <a:p>
                      <a:r>
                        <a:rPr sz="2175" b="1">
                          <a:solidFill>
                            <a:srgbClr val="172D3D"/>
                          </a:solidFill>
                          <a:latin typeface="Arial"/>
                          <a:ea typeface="Arial"/>
                          <a:cs typeface="Arial"/>
                        </a:rPr>
                        <a:t>Controller</a:t>
                      </a:r>
                    </a:p>
                  </a:txBody>
                  <a:tcPr marL="91440" marR="91440" marT="45720" marB="45720">
                    <a:solidFill>
                      <a:srgbClr val="E5EDF2"/>
                    </a:solidFill>
                  </a:tcPr>
                </a:tc>
                <a:tc>
                  <a:txBody>
                    <a:bodyPr/>
                    <a:lstStyle/>
                    <a:p>
                      <a:r>
                        <a:rPr sz="2175" b="1">
                          <a:solidFill>
                            <a:srgbClr val="172D3D"/>
                          </a:solidFill>
                          <a:latin typeface="Arial"/>
                          <a:ea typeface="Arial"/>
                          <a:cs typeface="Arial"/>
                        </a:rPr>
                        <a:t>Information used</a:t>
                      </a:r>
                    </a:p>
                  </a:txBody>
                  <a:tcPr marL="91440" marR="91440" marT="45720" marB="45720">
                    <a:solidFill>
                      <a:srgbClr val="E5EDF2"/>
                    </a:solidFill>
                  </a:tcPr>
                </a:tc>
                <a:tc>
                  <a:txBody>
                    <a:bodyPr/>
                    <a:lstStyle/>
                    <a:p>
                      <a:r>
                        <a:rPr sz="2175" b="1">
                          <a:solidFill>
                            <a:srgbClr val="172D3D"/>
                          </a:solidFill>
                          <a:latin typeface="Arial"/>
                          <a:ea typeface="Arial"/>
                          <a:cs typeface="Arial"/>
                        </a:rPr>
                        <a:t>Why include it?</a:t>
                      </a:r>
                    </a:p>
                  </a:txBody>
                  <a:tcPr marL="91440" marR="91440" marT="45720" marB="45720">
                    <a:solidFill>
                      <a:srgbClr val="E5EDF2"/>
                    </a:solidFill>
                  </a:tcPr>
                </a:tc>
              </a:tr>
              <a:tr h="654844">
                <a:tc>
                  <a:txBody>
                    <a:bodyPr/>
                    <a:lstStyle/>
                    <a:p>
                      <a:r>
                        <a:rPr sz="2175" b="0">
                          <a:solidFill>
                            <a:srgbClr val="172D3D"/>
                          </a:solidFill>
                          <a:latin typeface="Arial"/>
                          <a:ea typeface="Arial"/>
                          <a:cs typeface="Arial"/>
                        </a:rPr>
                        <a:t>Fixed zone</a:t>
                      </a:r>
                    </a:p>
                  </a:txBody>
                  <a:tcPr marL="91440" marR="91440" marT="45720" marB="45720">
                    <a:solidFill>
                      <a:srgbClr val="FFFFFF"/>
                    </a:solidFill>
                  </a:tcPr>
                </a:tc>
                <a:tc>
                  <a:txBody>
                    <a:bodyPr/>
                    <a:lstStyle/>
                    <a:p>
                      <a:r>
                        <a:rPr sz="2175" b="0">
                          <a:solidFill>
                            <a:srgbClr val="172D3D"/>
                          </a:solidFill>
                          <a:latin typeface="Arial"/>
                          <a:ea typeface="Arial"/>
                          <a:cs typeface="Arial"/>
                        </a:rPr>
                        <a:t>Distance</a:t>
                      </a:r>
                    </a:p>
                  </a:txBody>
                  <a:tcPr marL="91440" marR="91440" marT="45720" marB="45720">
                    <a:solidFill>
                      <a:srgbClr val="FFFFFF"/>
                    </a:solidFill>
                  </a:tcPr>
                </a:tc>
                <a:tc>
                  <a:txBody>
                    <a:bodyPr/>
                    <a:lstStyle/>
                    <a:p>
                      <a:r>
                        <a:rPr sz="2175" b="0">
                          <a:solidFill>
                            <a:srgbClr val="172D3D"/>
                          </a:solidFill>
                          <a:latin typeface="Arial"/>
                          <a:ea typeface="Arial"/>
                          <a:cs typeface="Arial"/>
                        </a:rPr>
                        <a:t>Simple reference</a:t>
                      </a:r>
                    </a:p>
                  </a:txBody>
                  <a:tcPr marL="91440" marR="91440" marT="45720" marB="45720">
                    <a:solidFill>
                      <a:srgbClr val="FFFFFF"/>
                    </a:solidFill>
                  </a:tcPr>
                </a:tc>
              </a:tr>
              <a:tr h="654844">
                <a:tc>
                  <a:txBody>
                    <a:bodyPr/>
                    <a:lstStyle/>
                    <a:p>
                      <a:r>
                        <a:rPr sz="2175" b="0">
                          <a:solidFill>
                            <a:srgbClr val="172D3D"/>
                          </a:solidFill>
                          <a:latin typeface="Arial"/>
                          <a:ea typeface="Arial"/>
                          <a:cs typeface="Arial"/>
                        </a:rPr>
                        <a:t>Reactive</a:t>
                      </a:r>
                    </a:p>
                  </a:txBody>
                  <a:tcPr marL="91440" marR="91440" marT="45720" marB="45720">
                    <a:solidFill>
                      <a:srgbClr val="FFFFFF"/>
                    </a:solidFill>
                  </a:tcPr>
                </a:tc>
                <a:tc>
                  <a:txBody>
                    <a:bodyPr/>
                    <a:lstStyle/>
                    <a:p>
                      <a:r>
                        <a:rPr sz="2175" b="0">
                          <a:solidFill>
                            <a:srgbClr val="172D3D"/>
                          </a:solidFill>
                          <a:latin typeface="Arial"/>
                          <a:ea typeface="Arial"/>
                          <a:cs typeface="Arial"/>
                        </a:rPr>
                        <a:t>Distance + closing speed</a:t>
                      </a:r>
                    </a:p>
                  </a:txBody>
                  <a:tcPr marL="91440" marR="91440" marT="45720" marB="45720">
                    <a:solidFill>
                      <a:srgbClr val="FFFFFF"/>
                    </a:solidFill>
                  </a:tcPr>
                </a:tc>
                <a:tc>
                  <a:txBody>
                    <a:bodyPr/>
                    <a:lstStyle/>
                    <a:p>
                      <a:r>
                        <a:rPr sz="2175" b="0">
                          <a:solidFill>
                            <a:srgbClr val="172D3D"/>
                          </a:solidFill>
                          <a:latin typeface="Arial"/>
                          <a:ea typeface="Arial"/>
                          <a:cs typeface="Arial"/>
                        </a:rPr>
                        <a:t>Isolate movement information</a:t>
                      </a:r>
                    </a:p>
                  </a:txBody>
                  <a:tcPr marL="91440" marR="91440" marT="45720" marB="45720">
                    <a:solidFill>
                      <a:srgbClr val="FFFFFF"/>
                    </a:solidFill>
                  </a:tcPr>
                </a:tc>
              </a:tr>
              <a:tr h="654844">
                <a:tc>
                  <a:txBody>
                    <a:bodyPr/>
                    <a:lstStyle/>
                    <a:p>
                      <a:r>
                        <a:rPr sz="2175" b="0">
                          <a:solidFill>
                            <a:srgbClr val="172D3D"/>
                          </a:solidFill>
                          <a:latin typeface="Arial"/>
                          <a:ea typeface="Arial"/>
                          <a:cs typeface="Arial"/>
                        </a:rPr>
                        <a:t>Predictive</a:t>
                      </a:r>
                    </a:p>
                  </a:txBody>
                  <a:tcPr marL="91440" marR="91440" marT="45720" marB="45720">
                    <a:solidFill>
                      <a:srgbClr val="FFFFFF"/>
                    </a:solidFill>
                  </a:tcPr>
                </a:tc>
                <a:tc>
                  <a:txBody>
                    <a:bodyPr/>
                    <a:lstStyle/>
                    <a:p>
                      <a:r>
                        <a:rPr sz="2175" b="0">
                          <a:solidFill>
                            <a:srgbClr val="172D3D"/>
                          </a:solidFill>
                          <a:latin typeface="Arial"/>
                          <a:ea typeface="Arial"/>
                          <a:cs typeface="Arial"/>
                        </a:rPr>
                        <a:t>Reactive limit + task phase</a:t>
                      </a:r>
                    </a:p>
                    <a:p>
                      <a:r>
                        <a:rPr sz="2175" b="0">
                          <a:solidFill>
                            <a:srgbClr val="172D3D"/>
                          </a:solidFill>
                          <a:latin typeface="Arial"/>
                          <a:ea typeface="Arial"/>
                          <a:cs typeface="Arial"/>
                        </a:rPr>
                        <a:t>+ predicted boundary approach</a:t>
                      </a:r>
                    </a:p>
                  </a:txBody>
                  <a:tcPr marL="91440" marR="91440" marT="45720" marB="45720">
                    <a:solidFill>
                      <a:srgbClr val="FFFFFF"/>
                    </a:solidFill>
                  </a:tcPr>
                </a:tc>
                <a:tc>
                  <a:txBody>
                    <a:bodyPr/>
                    <a:lstStyle/>
                    <a:p>
                      <a:r>
                        <a:rPr sz="2175" b="0">
                          <a:solidFill>
                            <a:srgbClr val="172D3D"/>
                          </a:solidFill>
                          <a:latin typeface="Arial"/>
                          <a:ea typeface="Arial"/>
                          <a:cs typeface="Arial"/>
                        </a:rPr>
                        <a:t>Test added context</a:t>
                      </a:r>
                    </a:p>
                  </a:txBody>
                  <a:tcPr marL="91440" marR="91440" marT="45720" marB="45720">
                    <a:solidFill>
                      <a:srgbClr val="FFFFFF"/>
                    </a:solidFill>
                  </a:tcPr>
                </a:tc>
              </a:tr>
            </a:tbl>
          </a:graphicData>
        </a:graphic>
      </p:graphicFrame>
      <p:sp>
        <p:nvSpPr>
          <p:cNvPr id="4" name="Speed and separation monitoring: adjust robot motion&#10;accordi">
            <a:extLst xmlns:a="http://schemas.openxmlformats.org/drawingml/2006/main">
              <a:ext uri="{FF2B5EF4-FFF2-40B4-BE49-F238E27FC236}">
                <a16:creationId xmlns:a16="http://schemas.microsoft.com/office/drawing/2014/main" id="{0B30B465-2C6E-471F-9DA5-22B929EC676D}"/>
              </a:ext>
            </a:extLst>
          </p:cNvPr>
          <p:cNvSpPr>
            <a:spLocks xmlns:a="http://schemas.openxmlformats.org/drawingml/2006/main" noGrp="1"/>
          </p:cNvSpPr>
          <p:nvPr/>
        </p:nvSpPr>
        <p:spPr>
          <a:xfrm xmlns:a="http://schemas.openxmlformats.org/drawingml/2006/main">
            <a:off x="571500" y="42386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Speed and separation monitoring: adjust robot motion</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according to separation and movement.</a:t>
            </a:r>
          </a:p>
        </p:txBody>
      </p:sp>
      <p:sp>
        <p:nvSpPr>
          <p:cNvPr id="5" name="Learned context can add caution; it cannot raise the speed l">
            <a:extLst xmlns:a="http://schemas.openxmlformats.org/drawingml/2006/main">
              <a:ext uri="{FF2B5EF4-FFF2-40B4-BE49-F238E27FC236}">
                <a16:creationId xmlns:a16="http://schemas.microsoft.com/office/drawing/2014/main" id="{4B3FE9AF-B55A-4273-A6CC-6240DC6EC097}"/>
              </a:ext>
            </a:extLst>
          </p:cNvPr>
          <p:cNvSpPr>
            <a:spLocks xmlns:a="http://schemas.openxmlformats.org/drawingml/2006/main" noGrp="1"/>
          </p:cNvSpPr>
          <p:nvPr/>
        </p:nvSpPr>
        <p:spPr>
          <a:xfrm xmlns:a="http://schemas.openxmlformats.org/drawingml/2006/main">
            <a:off x="571500" y="5238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Learned context can add caution; it cannot raise the speed limit.</a:t>
            </a:r>
          </a:p>
        </p:txBody>
      </p:sp>
    </p:spTree>
    <p:extLst>
      <p:ext uri="{BB962C8B-B14F-4D97-AF65-F5344CB8AC3E}">
        <p14:creationId xmlns:p14="http://schemas.microsoft.com/office/powerpoint/2010/main" val="15123273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How the prototype was evaluated">
            <a:extLst xmlns:a="http://schemas.openxmlformats.org/drawingml/2006/main">
              <a:ext uri="{FF2B5EF4-FFF2-40B4-BE49-F238E27FC236}">
                <a16:creationId xmlns:a16="http://schemas.microsoft.com/office/drawing/2014/main" id="{3FEE3BA2-283C-4D1D-9E9B-6C57D4E4D8BD}"/>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How the prototype was evaluated</a:t>
            </a:r>
          </a:p>
        </p:txBody>
      </p:sp>
      <p:sp>
        <p:nvSpPr>
          <p:cNvPr id="2" name="05">
            <a:extLst xmlns:a="http://schemas.openxmlformats.org/drawingml/2006/main">
              <a:ext uri="{FF2B5EF4-FFF2-40B4-BE49-F238E27FC236}">
                <a16:creationId xmlns:a16="http://schemas.microsoft.com/office/drawing/2014/main" id="{AC71E37B-6829-4B12-8373-4FD8F2F8BCFE}"/>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07</a:t>
            </a:r>
          </a:p>
        </p:txBody>
      </p:sp>
      <p:sp>
        <p:nvSpPr>
          <p:cNvPr id="3" name="Three controller conditions, with rotated order">
            <a:extLst xmlns:a="http://schemas.openxmlformats.org/drawingml/2006/main">
              <a:ext uri="{FF2B5EF4-FFF2-40B4-BE49-F238E27FC236}">
                <a16:creationId xmlns:a16="http://schemas.microsoft.com/office/drawing/2014/main" id="{9162C6F2-3F1A-48AE-9C46-25DBF007C13B}"/>
              </a:ext>
            </a:extLst>
          </p:cNvPr>
          <p:cNvSpPr>
            <a:spLocks xmlns:a="http://schemas.openxmlformats.org/drawingml/2006/main" noGrp="1"/>
          </p:cNvSpPr>
          <p:nvPr/>
        </p:nvSpPr>
        <p:spPr>
          <a:xfrm xmlns:a="http://schemas.openxmlformats.org/drawingml/2006/main">
            <a:off x="571500" y="14001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DAE"/>
                </a:solidFill>
                <a:latin typeface="Arial"/>
                <a:ea typeface="Arial"/>
                <a:cs typeface="Arial"/>
              </a:defRPr>
            </a:pPr>
            <a:r>
              <a:rPr sz="2775" b="1">
                <a:solidFill>
                  <a:srgbClr val="006DAE"/>
                </a:solidFill>
                <a:latin typeface="Arial"/>
                <a:ea typeface="Arial"/>
                <a:cs typeface="Arial"/>
              </a:rPr>
              <a:t>Three controller conditions, with rotated order</a:t>
            </a:r>
          </a:p>
        </p:txBody>
      </p:sp>
      <p:sp>
        <p:nvSpPr>
          <p:cNvPr id="4" name="Routine task · Distractor · Cued rapid movement">
            <a:extLst xmlns:a="http://schemas.openxmlformats.org/drawingml/2006/main">
              <a:ext uri="{FF2B5EF4-FFF2-40B4-BE49-F238E27FC236}">
                <a16:creationId xmlns:a16="http://schemas.microsoft.com/office/drawing/2014/main" id="{FBE1C89D-80A0-4295-B314-2AF9339B5E69}"/>
              </a:ext>
            </a:extLst>
          </p:cNvPr>
          <p:cNvSpPr>
            <a:spLocks xmlns:a="http://schemas.openxmlformats.org/drawingml/2006/main" noGrp="1"/>
          </p:cNvSpPr>
          <p:nvPr/>
        </p:nvSpPr>
        <p:spPr>
          <a:xfrm xmlns:a="http://schemas.openxmlformats.org/drawingml/2006/main">
            <a:off x="571500" y="2181225"/>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Routine task · Distractor · Cued rapid movement</a:t>
            </a:r>
          </a:p>
        </p:txBody>
      </p:sp>
      <p:graphicFrame>
        <p:nvGraphicFramePr>
          <p:cNvPr id="11" name=""/>
          <p:cNvGraphicFramePr/>
          <p:nvPr/>
        </p:nvGraphicFramePr>
        <p:xfrm>
          <a:off xmlns:a="http://schemas.openxmlformats.org/drawingml/2006/main" x="523875" y="2667000"/>
          <a:ext xmlns:a="http://schemas.openxmlformats.org/drawingml/2006/main" cx="11144250" cy="2286000"/>
        </p:xfrm>
        <a:graphic xmlns:a="http://schemas.openxmlformats.org/drawingml/2006/main">
          <a:graphicData uri="http://schemas.openxmlformats.org/drawingml/2006/table">
            <a:tbl>
              <a:tblPr/>
              <a:tblGrid>
                <a:gridCol w="3857625"/>
                <a:gridCol w="7286625"/>
              </a:tblGrid>
              <a:tr h="571500">
                <a:tc>
                  <a:txBody>
                    <a:bodyPr/>
                    <a:lstStyle/>
                    <a:p>
                      <a:r>
                        <a:rPr sz="2025" b="1">
                          <a:solidFill>
                            <a:srgbClr val="172D3D"/>
                          </a:solidFill>
                          <a:latin typeface="Arial"/>
                          <a:ea typeface="Arial"/>
                          <a:cs typeface="Arial"/>
                        </a:rPr>
                        <a:t>Measurement</a:t>
                      </a:r>
                    </a:p>
                  </a:txBody>
                  <a:tcPr marL="91440" marR="91440" marT="45720" marB="45720">
                    <a:solidFill>
                      <a:srgbClr val="E5EDF2"/>
                    </a:solidFill>
                  </a:tcPr>
                </a:tc>
                <a:tc>
                  <a:txBody>
                    <a:bodyPr/>
                    <a:lstStyle/>
                    <a:p>
                      <a:r>
                        <a:rPr sz="2025" b="1">
                          <a:solidFill>
                            <a:srgbClr val="172D3D"/>
                          </a:solidFill>
                          <a:latin typeface="Arial"/>
                          <a:ea typeface="Arial"/>
                          <a:cs typeface="Arial"/>
                        </a:rPr>
                        <a:t>Purpose</a:t>
                      </a:r>
                    </a:p>
                  </a:txBody>
                  <a:tcPr marL="91440" marR="91440" marT="45720" marB="45720">
                    <a:solidFill>
                      <a:srgbClr val="E5EDF2"/>
                    </a:solidFill>
                  </a:tcPr>
                </a:tc>
              </a:tr>
              <a:tr h="571500">
                <a:tc>
                  <a:txBody>
                    <a:bodyPr/>
                    <a:lstStyle/>
                    <a:p>
                      <a:r>
                        <a:rPr sz="2025" b="0">
                          <a:solidFill>
                            <a:srgbClr val="172D3D"/>
                          </a:solidFill>
                          <a:latin typeface="Arial"/>
                          <a:ea typeface="Arial"/>
                          <a:cs typeface="Arial"/>
                        </a:rPr>
                        <a:t>Robot and tracking data</a:t>
                      </a:r>
                    </a:p>
                  </a:txBody>
                  <a:tcPr marL="91440" marR="91440" marT="45720" marB="45720">
                    <a:solidFill>
                      <a:srgbClr val="FFFFFF"/>
                    </a:solidFill>
                  </a:tcPr>
                </a:tc>
                <a:tc>
                  <a:txBody>
                    <a:bodyPr/>
                    <a:lstStyle/>
                    <a:p>
                      <a:r>
                        <a:rPr sz="2025" b="0">
                          <a:solidFill>
                            <a:srgbClr val="172D3D"/>
                          </a:solidFill>
                          <a:latin typeface="Arial"/>
                          <a:ea typeface="Arial"/>
                          <a:cs typeface="Arial"/>
                        </a:rPr>
                        <a:t>Inputs, speed requests and measured motion</a:t>
                      </a:r>
                    </a:p>
                  </a:txBody>
                  <a:tcPr marL="91440" marR="91440" marT="45720" marB="45720">
                    <a:solidFill>
                      <a:srgbClr val="FFFFFF"/>
                    </a:solidFill>
                  </a:tcPr>
                </a:tc>
              </a:tr>
              <a:tr h="571500">
                <a:tc>
                  <a:txBody>
                    <a:bodyPr/>
                    <a:lstStyle/>
                    <a:p>
                      <a:r>
                        <a:rPr sz="2025" b="0">
                          <a:solidFill>
                            <a:srgbClr val="172D3D"/>
                          </a:solidFill>
                          <a:latin typeface="Arial"/>
                          <a:ea typeface="Arial"/>
                          <a:cs typeface="Arial"/>
                        </a:rPr>
                        <a:t>After each block</a:t>
                      </a:r>
                    </a:p>
                  </a:txBody>
                  <a:tcPr marL="91440" marR="91440" marT="45720" marB="45720">
                    <a:solidFill>
                      <a:srgbClr val="FFFFFF"/>
                    </a:solidFill>
                  </a:tcPr>
                </a:tc>
                <a:tc>
                  <a:txBody>
                    <a:bodyPr/>
                    <a:lstStyle/>
                    <a:p>
                      <a:r>
                        <a:rPr sz="2025" b="0">
                          <a:solidFill>
                            <a:srgbClr val="172D3D"/>
                          </a:solidFill>
                          <a:latin typeface="Arial"/>
                          <a:ea typeface="Arial"/>
                          <a:cs typeface="Arial"/>
                        </a:rPr>
                        <a:t>Describe confidence, demand and interruption</a:t>
                      </a:r>
                    </a:p>
                  </a:txBody>
                  <a:tcPr marL="91440" marR="91440" marT="45720" marB="45720">
                    <a:solidFill>
                      <a:srgbClr val="FFFFFF"/>
                    </a:solidFill>
                  </a:tcPr>
                </a:tc>
              </a:tr>
              <a:tr h="571500">
                <a:tc>
                  <a:txBody>
                    <a:bodyPr/>
                    <a:lstStyle/>
                    <a:p>
                      <a:r>
                        <a:rPr sz="2025" b="0">
                          <a:solidFill>
                            <a:srgbClr val="172D3D"/>
                          </a:solidFill>
                          <a:latin typeface="Arial"/>
                          <a:ea typeface="Arial"/>
                          <a:cs typeface="Arial"/>
                        </a:rPr>
                        <a:t>Intake and end forms</a:t>
                      </a:r>
                    </a:p>
                  </a:txBody>
                  <a:tcPr marL="91440" marR="91440" marT="45720" marB="45720">
                    <a:solidFill>
                      <a:srgbClr val="FFFFFF"/>
                    </a:solidFill>
                  </a:tcPr>
                </a:tc>
                <a:tc>
                  <a:txBody>
                    <a:bodyPr/>
                    <a:lstStyle/>
                    <a:p>
                      <a:r>
                        <a:rPr sz="2025" b="0">
                          <a:solidFill>
                            <a:srgbClr val="172D3D"/>
                          </a:solidFill>
                          <a:latin typeface="Arial"/>
                          <a:ea typeface="Arial"/>
                          <a:cs typeface="Arial"/>
                        </a:rPr>
                        <a:t>Compare expected and experienced safety / trust</a:t>
                      </a:r>
                    </a:p>
                  </a:txBody>
                  <a:tcPr marL="91440" marR="91440" marT="45720" marB="45720">
                    <a:solidFill>
                      <a:srgbClr val="FFFFFF"/>
                    </a:solidFill>
                  </a:tcPr>
                </a:tc>
              </a:tr>
            </a:tbl>
          </a:graphicData>
        </a:graphic>
      </p:graphicFrame>
      <p:sp>
        <p:nvSpPr>
          <p:cNvPr id="6" name="Analysed: 14 telemetry trials and 31 block responses;&#10;11 mat">
            <a:extLst xmlns:a="http://schemas.openxmlformats.org/drawingml/2006/main">
              <a:ext uri="{FF2B5EF4-FFF2-40B4-BE49-F238E27FC236}">
                <a16:creationId xmlns:a16="http://schemas.microsoft.com/office/drawing/2014/main" id="{DBEE5147-2EB8-4D0F-B05B-3D9A1A0B3985}"/>
              </a:ext>
            </a:extLst>
          </p:cNvPr>
          <p:cNvSpPr>
            <a:spLocks xmlns:a="http://schemas.openxmlformats.org/drawingml/2006/main" noGrp="1"/>
          </p:cNvSpPr>
          <p:nvPr/>
        </p:nvSpPr>
        <p:spPr>
          <a:xfrm xmlns:a="http://schemas.openxmlformats.org/drawingml/2006/main">
            <a:off x="571500" y="52101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Analysed: 14 telemetry trials and 31 block responses;</a:t>
            </a:r>
          </a:p>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11 matched intake/end sets. Complete individual linkage is unavailable.</a:t>
            </a:r>
          </a:p>
        </p:txBody>
      </p:sp>
    </p:spTree>
    <p:extLst>
      <p:ext uri="{BB962C8B-B14F-4D97-AF65-F5344CB8AC3E}">
        <p14:creationId xmlns:p14="http://schemas.microsoft.com/office/powerpoint/2010/main" val="15123273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Task-phase recognition">
            <a:extLst xmlns:a="http://schemas.openxmlformats.org/drawingml/2006/main">
              <a:ext uri="{FF2B5EF4-FFF2-40B4-BE49-F238E27FC236}">
                <a16:creationId xmlns:a16="http://schemas.microsoft.com/office/drawing/2014/main" id="{96A2AFE6-22E8-453C-8953-0DBB4028953C}"/>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Task-phase recognition</a:t>
            </a:r>
          </a:p>
        </p:txBody>
      </p:sp>
      <p:sp>
        <p:nvSpPr>
          <p:cNvPr id="2" name="06">
            <a:extLst xmlns:a="http://schemas.openxmlformats.org/drawingml/2006/main">
              <a:ext uri="{FF2B5EF4-FFF2-40B4-BE49-F238E27FC236}">
                <a16:creationId xmlns:a16="http://schemas.microsoft.com/office/drawing/2014/main" id="{AC64141E-F65C-4F79-B767-F9AB54E188D9}"/>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08</a:t>
            </a:r>
          </a:p>
        </p:txBody>
      </p:sp>
      <p:sp>
        <p:nvSpPr>
          <p:cNvPr id="3" name="The model recognises approaching, working and retreating">
            <a:extLst xmlns:a="http://schemas.openxmlformats.org/drawingml/2006/main">
              <a:ext uri="{FF2B5EF4-FFF2-40B4-BE49-F238E27FC236}">
                <a16:creationId xmlns:a16="http://schemas.microsoft.com/office/drawing/2014/main" id="{688F278D-A7FA-4FF6-BC11-CA003FC63529}"/>
              </a:ext>
            </a:extLst>
          </p:cNvPr>
          <p:cNvSpPr>
            <a:spLocks xmlns:a="http://schemas.openxmlformats.org/drawingml/2006/main" noGrp="1"/>
          </p:cNvSpPr>
          <p:nvPr/>
        </p:nvSpPr>
        <p:spPr>
          <a:xfrm xmlns:a="http://schemas.openxmlformats.org/drawingml/2006/main">
            <a:off x="571500" y="12858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The model recognises approaching, working and retreating</a:t>
            </a:r>
          </a:p>
        </p:txBody>
      </p:sp>
      <p:graphicFrame>
        <p:nvGraphicFramePr>
          <p:cNvPr id="11" name="Chart"/>
          <p:cNvGraphicFramePr/>
          <p:nvPr/>
        </p:nvGraphicFramePr>
        <p:xfrm>
          <a:off xmlns:a="http://schemas.openxmlformats.org/drawingml/2006/main" x="619125" y="2038350"/>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f75f28609aee42cb"/>
          </a:graphicData>
        </a:graphic>
      </p:graphicFrame>
      <p:sp>
        <p:nvSpPr>
          <p:cNvPr id="5" name="32 development trials&#10;from 3 operators">
            <a:extLst xmlns:a="http://schemas.openxmlformats.org/drawingml/2006/main">
              <a:ext uri="{FF2B5EF4-FFF2-40B4-BE49-F238E27FC236}">
                <a16:creationId xmlns:a16="http://schemas.microsoft.com/office/drawing/2014/main" id="{1D5C0430-4D0E-4A82-A702-E802FCCA0569}"/>
              </a:ext>
            </a:extLst>
          </p:cNvPr>
          <p:cNvSpPr>
            <a:spLocks xmlns:a="http://schemas.openxmlformats.org/drawingml/2006/main" noGrp="1"/>
          </p:cNvSpPr>
          <p:nvPr/>
        </p:nvSpPr>
        <p:spPr>
          <a:xfrm xmlns:a="http://schemas.openxmlformats.org/drawingml/2006/main">
            <a:off x="7953375" y="2314575"/>
            <a:ext cx="352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32 development trials</a:t>
            </a:r>
          </a:p>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from 3 operators</a:t>
            </a:r>
          </a:p>
        </p:txBody>
      </p:sp>
      <p:sp>
        <p:nvSpPr>
          <p:cNvPr id="6" name="Each operator was held&#10;out in turn during&#10;validation.">
            <a:extLst xmlns:a="http://schemas.openxmlformats.org/drawingml/2006/main">
              <a:ext uri="{FF2B5EF4-FFF2-40B4-BE49-F238E27FC236}">
                <a16:creationId xmlns:a16="http://schemas.microsoft.com/office/drawing/2014/main" id="{1CD572CB-78F6-4641-B899-95899A8F497E}"/>
              </a:ext>
            </a:extLst>
          </p:cNvPr>
          <p:cNvSpPr>
            <a:spLocks xmlns:a="http://schemas.openxmlformats.org/drawingml/2006/main" noGrp="1"/>
          </p:cNvSpPr>
          <p:nvPr/>
        </p:nvSpPr>
        <p:spPr>
          <a:xfrm xmlns:a="http://schemas.openxmlformats.org/drawingml/2006/main">
            <a:off x="7953375" y="350520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Each operator was held</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out in turn during</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validation.</a:t>
            </a:r>
          </a:p>
        </p:txBody>
      </p:sp>
      <p:sp>
        <p:nvSpPr>
          <p:cNvPr id="7" name="Recognition used present and past observations.&#10;These are de">
            <a:extLst xmlns:a="http://schemas.openxmlformats.org/drawingml/2006/main">
              <a:ext uri="{FF2B5EF4-FFF2-40B4-BE49-F238E27FC236}">
                <a16:creationId xmlns:a16="http://schemas.microsoft.com/office/drawing/2014/main" id="{61552150-185B-4660-9ABC-0ECD18018E3B}"/>
              </a:ext>
            </a:extLst>
          </p:cNvPr>
          <p:cNvSpPr>
            <a:spLocks xmlns:a="http://schemas.openxmlformats.org/drawingml/2006/main" noGrp="1"/>
          </p:cNvSpPr>
          <p:nvPr/>
        </p:nvSpPr>
        <p:spPr>
          <a:xfrm xmlns:a="http://schemas.openxmlformats.org/drawingml/2006/main">
            <a:off x="571500" y="48778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79"/>
                </a:solidFill>
                <a:latin typeface="Arial"/>
                <a:ea typeface="Arial"/>
                <a:cs typeface="Arial"/>
              </a:defRPr>
            </a:pPr>
            <a:r>
              <a:rPr sz="1875" b="0">
                <a:solidFill>
                  <a:srgbClr val="536B79"/>
                </a:solidFill>
                <a:latin typeface="Arial"/>
                <a:ea typeface="Arial"/>
                <a:cs typeface="Arial"/>
              </a:rPr>
              <a:t>Recognition used present and past observations.</a:t>
            </a:r>
          </a:p>
          <a:p xmlns:a="http://schemas.openxmlformats.org/drawingml/2006/main">
            <a:pPr>
              <a:defRPr sz="1875" b="0">
                <a:solidFill>
                  <a:srgbClr val="536B79"/>
                </a:solidFill>
                <a:latin typeface="Arial"/>
                <a:ea typeface="Arial"/>
                <a:cs typeface="Arial"/>
              </a:defRPr>
            </a:pPr>
            <a:r>
              <a:rPr sz="1875" b="0">
                <a:solidFill>
                  <a:srgbClr val="536B79"/>
                </a:solidFill>
                <a:latin typeface="Arial"/>
                <a:ea typeface="Arial"/>
                <a:cs typeface="Arial"/>
              </a:rPr>
              <a:t>Predictive policy: 15 to 73 stop onsets per trial vs 6 to 9 for fixed/reactive, nearly all under 0.5 s. Chattering, not longer stops.</a:t>
            </a:r>
          </a:p>
        </p:txBody>
      </p:sp>
    </p:spTree>
    <p:extLst>
      <p:ext uri="{BB962C8B-B14F-4D97-AF65-F5344CB8AC3E}">
        <p14:creationId xmlns:p14="http://schemas.microsoft.com/office/powerpoint/2010/main" val="151232738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Reported safety generally exceeded expectations">
            <a:extLst xmlns:a="http://schemas.openxmlformats.org/drawingml/2006/main">
              <a:ext uri="{FF2B5EF4-FFF2-40B4-BE49-F238E27FC236}">
                <a16:creationId xmlns:a16="http://schemas.microsoft.com/office/drawing/2014/main" id="{5814CDDA-1AB1-4D61-8FAF-E713491B3C34}"/>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Reported safety generally exceeded expectations</a:t>
            </a:r>
          </a:p>
        </p:txBody>
      </p:sp>
      <p:sp>
        <p:nvSpPr>
          <p:cNvPr id="2" name="07">
            <a:extLst xmlns:a="http://schemas.openxmlformats.org/drawingml/2006/main">
              <a:ext uri="{FF2B5EF4-FFF2-40B4-BE49-F238E27FC236}">
                <a16:creationId xmlns:a16="http://schemas.microsoft.com/office/drawing/2014/main" id="{C4C99FBE-1199-451A-A032-F316AA2D1434}"/>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09</a:t>
            </a:r>
          </a:p>
        </p:txBody>
      </p:sp>
      <p:sp>
        <p:nvSpPr>
          <p:cNvPr id="3" name="Changes between intake and end ratings">
            <a:extLst xmlns:a="http://schemas.openxmlformats.org/drawingml/2006/main">
              <a:ext uri="{FF2B5EF4-FFF2-40B4-BE49-F238E27FC236}">
                <a16:creationId xmlns:a16="http://schemas.microsoft.com/office/drawing/2014/main" id="{2DFEBB9F-3B8E-435B-BEE5-DF4C4122DD86}"/>
              </a:ext>
            </a:extLst>
          </p:cNvPr>
          <p:cNvSpPr>
            <a:spLocks xmlns:a="http://schemas.openxmlformats.org/drawingml/2006/main" noGrp="1"/>
          </p:cNvSpPr>
          <p:nvPr/>
        </p:nvSpPr>
        <p:spPr>
          <a:xfrm xmlns:a="http://schemas.openxmlformats.org/drawingml/2006/main">
            <a:off x="571500" y="12954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Changes between intake and end ratings</a:t>
            </a:r>
          </a:p>
        </p:txBody>
      </p:sp>
      <p:graphicFrame>
        <p:nvGraphicFramePr>
          <p:cNvPr id="10" name="Chart"/>
          <p:cNvGraphicFramePr/>
          <p:nvPr/>
        </p:nvGraphicFramePr>
        <p:xfrm>
          <a:off xmlns:a="http://schemas.openxmlformats.org/drawingml/2006/main" x="619125" y="1952625"/>
          <a:ext xmlns:a="http://schemas.openxmlformats.org/drawingml/2006/main" cx="10715625" cy="2571750"/>
        </p:xfrm>
        <a:graphic xmlns:a="http://schemas.openxmlformats.org/drawingml/2006/main">
          <a:graphicData uri="http://schemas.openxmlformats.org/drawingml/2006/chart">
            <c:chart xmlns:r="http://schemas.openxmlformats.org/officeDocument/2006/relationships" xmlns:c="http://schemas.openxmlformats.org/drawingml/2006/chart" r:id="Rb2a10100880f4f5f"/>
          </a:graphicData>
        </a:graphic>
      </p:graphicFrame>
      <p:sp>
        <p:nvSpPr>
          <p:cNvPr id="5" name="8 of 11 safety ratings increased; trust responses were more ">
            <a:extLst xmlns:a="http://schemas.openxmlformats.org/drawingml/2006/main">
              <a:ext uri="{FF2B5EF4-FFF2-40B4-BE49-F238E27FC236}">
                <a16:creationId xmlns:a16="http://schemas.microsoft.com/office/drawing/2014/main" id="{4C68F436-7C3E-4DDA-A61F-723CD0311D75}"/>
              </a:ext>
            </a:extLst>
          </p:cNvPr>
          <p:cNvSpPr>
            <a:spLocks xmlns:a="http://schemas.openxmlformats.org/drawingml/2006/main" noGrp="1"/>
          </p:cNvSpPr>
          <p:nvPr/>
        </p:nvSpPr>
        <p:spPr>
          <a:xfrm xmlns:a="http://schemas.openxmlformats.org/drawingml/2006/main">
            <a:off x="571500" y="46958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DAE"/>
                </a:solidFill>
                <a:latin typeface="Arial"/>
                <a:ea typeface="Arial"/>
                <a:cs typeface="Arial"/>
              </a:defRPr>
            </a:pPr>
            <a:r>
              <a:rPr sz="2250" b="1">
                <a:solidFill>
                  <a:srgbClr val="006DAE"/>
                </a:solidFill>
                <a:latin typeface="Arial"/>
                <a:ea typeface="Arial"/>
                <a:cs typeface="Arial"/>
              </a:rPr>
              <a:t>8 of 11 safety ratings increased; trust responses were more mixed.</a:t>
            </a:r>
          </a:p>
        </p:txBody>
      </p:sp>
      <p:sp>
        <p:nvSpPr>
          <p:cNvPr id="6" name="Matched response sets, not a confirmed count of distinct peo">
            <a:extLst xmlns:a="http://schemas.openxmlformats.org/drawingml/2006/main">
              <a:ext uri="{FF2B5EF4-FFF2-40B4-BE49-F238E27FC236}">
                <a16:creationId xmlns:a16="http://schemas.microsoft.com/office/drawing/2014/main" id="{DD433E31-694F-46D7-9C78-BABB08EABEFF}"/>
              </a:ext>
            </a:extLst>
          </p:cNvPr>
          <p:cNvSpPr>
            <a:spLocks xmlns:a="http://schemas.openxmlformats.org/drawingml/2006/main" noGrp="1"/>
          </p:cNvSpPr>
          <p:nvPr/>
        </p:nvSpPr>
        <p:spPr>
          <a:xfrm xmlns:a="http://schemas.openxmlformats.org/drawingml/2006/main">
            <a:off x="571500" y="52863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Matched response sets, not a confirmed count of distinct people.</a:t>
            </a:r>
          </a:p>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Expected and experienced ratings do not identify a controller effect.</a:t>
            </a:r>
          </a:p>
        </p:txBody>
      </p:sp>
    </p:spTree>
    <p:extLst>
      <p:ext uri="{BB962C8B-B14F-4D97-AF65-F5344CB8AC3E}">
        <p14:creationId xmlns:p14="http://schemas.microsoft.com/office/powerpoint/2010/main" val="15123273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Distance measurement affects interpretation">
            <a:extLst xmlns:a="http://schemas.openxmlformats.org/drawingml/2006/main">
              <a:ext uri="{FF2B5EF4-FFF2-40B4-BE49-F238E27FC236}">
                <a16:creationId xmlns:a16="http://schemas.microsoft.com/office/drawing/2014/main" id="{FFC7571B-17B9-4E08-961F-B845C0F63CCE}"/>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Distance measurement affects interpretation</a:t>
            </a:r>
          </a:p>
        </p:txBody>
      </p:sp>
      <p:sp>
        <p:nvSpPr>
          <p:cNvPr id="2" name="08">
            <a:extLst xmlns:a="http://schemas.openxmlformats.org/drawingml/2006/main">
              <a:ext uri="{FF2B5EF4-FFF2-40B4-BE49-F238E27FC236}">
                <a16:creationId xmlns:a16="http://schemas.microsoft.com/office/drawing/2014/main" id="{1A79DD21-D1B3-4B4E-8680-03C52125128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10</a:t>
            </a:r>
          </a:p>
        </p:txBody>
      </p:sp>
      <p:sp>
        <p:nvSpPr>
          <p:cNvPr id="3" name="Recorded head distance versus a calculation using robot posi">
            <a:extLst xmlns:a="http://schemas.openxmlformats.org/drawingml/2006/main">
              <a:ext uri="{FF2B5EF4-FFF2-40B4-BE49-F238E27FC236}">
                <a16:creationId xmlns:a16="http://schemas.microsoft.com/office/drawing/2014/main" id="{02895C4F-FB3F-4F3B-847B-91E682181ADC}"/>
              </a:ext>
            </a:extLst>
          </p:cNvPr>
          <p:cNvSpPr>
            <a:spLocks xmlns:a="http://schemas.openxmlformats.org/drawingml/2006/main" noGrp="1"/>
          </p:cNvSpPr>
          <p:nvPr/>
        </p:nvSpPr>
        <p:spPr>
          <a:xfrm xmlns:a="http://schemas.openxmlformats.org/drawingml/2006/main">
            <a:off x="571500" y="12763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Recorded head distance versus a calculation using robot position</a:t>
            </a:r>
          </a:p>
        </p:txBody>
      </p:sp>
      <p:graphicFrame>
        <p:nvGraphicFramePr>
          <p:cNvPr id="10" name="Chart"/>
          <p:cNvGraphicFramePr/>
          <p:nvPr/>
        </p:nvGraphicFramePr>
        <p:xfrm>
          <a:off xmlns:a="http://schemas.openxmlformats.org/drawingml/2006/main" x="552450" y="1914525"/>
          <a:ext xmlns:a="http://schemas.openxmlformats.org/drawingml/2006/main" cx="10810875" cy="2667000"/>
        </p:xfrm>
        <a:graphic xmlns:a="http://schemas.openxmlformats.org/drawingml/2006/main">
          <a:graphicData uri="http://schemas.openxmlformats.org/drawingml/2006/chart">
            <c:chart xmlns:r="http://schemas.openxmlformats.org/officeDocument/2006/relationships" xmlns:c="http://schemas.openxmlformats.org/drawingml/2006/chart" r:id="R1c60fa73183041ae"/>
          </a:graphicData>
        </a:graphic>
      </p:graphicFrame>
      <p:sp>
        <p:nvSpPr>
          <p:cNvPr id="5" name="Trials 1–13: earlier reference, 0.41–0.53 m.&#10;Trial 14: live ">
            <a:extLst xmlns:a="http://schemas.openxmlformats.org/drawingml/2006/main">
              <a:ext uri="{FF2B5EF4-FFF2-40B4-BE49-F238E27FC236}">
                <a16:creationId xmlns:a16="http://schemas.microsoft.com/office/drawing/2014/main" id="{86A625D8-D4E7-4039-A4D5-017BA12DD5D8}"/>
              </a:ext>
            </a:extLst>
          </p:cNvPr>
          <p:cNvSpPr>
            <a:spLocks xmlns:a="http://schemas.openxmlformats.org/drawingml/2006/main" noGrp="1"/>
          </p:cNvSpPr>
          <p:nvPr/>
        </p:nvSpPr>
        <p:spPr>
          <a:xfrm xmlns:a="http://schemas.openxmlformats.org/drawingml/2006/main">
            <a:off x="571500" y="47148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Trials 1–13: earlier reference, 0.41–0.53 m.</a:t>
            </a:r>
          </a:p>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Trial 14: live robot reference, approximately zero.</a:t>
            </a:r>
          </a:p>
        </p:txBody>
      </p:sp>
      <p:sp>
        <p:nvSpPr>
          <p:cNvPr id="6" name="Per-trial 95th percentile. Arithmetic agreement is not valid">
            <a:extLst xmlns:a="http://schemas.openxmlformats.org/drawingml/2006/main">
              <a:ext uri="{FF2B5EF4-FFF2-40B4-BE49-F238E27FC236}">
                <a16:creationId xmlns:a16="http://schemas.microsoft.com/office/drawing/2014/main" id="{C4A625ED-5191-4790-A061-311E9E2E422C}"/>
              </a:ext>
            </a:extLst>
          </p:cNvPr>
          <p:cNvSpPr>
            <a:spLocks xmlns:a="http://schemas.openxmlformats.org/drawingml/2006/main" noGrp="1"/>
          </p:cNvSpPr>
          <p:nvPr/>
        </p:nvSpPr>
        <p:spPr>
          <a:xfrm xmlns:a="http://schemas.openxmlformats.org/drawingml/2006/main">
            <a:off x="571500" y="55626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Per-trial 95th percentile. Arithmetic agreement is not validated body/panel clearance.</a:t>
            </a:r>
          </a:p>
        </p:txBody>
      </p:sp>
    </p:spTree>
    <p:extLst>
      <p:ext uri="{BB962C8B-B14F-4D97-AF65-F5344CB8AC3E}">
        <p14:creationId xmlns:p14="http://schemas.microsoft.com/office/powerpoint/2010/main" val="151232738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Project management and experimental controls">
            <a:extLst xmlns:a="http://schemas.openxmlformats.org/drawingml/2006/main">
              <a:ext uri="{FF2B5EF4-FFF2-40B4-BE49-F238E27FC236}">
                <a16:creationId xmlns:a16="http://schemas.microsoft.com/office/drawing/2014/main" id="{8E341662-CD17-41A8-BA0F-3E5121EE6AAB}"/>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Project management and experimental controls</a:t>
            </a:r>
          </a:p>
        </p:txBody>
      </p:sp>
      <p:sp>
        <p:nvSpPr>
          <p:cNvPr id="2" name="09">
            <a:extLst xmlns:a="http://schemas.openxmlformats.org/drawingml/2006/main">
              <a:ext uri="{FF2B5EF4-FFF2-40B4-BE49-F238E27FC236}">
                <a16:creationId xmlns:a16="http://schemas.microsoft.com/office/drawing/2014/main" id="{101C5FF0-2579-44A6-9522-30EE97903AB6}"/>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13</a:t>
            </a:r>
          </a:p>
        </p:txBody>
      </p:sp>
      <p:graphicFrame>
        <p:nvGraphicFramePr>
          <p:cNvPr id="7" name=""/>
          <p:cNvGraphicFramePr/>
          <p:nvPr/>
        </p:nvGraphicFramePr>
        <p:xfrm>
          <a:off xmlns:a="http://schemas.openxmlformats.org/drawingml/2006/main" x="523875" y="1466850"/>
          <a:ext xmlns:a="http://schemas.openxmlformats.org/drawingml/2006/main" cx="11144250" cy="3343275"/>
        </p:xfrm>
        <a:graphic xmlns:a="http://schemas.openxmlformats.org/drawingml/2006/main">
          <a:graphicData uri="http://schemas.openxmlformats.org/drawingml/2006/table">
            <a:tbl>
              <a:tblPr/>
              <a:tblGrid>
                <a:gridCol w="3952875"/>
                <a:gridCol w="7191375"/>
              </a:tblGrid>
              <a:tr h="835819">
                <a:tc>
                  <a:txBody>
                    <a:bodyPr/>
                    <a:lstStyle/>
                    <a:p>
                      <a:r>
                        <a:rPr sz="2100" b="1">
                          <a:solidFill>
                            <a:srgbClr val="172D3D"/>
                          </a:solidFill>
                          <a:latin typeface="Arial"/>
                          <a:ea typeface="Arial"/>
                          <a:cs typeface="Arial"/>
                        </a:rPr>
                        <a:t>Challenge</a:t>
                      </a:r>
                    </a:p>
                  </a:txBody>
                  <a:tcPr marL="91440" marR="91440" marT="45720" marB="45720">
                    <a:solidFill>
                      <a:srgbClr val="E5EDF2"/>
                    </a:solidFill>
                  </a:tcPr>
                </a:tc>
                <a:tc>
                  <a:txBody>
                    <a:bodyPr/>
                    <a:lstStyle/>
                    <a:p>
                      <a:r>
                        <a:rPr sz="2100" b="1">
                          <a:solidFill>
                            <a:srgbClr val="172D3D"/>
                          </a:solidFill>
                          <a:latin typeface="Arial"/>
                          <a:ea typeface="Arial"/>
                          <a:cs typeface="Arial"/>
                        </a:rPr>
                        <a:t>Engineering response</a:t>
                      </a:r>
                    </a:p>
                  </a:txBody>
                  <a:tcPr marL="91440" marR="91440" marT="45720" marB="45720">
                    <a:solidFill>
                      <a:srgbClr val="E5EDF2"/>
                    </a:solidFill>
                  </a:tcPr>
                </a:tc>
              </a:tr>
              <a:tr h="835819">
                <a:tc>
                  <a:txBody>
                    <a:bodyPr/>
                    <a:lstStyle/>
                    <a:p>
                      <a:r>
                        <a:rPr sz="2100" b="0">
                          <a:solidFill>
                            <a:srgbClr val="172D3D"/>
                          </a:solidFill>
                          <a:latin typeface="Arial"/>
                          <a:ea typeface="Arial"/>
                          <a:cs typeface="Arial"/>
                        </a:rPr>
                        <a:t>Hardware and software integration</a:t>
                      </a:r>
                    </a:p>
                  </a:txBody>
                  <a:tcPr marL="91440" marR="91440" marT="45720" marB="45720">
                    <a:solidFill>
                      <a:srgbClr val="FFFFFF"/>
                    </a:solidFill>
                  </a:tcPr>
                </a:tc>
                <a:tc>
                  <a:txBody>
                    <a:bodyPr/>
                    <a:lstStyle/>
                    <a:p>
                      <a:r>
                        <a:rPr sz="2100" b="0">
                          <a:solidFill>
                            <a:srgbClr val="172D3D"/>
                          </a:solidFill>
                          <a:latin typeface="Arial"/>
                          <a:ea typeface="Arial"/>
                          <a:cs typeface="Arial"/>
                        </a:rPr>
                        <a:t>Separate sensing, controller and robot interfaces;</a:t>
                      </a:r>
                    </a:p>
                    <a:p>
                      <a:r>
                        <a:rPr sz="2100" b="0">
                          <a:solidFill>
                            <a:srgbClr val="172D3D"/>
                          </a:solidFill>
                          <a:latin typeface="Arial"/>
                          <a:ea typeface="Arial"/>
                          <a:cs typeface="Arial"/>
                        </a:rPr>
                        <a:t>retain commands alongside measured motion</a:t>
                      </a:r>
                    </a:p>
                  </a:txBody>
                  <a:tcPr marL="91440" marR="91440" marT="45720" marB="45720">
                    <a:solidFill>
                      <a:srgbClr val="FFFFFF"/>
                    </a:solidFill>
                  </a:tcPr>
                </a:tc>
              </a:tr>
              <a:tr h="835819">
                <a:tc>
                  <a:txBody>
                    <a:bodyPr/>
                    <a:lstStyle/>
                    <a:p>
                      <a:r>
                        <a:rPr sz="2100" b="0">
                          <a:solidFill>
                            <a:srgbClr val="172D3D"/>
                          </a:solidFill>
                          <a:latin typeface="Arial"/>
                          <a:ea typeface="Arial"/>
                          <a:cs typeface="Arial"/>
                        </a:rPr>
                        <a:t>Changing geometry and variable cues</a:t>
                      </a:r>
                    </a:p>
                  </a:txBody>
                  <a:tcPr marL="91440" marR="91440" marT="45720" marB="45720">
                    <a:solidFill>
                      <a:srgbClr val="FFFFFF"/>
                    </a:solidFill>
                  </a:tcPr>
                </a:tc>
                <a:tc>
                  <a:txBody>
                    <a:bodyPr/>
                    <a:lstStyle/>
                    <a:p>
                      <a:r>
                        <a:rPr sz="2100" b="0">
                          <a:solidFill>
                            <a:srgbClr val="172D3D"/>
                          </a:solidFill>
                          <a:latin typeface="Arial"/>
                          <a:ea typeface="Arial"/>
                          <a:cs typeface="Arial"/>
                        </a:rPr>
                        <a:t>Compare geometry versions separately;</a:t>
                      </a:r>
                    </a:p>
                    <a:p>
                      <a:r>
                        <a:rPr sz="2100" b="0">
                          <a:solidFill>
                            <a:srgbClr val="172D3D"/>
                          </a:solidFill>
                          <a:latin typeface="Arial"/>
                          <a:ea typeface="Arial"/>
                          <a:cs typeface="Arial"/>
                        </a:rPr>
                        <a:t>check recorded movement before interpreting events</a:t>
                      </a:r>
                    </a:p>
                  </a:txBody>
                  <a:tcPr marL="91440" marR="91440" marT="45720" marB="45720">
                    <a:solidFill>
                      <a:srgbClr val="FFFFFF"/>
                    </a:solidFill>
                  </a:tcPr>
                </a:tc>
              </a:tr>
              <a:tr h="835819">
                <a:tc>
                  <a:txBody>
                    <a:bodyPr/>
                    <a:lstStyle/>
                    <a:p>
                      <a:r>
                        <a:rPr sz="2100" b="0">
                          <a:solidFill>
                            <a:srgbClr val="172D3D"/>
                          </a:solidFill>
                          <a:latin typeface="Arial"/>
                          <a:ea typeface="Arial"/>
                          <a:cs typeface="Arial"/>
                        </a:rPr>
                        <a:t>Incomplete sessions and identifier restarts</a:t>
                      </a:r>
                    </a:p>
                  </a:txBody>
                  <a:tcPr marL="91440" marR="91440" marT="45720" marB="45720">
                    <a:solidFill>
                      <a:srgbClr val="FFFFFF"/>
                    </a:solidFill>
                  </a:tcPr>
                </a:tc>
                <a:tc>
                  <a:txBody>
                    <a:bodyPr/>
                    <a:lstStyle/>
                    <a:p>
                      <a:r>
                        <a:rPr sz="2100" b="0">
                          <a:solidFill>
                            <a:srgbClr val="172D3D"/>
                          </a:solidFill>
                          <a:latin typeface="Arial"/>
                          <a:ea typeface="Arial"/>
                          <a:cs typeface="Arial"/>
                        </a:rPr>
                        <a:t>Analyse complete trial recordings;</a:t>
                      </a:r>
                    </a:p>
                    <a:p>
                      <a:r>
                        <a:rPr sz="2100" b="0">
                          <a:solidFill>
                            <a:srgbClr val="172D3D"/>
                          </a:solidFill>
                          <a:latin typeface="Arial"/>
                          <a:ea typeface="Arial"/>
                          <a:cs typeface="Arial"/>
                        </a:rPr>
                        <a:t>retain uncertainty in individual-level comparisons</a:t>
                      </a:r>
                    </a:p>
                  </a:txBody>
                  <a:tcPr marL="91440" marR="91440" marT="45720" marB="45720">
                    <a:solidFill>
                      <a:srgbClr val="FFFFFF"/>
                    </a:solidFill>
                  </a:tcPr>
                </a:tc>
              </a:tr>
            </a:tbl>
          </a:graphicData>
        </a:graphic>
      </p:graphicFrame>
      <p:sp>
        <p:nvSpPr>
          <p:cNvPr id="4" name="Scope covered sensing, model development, robot control,&#10;exp">
            <a:extLst xmlns:a="http://schemas.openxmlformats.org/drawingml/2006/main">
              <a:ext uri="{FF2B5EF4-FFF2-40B4-BE49-F238E27FC236}">
                <a16:creationId xmlns:a16="http://schemas.microsoft.com/office/drawing/2014/main" id="{C562354B-A59E-483F-8444-352D76F064BF}"/>
              </a:ext>
            </a:extLst>
          </p:cNvPr>
          <p:cNvSpPr>
            <a:spLocks xmlns:a="http://schemas.openxmlformats.org/drawingml/2006/main" noGrp="1"/>
          </p:cNvSpPr>
          <p:nvPr/>
        </p:nvSpPr>
        <p:spPr>
          <a:xfrm xmlns:a="http://schemas.openxmlformats.org/drawingml/2006/main">
            <a:off x="571500" y="50577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Scope covered sensing, model development, robot control,</a:t>
            </a:r>
          </a:p>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experimental operation and analysis.</a:t>
            </a:r>
          </a:p>
        </p:txBody>
      </p:sp>
    </p:spTree>
    <p:extLst>
      <p:ext uri="{BB962C8B-B14F-4D97-AF65-F5344CB8AC3E}">
        <p14:creationId xmlns:p14="http://schemas.microsoft.com/office/powerpoint/2010/main" val="15123273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Constraints on construction deployment">
            <a:extLst xmlns:a="http://schemas.openxmlformats.org/drawingml/2006/main">
              <a:ext uri="{FF2B5EF4-FFF2-40B4-BE49-F238E27FC236}">
                <a16:creationId xmlns:a16="http://schemas.microsoft.com/office/drawing/2014/main" id="{1517D547-4B02-4418-8D8B-2870650A5E2B}"/>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Constraints on construction deployment</a:t>
            </a:r>
          </a:p>
        </p:txBody>
      </p:sp>
      <p:sp>
        <p:nvSpPr>
          <p:cNvPr id="2" name="10">
            <a:extLst xmlns:a="http://schemas.openxmlformats.org/drawingml/2006/main">
              <a:ext uri="{FF2B5EF4-FFF2-40B4-BE49-F238E27FC236}">
                <a16:creationId xmlns:a16="http://schemas.microsoft.com/office/drawing/2014/main" id="{6A033DDF-9B6D-478A-A11A-4AC3A298FAE1}"/>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14</a:t>
            </a:r>
          </a:p>
        </p:txBody>
      </p:sp>
      <p:graphicFrame>
        <p:nvGraphicFramePr>
          <p:cNvPr id="7" name=""/>
          <p:cNvGraphicFramePr/>
          <p:nvPr/>
        </p:nvGraphicFramePr>
        <p:xfrm>
          <a:off xmlns:a="http://schemas.openxmlformats.org/drawingml/2006/main" x="523875" y="1457325"/>
          <a:ext xmlns:a="http://schemas.openxmlformats.org/drawingml/2006/main" cx="11144250" cy="3981450"/>
        </p:xfrm>
        <a:graphic xmlns:a="http://schemas.openxmlformats.org/drawingml/2006/main">
          <a:graphicData uri="http://schemas.openxmlformats.org/drawingml/2006/table">
            <a:tbl>
              <a:tblPr/>
              <a:tblGrid>
                <a:gridCol w="3286125"/>
                <a:gridCol w="7858125"/>
              </a:tblGrid>
              <a:tr h="796290">
                <a:tc>
                  <a:txBody>
                    <a:bodyPr/>
                    <a:lstStyle/>
                    <a:p>
                      <a:r>
                        <a:rPr sz="2100" b="1">
                          <a:solidFill>
                            <a:srgbClr val="172D3D"/>
                          </a:solidFill>
                          <a:latin typeface="Arial"/>
                          <a:ea typeface="Arial"/>
                          <a:cs typeface="Arial"/>
                        </a:rPr>
                        <a:t>Context</a:t>
                      </a:r>
                    </a:p>
                  </a:txBody>
                  <a:tcPr marL="91440" marR="91440" marT="45720" marB="45720">
                    <a:solidFill>
                      <a:srgbClr val="E5EDF2"/>
                    </a:solidFill>
                  </a:tcPr>
                </a:tc>
                <a:tc>
                  <a:txBody>
                    <a:bodyPr/>
                    <a:lstStyle/>
                    <a:p>
                      <a:r>
                        <a:rPr sz="2100" b="1">
                          <a:solidFill>
                            <a:srgbClr val="172D3D"/>
                          </a:solidFill>
                          <a:latin typeface="Arial"/>
                          <a:ea typeface="Arial"/>
                          <a:cs typeface="Arial"/>
                        </a:rPr>
                        <a:t>What deployment would require</a:t>
                      </a:r>
                    </a:p>
                  </a:txBody>
                  <a:tcPr marL="91440" marR="91440" marT="45720" marB="45720">
                    <a:solidFill>
                      <a:srgbClr val="E5EDF2"/>
                    </a:solidFill>
                  </a:tcPr>
                </a:tc>
              </a:tr>
              <a:tr h="796290">
                <a:tc>
                  <a:txBody>
                    <a:bodyPr/>
                    <a:lstStyle/>
                    <a:p>
                      <a:r>
                        <a:rPr sz="2100" b="0">
                          <a:solidFill>
                            <a:srgbClr val="172D3D"/>
                          </a:solidFill>
                          <a:latin typeface="Arial"/>
                          <a:ea typeface="Arial"/>
                          <a:cs typeface="Arial"/>
                        </a:rPr>
                        <a:t>Worker safety</a:t>
                      </a:r>
                    </a:p>
                  </a:txBody>
                  <a:tcPr marL="91440" marR="91440" marT="45720" marB="45720">
                    <a:solidFill>
                      <a:srgbClr val="FFFFFF"/>
                    </a:solidFill>
                  </a:tcPr>
                </a:tc>
                <a:tc>
                  <a:txBody>
                    <a:bodyPr/>
                    <a:lstStyle/>
                    <a:p>
                      <a:r>
                        <a:rPr sz="2100" b="0">
                          <a:solidFill>
                            <a:srgbClr val="172D3D"/>
                          </a:solidFill>
                          <a:latin typeface="Arial"/>
                          <a:ea typeface="Arial"/>
                          <a:cs typeface="Arial"/>
                        </a:rPr>
                        <a:t>Validated body, tool and panel clearance;</a:t>
                      </a:r>
                    </a:p>
                    <a:p>
                      <a:r>
                        <a:rPr sz="2100" b="0">
                          <a:solidFill>
                            <a:srgbClr val="172D3D"/>
                          </a:solidFill>
                          <a:latin typeface="Arial"/>
                          <a:ea typeface="Arial"/>
                          <a:cs typeface="Arial"/>
                        </a:rPr>
                        <a:t>measured stopping response and a safety-rated chain</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Whole-life cost</a:t>
                      </a:r>
                    </a:p>
                  </a:txBody>
                  <a:tcPr marL="91440" marR="91440" marT="45720" marB="45720">
                    <a:solidFill>
                      <a:srgbClr val="FFFFFF"/>
                    </a:solidFill>
                  </a:tcPr>
                </a:tc>
                <a:tc>
                  <a:txBody>
                    <a:bodyPr/>
                    <a:lstStyle/>
                    <a:p>
                      <a:r>
                        <a:rPr sz="2100" b="0">
                          <a:solidFill>
                            <a:srgbClr val="172D3D"/>
                          </a:solidFill>
                          <a:latin typeface="Arial"/>
                          <a:ea typeface="Arial"/>
                          <a:cs typeface="Arial"/>
                        </a:rPr>
                        <a:t>Account for tracking equipment, calibration,</a:t>
                      </a:r>
                    </a:p>
                    <a:p>
                      <a:r>
                        <a:rPr sz="2100" b="0">
                          <a:solidFill>
                            <a:srgbClr val="172D3D"/>
                          </a:solidFill>
                          <a:latin typeface="Arial"/>
                          <a:ea typeface="Arial"/>
                          <a:cs typeface="Arial"/>
                        </a:rPr>
                        <a:t>maintenance and operator training</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Worker experience</a:t>
                      </a:r>
                    </a:p>
                  </a:txBody>
                  <a:tcPr marL="91440" marR="91440" marT="45720" marB="45720">
                    <a:solidFill>
                      <a:srgbClr val="FFFFFF"/>
                    </a:solidFill>
                  </a:tcPr>
                </a:tc>
                <a:tc>
                  <a:txBody>
                    <a:bodyPr/>
                    <a:lstStyle/>
                    <a:p>
                      <a:r>
                        <a:rPr sz="2100" b="0">
                          <a:solidFill>
                            <a:srgbClr val="172D3D"/>
                          </a:solidFill>
                          <a:latin typeface="Arial"/>
                          <a:ea typeface="Arial"/>
                          <a:cs typeface="Arial"/>
                        </a:rPr>
                        <a:t>Assess suit restriction, workflow disruption</a:t>
                      </a:r>
                    </a:p>
                    <a:p>
                      <a:r>
                        <a:rPr sz="2100" b="0">
                          <a:solidFill>
                            <a:srgbClr val="172D3D"/>
                          </a:solidFill>
                          <a:latin typeface="Arial"/>
                          <a:ea typeface="Arial"/>
                          <a:cs typeface="Arial"/>
                        </a:rPr>
                        <a:t>and suitability beyond the laboratory</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Environmental impact</a:t>
                      </a:r>
                    </a:p>
                  </a:txBody>
                  <a:tcPr marL="91440" marR="91440" marT="45720" marB="45720">
                    <a:solidFill>
                      <a:srgbClr val="FFFFFF"/>
                    </a:solidFill>
                  </a:tcPr>
                </a:tc>
                <a:tc>
                  <a:txBody>
                    <a:bodyPr/>
                    <a:lstStyle/>
                    <a:p>
                      <a:r>
                        <a:rPr sz="2100" b="0">
                          <a:solidFill>
                            <a:srgbClr val="172D3D"/>
                          </a:solidFill>
                          <a:latin typeface="Arial"/>
                          <a:ea typeface="Arial"/>
                          <a:cs typeface="Arial"/>
                        </a:rPr>
                        <a:t>Measure energy and material effects before</a:t>
                      </a:r>
                    </a:p>
                    <a:p>
                      <a:r>
                        <a:rPr sz="2100" b="0">
                          <a:solidFill>
                            <a:srgbClr val="172D3D"/>
                          </a:solidFill>
                          <a:latin typeface="Arial"/>
                          <a:ea typeface="Arial"/>
                          <a:cs typeface="Arial"/>
                        </a:rPr>
                        <a:t>claiming a carbon or waste benefit</a:t>
                      </a:r>
                    </a:p>
                  </a:txBody>
                  <a:tcPr marL="91440" marR="91440" marT="45720" marB="45720">
                    <a:solidFill>
                      <a:srgbClr val="FFFFFF"/>
                    </a:solidFill>
                  </a:tcPr>
                </a:tc>
              </a:tr>
            </a:tbl>
          </a:graphicData>
        </a:graphic>
      </p:graphicFrame>
      <p:sp>
        <p:nvSpPr>
          <p:cNvPr id="4" name="Laboratory feasibility is one step toward a usable construct">
            <a:extLst xmlns:a="http://schemas.openxmlformats.org/drawingml/2006/main">
              <a:ext uri="{FF2B5EF4-FFF2-40B4-BE49-F238E27FC236}">
                <a16:creationId xmlns:a16="http://schemas.microsoft.com/office/drawing/2014/main" id="{8A04D7A7-7BDE-44D0-B228-D4EA067FEDAB}"/>
              </a:ext>
            </a:extLst>
          </p:cNvPr>
          <p:cNvSpPr>
            <a:spLocks xmlns:a="http://schemas.openxmlformats.org/drawingml/2006/main" noGrp="1"/>
          </p:cNvSpPr>
          <p:nvPr/>
        </p:nvSpPr>
        <p:spPr>
          <a:xfrm xmlns:a="http://schemas.openxmlformats.org/drawingml/2006/main">
            <a:off x="571500" y="55816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AE"/>
                </a:solidFill>
                <a:latin typeface="Arial"/>
                <a:ea typeface="Arial"/>
                <a:cs typeface="Arial"/>
              </a:defRPr>
            </a:pPr>
            <a:r>
              <a:rPr sz="2025" b="1">
                <a:solidFill>
                  <a:srgbClr val="006DAE"/>
                </a:solidFill>
                <a:latin typeface="Arial"/>
                <a:ea typeface="Arial"/>
                <a:cs typeface="Arial"/>
              </a:rPr>
              <a:t>Laboratory feasibility is one step toward a usable construction system.</a:t>
            </a:r>
          </a:p>
        </p:txBody>
      </p:sp>
    </p:spTree>
    <p:extLst>
      <p:ext uri="{BB962C8B-B14F-4D97-AF65-F5344CB8AC3E}">
        <p14:creationId xmlns:p14="http://schemas.microsoft.com/office/powerpoint/2010/main" val="151232738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Team contribution">
            <a:extLst xmlns:a="http://schemas.openxmlformats.org/drawingml/2006/main">
              <a:ext uri="{FF2B5EF4-FFF2-40B4-BE49-F238E27FC236}">
                <a16:creationId xmlns:a16="http://schemas.microsoft.com/office/drawing/2014/main" id="{F3233F7B-160E-412B-88B9-CF7A24D0C582}"/>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Team contribution</a:t>
            </a:r>
          </a:p>
        </p:txBody>
      </p:sp>
      <p:sp>
        <p:nvSpPr>
          <p:cNvPr id="2" name="11">
            <a:extLst xmlns:a="http://schemas.openxmlformats.org/drawingml/2006/main">
              <a:ext uri="{FF2B5EF4-FFF2-40B4-BE49-F238E27FC236}">
                <a16:creationId xmlns:a16="http://schemas.microsoft.com/office/drawing/2014/main" id="{39260FF5-33CE-4C00-9DE7-6C339604E7C7}"/>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15</a:t>
            </a:r>
          </a:p>
        </p:txBody>
      </p:sp>
      <p:graphicFrame>
        <p:nvGraphicFramePr>
          <p:cNvPr id="8" name=""/>
          <p:cNvGraphicFramePr/>
          <p:nvPr/>
        </p:nvGraphicFramePr>
        <p:xfrm>
          <a:off xmlns:a="http://schemas.openxmlformats.org/drawingml/2006/main" x="523875" y="1485900"/>
          <a:ext xmlns:a="http://schemas.openxmlformats.org/drawingml/2006/main" cx="11144250" cy="3143250"/>
        </p:xfrm>
        <a:graphic xmlns:a="http://schemas.openxmlformats.org/drawingml/2006/main">
          <a:graphicData uri="http://schemas.openxmlformats.org/drawingml/2006/table">
            <a:tbl>
              <a:tblPr/>
              <a:tblGrid>
                <a:gridCol w="3238500"/>
                <a:gridCol w="7905750"/>
              </a:tblGrid>
              <a:tr h="785813">
                <a:tc>
                  <a:txBody>
                    <a:bodyPr/>
                    <a:lstStyle/>
                    <a:p>
                      <a:r>
                        <a:rPr sz="2100" b="1">
                          <a:solidFill>
                            <a:srgbClr val="172D3D"/>
                          </a:solidFill>
                          <a:latin typeface="Arial"/>
                          <a:ea typeface="Arial"/>
                          <a:cs typeface="Arial"/>
                        </a:rPr>
                        <a:t>Team member</a:t>
                      </a:r>
                    </a:p>
                  </a:txBody>
                  <a:tcPr marL="91440" marR="91440" marT="45720" marB="45720">
                    <a:solidFill>
                      <a:srgbClr val="E5EDF2"/>
                    </a:solidFill>
                  </a:tcPr>
                </a:tc>
                <a:tc>
                  <a:txBody>
                    <a:bodyPr/>
                    <a:lstStyle/>
                    <a:p>
                      <a:r>
                        <a:rPr sz="2100" b="1">
                          <a:solidFill>
                            <a:srgbClr val="172D3D"/>
                          </a:solidFill>
                          <a:latin typeface="Arial"/>
                          <a:ea typeface="Arial"/>
                          <a:cs typeface="Arial"/>
                        </a:rPr>
                        <a:t>Main contribution</a:t>
                      </a:r>
                    </a:p>
                  </a:txBody>
                  <a:tcPr marL="91440" marR="91440" marT="45720" marB="45720">
                    <a:solidFill>
                      <a:srgbClr val="E5EDF2"/>
                    </a:solidFill>
                  </a:tcPr>
                </a:tc>
              </a:tr>
              <a:tr h="785813">
                <a:tc>
                  <a:txBody>
                    <a:bodyPr/>
                    <a:lstStyle/>
                    <a:p>
                      <a:r>
                        <a:rPr sz="2100" b="0">
                          <a:solidFill>
                            <a:srgbClr val="172D3D"/>
                          </a:solidFill>
                          <a:latin typeface="Arial"/>
                          <a:ea typeface="Arial"/>
                          <a:cs typeface="Arial"/>
                        </a:rPr>
                        <a:t>Zenan Wu</a:t>
                      </a:r>
                    </a:p>
                  </a:txBody>
                  <a:tcPr marL="91440" marR="91440" marT="45720" marB="45720">
                    <a:solidFill>
                      <a:srgbClr val="FFFFFF"/>
                    </a:solidFill>
                  </a:tcPr>
                </a:tc>
                <a:tc>
                  <a:txBody>
                    <a:bodyPr/>
                    <a:lstStyle/>
                    <a:p>
                      <a:r>
                        <a:rPr sz="2100" b="0">
                          <a:solidFill>
                            <a:srgbClr val="172D3D"/>
                          </a:solidFill>
                          <a:latin typeface="Arial"/>
                          <a:ea typeface="Arial"/>
                          <a:cs typeface="Arial"/>
                        </a:rPr>
                        <a:t>Software development and technical integration</a:t>
                      </a:r>
                    </a:p>
                  </a:txBody>
                  <a:tcPr marL="91440" marR="91440" marT="45720" marB="45720">
                    <a:solidFill>
                      <a:srgbClr val="FFFFFF"/>
                    </a:solidFill>
                  </a:tcPr>
                </a:tc>
              </a:tr>
              <a:tr h="785813">
                <a:tc>
                  <a:txBody>
                    <a:bodyPr/>
                    <a:lstStyle/>
                    <a:p>
                      <a:r>
                        <a:rPr sz="2100" b="0">
                          <a:solidFill>
                            <a:srgbClr val="172D3D"/>
                          </a:solidFill>
                          <a:latin typeface="Arial"/>
                          <a:ea typeface="Arial"/>
                          <a:cs typeface="Arial"/>
                        </a:rPr>
                        <a:t>Luke Siniakov</a:t>
                      </a:r>
                    </a:p>
                  </a:txBody>
                  <a:tcPr marL="91440" marR="91440" marT="45720" marB="45720">
                    <a:solidFill>
                      <a:srgbClr val="FFFFFF"/>
                    </a:solidFill>
                  </a:tcPr>
                </a:tc>
                <a:tc>
                  <a:txBody>
                    <a:bodyPr/>
                    <a:lstStyle/>
                    <a:p>
                      <a:r>
                        <a:rPr sz="2100" b="0">
                          <a:solidFill>
                            <a:srgbClr val="172D3D"/>
                          </a:solidFill>
                          <a:latin typeface="Arial"/>
                          <a:ea typeface="Arial"/>
                          <a:cs typeface="Arial"/>
                        </a:rPr>
                        <a:t>Communication and coordination with</a:t>
                      </a:r>
                    </a:p>
                    <a:p>
                      <a:r>
                        <a:rPr sz="2100" b="0">
                          <a:solidFill>
                            <a:srgbClr val="172D3D"/>
                          </a:solidFill>
                          <a:latin typeface="Arial"/>
                          <a:ea typeface="Arial"/>
                          <a:cs typeface="Arial"/>
                        </a:rPr>
                        <a:t>laboratory staff and supervisors</a:t>
                      </a:r>
                    </a:p>
                  </a:txBody>
                  <a:tcPr marL="91440" marR="91440" marT="45720" marB="45720">
                    <a:solidFill>
                      <a:srgbClr val="FFFFFF"/>
                    </a:solidFill>
                  </a:tcPr>
                </a:tc>
              </a:tr>
              <a:tr h="785813">
                <a:tc>
                  <a:txBody>
                    <a:bodyPr/>
                    <a:lstStyle/>
                    <a:p>
                      <a:r>
                        <a:rPr sz="2100" b="0">
                          <a:solidFill>
                            <a:srgbClr val="172D3D"/>
                          </a:solidFill>
                          <a:latin typeface="Arial"/>
                          <a:ea typeface="Arial"/>
                          <a:cs typeface="Arial"/>
                        </a:rPr>
                        <a:t>Michael Magila</a:t>
                      </a:r>
                    </a:p>
                  </a:txBody>
                  <a:tcPr marL="91440" marR="91440" marT="45720" marB="45720">
                    <a:solidFill>
                      <a:srgbClr val="FFFFFF"/>
                    </a:solidFill>
                  </a:tcPr>
                </a:tc>
                <a:tc>
                  <a:txBody>
                    <a:bodyPr/>
                    <a:lstStyle/>
                    <a:p>
                      <a:r>
                        <a:rPr sz="2100" b="0">
                          <a:solidFill>
                            <a:srgbClr val="172D3D"/>
                          </a:solidFill>
                          <a:latin typeface="Arial"/>
                          <a:ea typeface="Arial"/>
                          <a:cs typeface="Arial"/>
                        </a:rPr>
                        <a:t>Physical setup and assembly support</a:t>
                      </a:r>
                    </a:p>
                  </a:txBody>
                  <a:tcPr marL="91440" marR="91440" marT="45720" marB="45720">
                    <a:solidFill>
                      <a:srgbClr val="FFFFFF"/>
                    </a:solidFill>
                  </a:tcPr>
                </a:tc>
              </a:tr>
            </a:tbl>
          </a:graphicData>
        </a:graphic>
      </p:graphicFrame>
      <p:sp>
        <p:nvSpPr>
          <p:cNvPr id="4" name="All team members contributed to experiment design&#10;and prepar">
            <a:extLst xmlns:a="http://schemas.openxmlformats.org/drawingml/2006/main">
              <a:ext uri="{FF2B5EF4-FFF2-40B4-BE49-F238E27FC236}">
                <a16:creationId xmlns:a16="http://schemas.microsoft.com/office/drawing/2014/main" id="{4BD76C28-99D3-4B2F-99F8-BB1EDFF266FD}"/>
              </a:ext>
            </a:extLst>
          </p:cNvPr>
          <p:cNvSpPr>
            <a:spLocks xmlns:a="http://schemas.openxmlformats.org/drawingml/2006/main" noGrp="1"/>
          </p:cNvSpPr>
          <p:nvPr/>
        </p:nvSpPr>
        <p:spPr>
          <a:xfrm xmlns:a="http://schemas.openxmlformats.org/drawingml/2006/main">
            <a:off x="571500" y="48196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All team members contributed to experiment design</a:t>
            </a:r>
          </a:p>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and preparation of the final report.</a:t>
            </a:r>
          </a:p>
        </p:txBody>
      </p:sp>
      <p:sp>
        <p:nvSpPr>
          <p:cNvPr id="5" name="AI tools supported coding, analysis and manuscript preparati">
            <a:extLst xmlns:a="http://schemas.openxmlformats.org/drawingml/2006/main">
              <a:ext uri="{FF2B5EF4-FFF2-40B4-BE49-F238E27FC236}">
                <a16:creationId xmlns:a16="http://schemas.microsoft.com/office/drawing/2014/main" id="{78C17377-9A26-453F-B585-1DA9329BD9F8}"/>
              </a:ext>
            </a:extLst>
          </p:cNvPr>
          <p:cNvSpPr>
            <a:spLocks xmlns:a="http://schemas.openxmlformats.org/drawingml/2006/main" noGrp="1"/>
          </p:cNvSpPr>
          <p:nvPr/>
        </p:nvSpPr>
        <p:spPr>
          <a:xfrm xmlns:a="http://schemas.openxmlformats.org/drawingml/2006/main">
            <a:off x="571500" y="5638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9"/>
                </a:solidFill>
                <a:latin typeface="Arial"/>
                <a:ea typeface="Arial"/>
                <a:cs typeface="Arial"/>
              </a:defRPr>
            </a:pPr>
            <a:r>
              <a:rPr sz="1650" b="0">
                <a:solidFill>
                  <a:srgbClr val="536B79"/>
                </a:solidFill>
                <a:latin typeface="Arial"/>
                <a:ea typeface="Arial"/>
                <a:cs typeface="Arial"/>
              </a:rPr>
              <a:t>AI tools supported coding, analysis and manuscript preparation.</a:t>
            </a:r>
          </a:p>
        </p:txBody>
      </p:sp>
    </p:spTree>
    <p:extLst>
      <p:ext uri="{BB962C8B-B14F-4D97-AF65-F5344CB8AC3E}">
        <p14:creationId xmlns:p14="http://schemas.microsoft.com/office/powerpoint/2010/main" val="15123273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Contribution and conclusion">
            <a:extLst xmlns:a="http://schemas.openxmlformats.org/drawingml/2006/main">
              <a:ext uri="{FF2B5EF4-FFF2-40B4-BE49-F238E27FC236}">
                <a16:creationId xmlns:a16="http://schemas.microsoft.com/office/drawing/2014/main" id="{208A47A5-14FC-4C92-9D99-011E795F40D6}"/>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Contribution and conclusion</a:t>
            </a:r>
          </a:p>
        </p:txBody>
      </p:sp>
      <p:sp>
        <p:nvSpPr>
          <p:cNvPr id="2" name="12">
            <a:extLst xmlns:a="http://schemas.openxmlformats.org/drawingml/2006/main">
              <a:ext uri="{FF2B5EF4-FFF2-40B4-BE49-F238E27FC236}">
                <a16:creationId xmlns:a16="http://schemas.microsoft.com/office/drawing/2014/main" id="{3D7308C6-76FC-4435-88DE-09311469FB5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16</a:t>
            </a:r>
          </a:p>
        </p:txBody>
      </p:sp>
      <p:sp>
        <p:nvSpPr>
          <p:cNvPr id="3" name="A physical test of context-aware coordination&#10;for ceiling-pa">
            <a:extLst xmlns:a="http://schemas.openxmlformats.org/drawingml/2006/main">
              <a:ext uri="{FF2B5EF4-FFF2-40B4-BE49-F238E27FC236}">
                <a16:creationId xmlns:a16="http://schemas.microsoft.com/office/drawing/2014/main" id="{D9668A6C-F389-4DBE-BA75-7300C31EBE17}"/>
              </a:ext>
            </a:extLst>
          </p:cNvPr>
          <p:cNvSpPr>
            <a:spLocks xmlns:a="http://schemas.openxmlformats.org/drawingml/2006/main" noGrp="1"/>
          </p:cNvSpPr>
          <p:nvPr/>
        </p:nvSpPr>
        <p:spPr>
          <a:xfrm xmlns:a="http://schemas.openxmlformats.org/drawingml/2006/main">
            <a:off x="571500" y="1428750"/>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6DAE"/>
                </a:solidFill>
                <a:latin typeface="Arial"/>
                <a:ea typeface="Arial"/>
                <a:cs typeface="Arial"/>
              </a:defRPr>
            </a:pPr>
            <a:r>
              <a:rPr sz="3225" b="1">
                <a:solidFill>
                  <a:srgbClr val="006DAE"/>
                </a:solidFill>
                <a:latin typeface="Arial"/>
                <a:ea typeface="Arial"/>
                <a:cs typeface="Arial"/>
              </a:rPr>
              <a:t>A physical test of context-aware coordination</a:t>
            </a:r>
          </a:p>
          <a:p xmlns:a="http://schemas.openxmlformats.org/drawingml/2006/main">
            <a:pPr>
              <a:defRPr sz="3225" b="1">
                <a:solidFill>
                  <a:srgbClr val="006DAE"/>
                </a:solidFill>
                <a:latin typeface="Arial"/>
                <a:ea typeface="Arial"/>
                <a:cs typeface="Arial"/>
              </a:defRPr>
            </a:pPr>
            <a:r>
              <a:rPr sz="3225" b="1">
                <a:solidFill>
                  <a:srgbClr val="006DAE"/>
                </a:solidFill>
                <a:latin typeface="Arial"/>
                <a:ea typeface="Arial"/>
                <a:cs typeface="Arial"/>
              </a:rPr>
              <a:t>for ceiling-panel installation</a:t>
            </a:r>
          </a:p>
        </p:txBody>
      </p:sp>
      <p:sp>
        <p:nvSpPr>
          <p:cNvPr id="4" name="Task recognition worked imperfectly. Reported experience&#10;was">
            <a:extLst xmlns:a="http://schemas.openxmlformats.org/drawingml/2006/main">
              <a:ext uri="{FF2B5EF4-FFF2-40B4-BE49-F238E27FC236}">
                <a16:creationId xmlns:a16="http://schemas.microsoft.com/office/drawing/2014/main" id="{890C4838-63D7-4F32-87D1-AF600A136AF5}"/>
              </a:ext>
            </a:extLst>
          </p:cNvPr>
          <p:cNvSpPr>
            <a:spLocks xmlns:a="http://schemas.openxmlformats.org/drawingml/2006/main" noGrp="1"/>
          </p:cNvSpPr>
          <p:nvPr/>
        </p:nvSpPr>
        <p:spPr>
          <a:xfrm xmlns:a="http://schemas.openxmlformats.org/drawingml/2006/main">
            <a:off x="571500" y="30384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Answer to the research question: as safe on every recorded indicator, not yet more efficient.</a:t>
            </a:r>
          </a:p>
        </p:txBody>
      </p:sp>
      <p:sp>
        <p:nvSpPr>
          <p:cNvPr id="5" name="The study does not yet establish a safety or efficiency&#10;adva">
            <a:extLst xmlns:a="http://schemas.openxmlformats.org/drawingml/2006/main">
              <a:ext uri="{FF2B5EF4-FFF2-40B4-BE49-F238E27FC236}">
                <a16:creationId xmlns:a16="http://schemas.microsoft.com/office/drawing/2014/main" id="{A9F04D63-214F-4A40-90AB-3DC65295B7C0}"/>
              </a:ext>
            </a:extLst>
          </p:cNvPr>
          <p:cNvSpPr>
            <a:spLocks xmlns:a="http://schemas.openxmlformats.org/drawingml/2006/main" noGrp="1"/>
          </p:cNvSpPr>
          <p:nvPr/>
        </p:nvSpPr>
        <p:spPr>
          <a:xfrm xmlns:a="http://schemas.openxmlformats.org/drawingml/2006/main">
            <a:off x="571500" y="426720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Task awareness can be layered on a standard safety limit without weakening it; the next gain comes from smoothing the predictor.</a:t>
            </a:r>
          </a:p>
        </p:txBody>
      </p:sp>
      <p:sp>
        <p:nvSpPr>
          <p:cNvPr id="6" name="Next evidence: validated clearance and stopping measurements">
            <a:extLst xmlns:a="http://schemas.openxmlformats.org/drawingml/2006/main">
              <a:ext uri="{FF2B5EF4-FFF2-40B4-BE49-F238E27FC236}">
                <a16:creationId xmlns:a16="http://schemas.microsoft.com/office/drawing/2014/main" id="{D773E361-3571-4F21-AE99-050296294530}"/>
              </a:ext>
            </a:extLst>
          </p:cNvPr>
          <p:cNvSpPr>
            <a:spLocks xmlns:a="http://schemas.openxmlformats.org/drawingml/2006/main" noGrp="1"/>
          </p:cNvSpPr>
          <p:nvPr/>
        </p:nvSpPr>
        <p:spPr>
          <a:xfrm xmlns:a="http://schemas.openxmlformats.org/drawingml/2006/main">
            <a:off x="571500" y="52673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9"/>
                </a:solidFill>
                <a:latin typeface="Arial"/>
                <a:ea typeface="Arial"/>
                <a:cs typeface="Arial"/>
              </a:defRPr>
            </a:pPr>
            <a:r>
              <a:rPr sz="2025" b="0">
                <a:solidFill>
                  <a:srgbClr val="536B79"/>
                </a:solidFill>
                <a:latin typeface="Arial"/>
                <a:ea typeface="Arial"/>
                <a:cs typeface="Arial"/>
              </a:rPr>
              <a:t>Next evidence: validated clearance and stopping measurements</a:t>
            </a:r>
          </a:p>
          <a:p xmlns:a="http://schemas.openxmlformats.org/drawingml/2006/main">
            <a:pPr>
              <a:defRPr sz="2025" b="0">
                <a:solidFill>
                  <a:srgbClr val="536B79"/>
                </a:solidFill>
                <a:latin typeface="Arial"/>
                <a:ea typeface="Arial"/>
                <a:cs typeface="Arial"/>
              </a:defRPr>
            </a:pPr>
            <a:r>
              <a:rPr sz="2025" b="0">
                <a:solidFill>
                  <a:srgbClr val="536B79"/>
                </a:solidFill>
                <a:latin typeface="Arial"/>
                <a:ea typeface="Arial"/>
                <a:cs typeface="Arial"/>
              </a:rPr>
              <a:t>with reliably linked controller comparisons.</a:t>
            </a:r>
          </a:p>
        </p:txBody>
      </p:sp>
    </p:spTree>
    <p:extLst>
      <p:ext uri="{BB962C8B-B14F-4D97-AF65-F5344CB8AC3E}">
        <p14:creationId xmlns:p14="http://schemas.microsoft.com/office/powerpoint/2010/main" val="1512327385"/>
      </p:ext>
    </p:extLst>
  </p:cSld>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he task and laboratory prototype">
            <a:extLst>
              <a:ext uri="{FF2B5EF4-FFF2-40B4-BE49-F238E27FC236}">
                <a16:creationId xmlns:a16="http://schemas.microsoft.com/office/drawing/2014/main" id="{DA806EAB-9D1F-4D99-9E8F-92CEBF025533}"/>
              </a:ext>
            </a:extLst>
          </p:cNvPr>
          <p:cNvSpPr>
            <a:spLocks noGrp="1"/>
          </p:cNvSpPr>
          <p:nvPr/>
        </p:nvSpPr>
        <p:spPr>
          <a:xfrm>
            <a:off x="438150" y="381000"/>
            <a:ext cx="11049000" cy="809625"/>
          </a:xfrm>
          <a:prstGeom prst="rect">
            <a:avLst/>
          </a:prstGeom>
          <a:noFill/>
          <a:ln w="0">
            <a:noFill/>
          </a:ln>
        </p:spPr>
        <p:txBody>
          <a:bodyPr>
            <a:noAutofit/>
          </a:bodyPr>
          <a:lstStyle/>
          <a:p>
            <a:pPr>
              <a:defRPr sz="3300" b="1">
                <a:solidFill>
                  <a:srgbClr val="172D3D"/>
                </a:solidFill>
                <a:latin typeface="Arial"/>
                <a:ea typeface="Arial"/>
                <a:cs typeface="Arial"/>
              </a:defRPr>
            </a:pPr>
            <a:r>
              <a:rPr sz="3300" b="1">
                <a:solidFill>
                  <a:srgbClr val="172D3D"/>
                </a:solidFill>
                <a:latin typeface="Arial"/>
                <a:ea typeface="Arial"/>
                <a:cs typeface="Arial"/>
              </a:rPr>
              <a:t>What we built: the physical rig</a:t>
            </a:r>
          </a:p>
        </p:txBody>
      </p:sp>
      <p:sp>
        <p:nvSpPr>
          <p:cNvPr id="2" name="03">
            <a:extLst>
              <a:ext uri="{FF2B5EF4-FFF2-40B4-BE49-F238E27FC236}">
                <a16:creationId xmlns:a16="http://schemas.microsoft.com/office/drawing/2014/main" id="{CFB5FF92-5DE5-431F-B644-183C6C08DB02}"/>
              </a:ext>
            </a:extLst>
          </p:cNvPr>
          <p:cNvSpPr>
            <a:spLocks noGrp="1"/>
          </p:cNvSpPr>
          <p:nvPr/>
        </p:nvSpPr>
        <p:spPr>
          <a:xfrm>
            <a:off x="466725" y="6362700"/>
            <a:ext cx="476250" cy="228600"/>
          </a:xfrm>
          <a:prstGeom prst="rect">
            <a:avLst/>
          </a:prstGeom>
          <a:noFill/>
          <a:ln w="0">
            <a:noFill/>
          </a:ln>
        </p:spPr>
        <p:txBody>
          <a:bodyPr>
            <a:noAutofit/>
          </a:bodyPr>
          <a:lstStyle/>
          <a:p>
            <a:pPr>
              <a:defRPr sz="1200" b="0">
                <a:solidFill>
                  <a:srgbClr val="536B79"/>
                </a:solidFill>
                <a:latin typeface="Arial"/>
                <a:ea typeface="Arial"/>
                <a:cs typeface="Arial"/>
              </a:defRPr>
            </a:pPr>
            <a:r>
              <a:rPr sz="1200" b="0">
                <a:solidFill>
                  <a:srgbClr val="536B79"/>
                </a:solidFill>
                <a:latin typeface="Arial"/>
                <a:ea typeface="Arial"/>
                <a:cs typeface="Arial"/>
              </a:rPr>
              <a:t>04</a:t>
            </a:r>
          </a:p>
        </p:txBody>
      </p:sp>
      <p:pic>
        <p:nvPicPr>
          <p:cNvPr id="8" name="Picture 7" descr="image.jpg"/>
          <p:cNvPicPr>
            <a:picLocks noChangeAspect="1"/>
          </p:cNvPicPr>
          <p:nvPr/>
        </p:nvPicPr>
        <p:blipFill>
          <a:blip r:embed="rId2"/>
          <a:stretch>
            <a:fillRect/>
          </a:stretch>
        </p:blipFill>
        <p:spPr>
          <a:xfrm>
            <a:off x="571500" y="1300000"/>
            <a:ext cx="2650000" cy="1490625"/>
          </a:xfrm>
          <a:prstGeom prst="rect">
            <a:avLst/>
          </a:prstGeom>
        </p:spPr>
      </p:pic>
      <p:pic>
        <p:nvPicPr>
          <p:cNvPr id="9" name="Picture 8" descr="apparatus-b.jpg"/>
          <p:cNvPicPr>
            <a:picLocks noChangeAspect="1"/>
          </p:cNvPicPr>
          <p:nvPr/>
        </p:nvPicPr>
        <p:blipFill>
          <a:blip r:embed="rId3"/>
          <a:stretch>
            <a:fillRect/>
          </a:stretch>
        </p:blipFill>
        <p:spPr>
          <a:xfrm>
            <a:off x="3341500" y="1300000"/>
            <a:ext cx="2650000" cy="1488417"/>
          </a:xfrm>
          <a:prstGeom prst="rect">
            <a:avLst/>
          </a:prstGeom>
        </p:spPr>
      </p:pic>
      <p:pic>
        <p:nvPicPr>
          <p:cNvPr id="10" name="Picture 9" descr="apparatus-c.jpg"/>
          <p:cNvPicPr>
            <a:picLocks noChangeAspect="1"/>
          </p:cNvPicPr>
          <p:nvPr/>
        </p:nvPicPr>
        <p:blipFill>
          <a:blip r:embed="rId4"/>
          <a:stretch>
            <a:fillRect/>
          </a:stretch>
        </p:blipFill>
        <p:spPr>
          <a:xfrm>
            <a:off x="6111500" y="1300000"/>
            <a:ext cx="2650000" cy="1490625"/>
          </a:xfrm>
          <a:prstGeom prst="rect">
            <a:avLst/>
          </a:prstGeom>
        </p:spPr>
      </p:pic>
      <p:pic>
        <p:nvPicPr>
          <p:cNvPr id="11" name="clip-approach-xsens.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8900000" y="1300000"/>
            <a:ext cx="2750000" cy="1546875"/>
          </a:xfrm>
          <a:prstGeom prst="rect">
            <a:avLst/>
          </a:prstGeom>
        </p:spPr>
      </p:pic>
      <p:sp>
        <p:nvSpPr>
          <p:cNvPr id="6" name="Schematic of the procedure; scale and motion are illustrativ">
            <a:extLst>
              <a:ext uri="{FF2B5EF4-FFF2-40B4-BE49-F238E27FC236}">
                <a16:creationId xmlns:a16="http://schemas.microsoft.com/office/drawing/2014/main" id="{2BCF01A8-A812-4BB7-ADB0-153753A61F5C}"/>
              </a:ext>
            </a:extLst>
          </p:cNvPr>
          <p:cNvSpPr>
            <a:spLocks noGrp="1"/>
          </p:cNvSpPr>
          <p:nvPr/>
        </p:nvSpPr>
        <p:spPr>
          <a:xfrm>
            <a:off x="571500" y="4500000"/>
            <a:ext cx="10950000" cy="1300000"/>
          </a:xfrm>
          <a:prstGeom prst="rect">
            <a:avLst/>
          </a:prstGeom>
          <a:noFill/>
          <a:ln w="0">
            <a:noFill/>
          </a:ln>
        </p:spPr>
        <p:txBody>
          <a:bodyPr>
            <a:noAutofit/>
          </a:bodyPr>
          <a:lstStyle/>
          <a:p>
            <a:pPr>
              <a:defRPr sz="1650" b="0">
                <a:solidFill>
                  <a:srgbClr val="536B79"/>
                </a:solidFill>
                <a:latin typeface="Arial"/>
                <a:ea typeface="Arial"/>
                <a:cs typeface="Arial"/>
              </a:defRPr>
            </a:pPr>
            <a:r>
              <a:rPr sz="1400" b="0">
                <a:solidFill>
                  <a:srgbClr val="536B79"/>
                </a:solidFill>
                <a:latin typeface="Arial"/>
                <a:ea typeface="Arial"/>
                <a:cs typeface="Arial"/>
              </a:rPr>
              <a:t>UR10 holding a full-size panel at ceiling height, OptiTrack cameras around the cell, operator in an Xsens suit.</a:t>
            </a:r>
          </a:p>
          <a:p>
            <a:pPr>
              <a:defRPr sz="1650" b="0">
                <a:solidFill>
                  <a:srgbClr val="536B79"/>
                </a:solidFill>
                <a:latin typeface="Arial"/>
                <a:ea typeface="Arial"/>
                <a:cs typeface="Arial"/>
              </a:defRPr>
            </a:pPr>
            <a:r>
              <a:rPr sz="1400" b="0">
                <a:solidFill>
                  <a:srgbClr val="536B79"/>
                </a:solidFill>
                <a:latin typeface="Arial"/>
                <a:ea typeface="Arial"/>
                <a:cs typeface="Arial"/>
              </a:rPr>
              <a:t>Video: a participant approaching the robot while the suit streams every body segment to the controller in real time.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he task and laboratory prototype">
            <a:extLst>
              <a:ext uri="{FF2B5EF4-FFF2-40B4-BE49-F238E27FC236}">
                <a16:creationId xmlns:a16="http://schemas.microsoft.com/office/drawing/2014/main" id="{DA806EAB-9D1F-4D99-9E8F-92CEBF025533}"/>
              </a:ext>
            </a:extLst>
          </p:cNvPr>
          <p:cNvSpPr>
            <a:spLocks noGrp="1"/>
          </p:cNvSpPr>
          <p:nvPr/>
        </p:nvSpPr>
        <p:spPr>
          <a:xfrm>
            <a:off x="438150" y="381000"/>
            <a:ext cx="11049000" cy="809625"/>
          </a:xfrm>
          <a:prstGeom prst="rect">
            <a:avLst/>
          </a:prstGeom>
          <a:noFill/>
          <a:ln w="0">
            <a:noFill/>
          </a:ln>
        </p:spPr>
        <p:txBody>
          <a:bodyPr>
            <a:noAutofit/>
          </a:bodyPr>
          <a:lstStyle/>
          <a:p>
            <a:pPr>
              <a:defRPr sz="3300" b="1">
                <a:solidFill>
                  <a:srgbClr val="172D3D"/>
                </a:solidFill>
                <a:latin typeface="Arial"/>
                <a:ea typeface="Arial"/>
                <a:cs typeface="Arial"/>
              </a:defRPr>
            </a:pPr>
            <a:r>
              <a:rPr sz="3300" b="1">
                <a:solidFill>
                  <a:srgbClr val="172D3D"/>
                </a:solidFill>
                <a:latin typeface="Arial"/>
                <a:ea typeface="Arial"/>
                <a:cs typeface="Arial"/>
              </a:rPr>
              <a:t>What we built: the operator console</a:t>
            </a:r>
          </a:p>
        </p:txBody>
      </p:sp>
      <p:sp>
        <p:nvSpPr>
          <p:cNvPr id="2" name="03">
            <a:extLst>
              <a:ext uri="{FF2B5EF4-FFF2-40B4-BE49-F238E27FC236}">
                <a16:creationId xmlns:a16="http://schemas.microsoft.com/office/drawing/2014/main" id="{CFB5FF92-5DE5-431F-B644-183C6C08DB02}"/>
              </a:ext>
            </a:extLst>
          </p:cNvPr>
          <p:cNvSpPr>
            <a:spLocks noGrp="1"/>
          </p:cNvSpPr>
          <p:nvPr/>
        </p:nvSpPr>
        <p:spPr>
          <a:xfrm>
            <a:off x="466725" y="6362700"/>
            <a:ext cx="476250" cy="228600"/>
          </a:xfrm>
          <a:prstGeom prst="rect">
            <a:avLst/>
          </a:prstGeom>
          <a:noFill/>
          <a:ln w="0">
            <a:noFill/>
          </a:ln>
        </p:spPr>
        <p:txBody>
          <a:bodyPr>
            <a:noAutofit/>
          </a:bodyPr>
          <a:lstStyle/>
          <a:p>
            <a:pPr>
              <a:defRPr sz="1200" b="0">
                <a:solidFill>
                  <a:srgbClr val="536B79"/>
                </a:solidFill>
                <a:latin typeface="Arial"/>
                <a:ea typeface="Arial"/>
                <a:cs typeface="Arial"/>
              </a:defRPr>
            </a:pPr>
            <a:r>
              <a:rPr sz="1200" b="0">
                <a:solidFill>
                  <a:srgbClr val="536B79"/>
                </a:solidFill>
                <a:latin typeface="Arial"/>
                <a:ea typeface="Arial"/>
                <a:cs typeface="Arial"/>
              </a:rPr>
              <a:t>05</a:t>
            </a:r>
          </a:p>
        </p:txBody>
      </p:sp>
      <p:pic>
        <p:nvPicPr>
          <p:cNvPr id="8" name="Picture 7" descr="dashboard-participant.png"/>
          <p:cNvPicPr>
            <a:picLocks noChangeAspect="1"/>
          </p:cNvPicPr>
          <p:nvPr/>
        </p:nvPicPr>
        <p:blipFill>
          <a:blip r:embed="rId2"/>
          <a:stretch>
            <a:fillRect/>
          </a:stretch>
        </p:blipFill>
        <p:spPr>
          <a:xfrm>
            <a:off x="571500" y="1250000"/>
            <a:ext cx="5400000" cy="3037500"/>
          </a:xfrm>
          <a:prstGeom prst="rect">
            <a:avLst/>
          </a:prstGeom>
        </p:spPr>
      </p:pic>
      <p:pic>
        <p:nvPicPr>
          <p:cNvPr id="9" name="Picture 8" descr="dashboard-model-dev.png"/>
          <p:cNvPicPr>
            <a:picLocks noChangeAspect="1"/>
          </p:cNvPicPr>
          <p:nvPr/>
        </p:nvPicPr>
        <p:blipFill>
          <a:blip r:embed="rId3"/>
          <a:stretch>
            <a:fillRect/>
          </a:stretch>
        </p:blipFill>
        <p:spPr>
          <a:xfrm>
            <a:off x="6200000" y="1250000"/>
            <a:ext cx="5400000" cy="3037500"/>
          </a:xfrm>
          <a:prstGeom prst="rect">
            <a:avLst/>
          </a:prstGeom>
        </p:spPr>
      </p:pic>
      <p:sp>
        <p:nvSpPr>
          <p:cNvPr id="6" name="Schematic of the procedure; scale and motion are illustrativ">
            <a:extLst>
              <a:ext uri="{FF2B5EF4-FFF2-40B4-BE49-F238E27FC236}">
                <a16:creationId xmlns:a16="http://schemas.microsoft.com/office/drawing/2014/main" id="{2BCF01A8-A812-4BB7-ADB0-153753A61F5C}"/>
              </a:ext>
            </a:extLst>
          </p:cNvPr>
          <p:cNvSpPr>
            <a:spLocks noGrp="1"/>
          </p:cNvSpPr>
          <p:nvPr/>
        </p:nvSpPr>
        <p:spPr>
          <a:xfrm>
            <a:off x="571500" y="4450000"/>
            <a:ext cx="10950000" cy="1500000"/>
          </a:xfrm>
          <a:prstGeom prst="rect">
            <a:avLst/>
          </a:prstGeom>
          <a:noFill/>
          <a:ln w="0">
            <a:noFill/>
          </a:ln>
        </p:spPr>
        <p:txBody>
          <a:bodyPr>
            <a:noAutofit/>
          </a:bodyPr>
          <a:lstStyle/>
          <a:p>
            <a:pPr>
              <a:defRPr sz="1650" b="0">
                <a:solidFill>
                  <a:srgbClr val="536B79"/>
                </a:solidFill>
                <a:latin typeface="Arial"/>
                <a:ea typeface="Arial"/>
                <a:cs typeface="Arial"/>
              </a:defRPr>
            </a:pPr>
            <a:r>
              <a:rPr sz="1400" b="0">
                <a:solidFill>
                  <a:srgbClr val="536B79"/>
                </a:solidFill>
                <a:latin typeface="Arial"/>
                <a:ea typeface="Arial"/>
                <a:cs typeface="Arial"/>
              </a:rPr>
              <a:t>Our own web console runs every session: participant study, rehearsal and model-development modes kept strictly separate.</a:t>
            </a:r>
          </a:p>
          <a:p>
            <a:pPr>
              <a:defRPr sz="1650" b="0">
                <a:solidFill>
                  <a:srgbClr val="536B79"/>
                </a:solidFill>
                <a:latin typeface="Arial"/>
                <a:ea typeface="Arial"/>
                <a:cs typeface="Arial"/>
              </a:defRPr>
            </a:pPr>
            <a:r>
              <a:rPr sz="1400" b="0">
                <a:solidFill>
                  <a:srgbClr val="536B79"/>
                </a:solidFill>
                <a:latin typeface="Arial"/>
                <a:ea typeface="Arial"/>
                <a:cs typeface="Arial"/>
              </a:rPr>
              <a:t>It checks sensors before each trial, assigns the controller order, records labels and streams the live task-phase estimate.</a:t>
            </a:r>
          </a:p>
          <a:p>
            <a:pPr>
              <a:defRPr sz="1650" b="0">
                <a:solidFill>
                  <a:srgbClr val="536B79"/>
                </a:solidFill>
                <a:latin typeface="Arial"/>
                <a:ea typeface="Arial"/>
                <a:cs typeface="Arial"/>
              </a:defRPr>
            </a:pPr>
            <a:r>
              <a:rPr sz="1400" b="0">
                <a:solidFill>
                  <a:srgbClr val="536B79"/>
                </a:solidFill>
                <a:latin typeface="Arial"/>
                <a:ea typeface="Arial"/>
                <a:cs typeface="Arial"/>
              </a:rPr>
              <a:t>Built in-house and version-controlled on GitHub: 100+ commits, about 20,000 lines of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he task and laboratory prototype">
            <a:extLst>
              <a:ext uri="{FF2B5EF4-FFF2-40B4-BE49-F238E27FC236}">
                <a16:creationId xmlns:a16="http://schemas.microsoft.com/office/drawing/2014/main" id="{DA806EAB-9D1F-4D99-9E8F-92CEBF025533}"/>
              </a:ext>
            </a:extLst>
          </p:cNvPr>
          <p:cNvSpPr>
            <a:spLocks noGrp="1"/>
          </p:cNvSpPr>
          <p:nvPr/>
        </p:nvSpPr>
        <p:spPr>
          <a:xfrm>
            <a:off x="438150" y="381000"/>
            <a:ext cx="11049000" cy="809625"/>
          </a:xfrm>
          <a:prstGeom prst="rect">
            <a:avLst/>
          </a:prstGeom>
          <a:noFill/>
          <a:ln w="0">
            <a:noFill/>
          </a:ln>
        </p:spPr>
        <p:txBody>
          <a:bodyPr>
            <a:noAutofit/>
          </a:bodyPr>
          <a:lstStyle/>
          <a:p>
            <a:pPr>
              <a:defRPr sz="3300" b="1">
                <a:solidFill>
                  <a:srgbClr val="172D3D"/>
                </a:solidFill>
                <a:latin typeface="Arial"/>
                <a:ea typeface="Arial"/>
                <a:cs typeface="Arial"/>
              </a:defRPr>
            </a:pPr>
            <a:r>
              <a:rPr sz="3300" b="1">
                <a:solidFill>
                  <a:srgbClr val="172D3D"/>
                </a:solidFill>
                <a:latin typeface="Arial"/>
                <a:ea typeface="Arial"/>
                <a:cs typeface="Arial"/>
              </a:rPr>
              <a:t>One real trial, as the controller saw it</a:t>
            </a:r>
          </a:p>
        </p:txBody>
      </p:sp>
      <p:sp>
        <p:nvSpPr>
          <p:cNvPr id="2" name="03">
            <a:extLst>
              <a:ext uri="{FF2B5EF4-FFF2-40B4-BE49-F238E27FC236}">
                <a16:creationId xmlns:a16="http://schemas.microsoft.com/office/drawing/2014/main" id="{CFB5FF92-5DE5-431F-B644-183C6C08DB02}"/>
              </a:ext>
            </a:extLst>
          </p:cNvPr>
          <p:cNvSpPr>
            <a:spLocks noGrp="1"/>
          </p:cNvSpPr>
          <p:nvPr/>
        </p:nvSpPr>
        <p:spPr>
          <a:xfrm>
            <a:off x="466725" y="6362700"/>
            <a:ext cx="476250" cy="228600"/>
          </a:xfrm>
          <a:prstGeom prst="rect">
            <a:avLst/>
          </a:prstGeom>
          <a:noFill/>
          <a:ln w="0">
            <a:noFill/>
          </a:ln>
        </p:spPr>
        <p:txBody>
          <a:bodyPr>
            <a:noAutofit/>
          </a:bodyPr>
          <a:lstStyle/>
          <a:p>
            <a:pPr>
              <a:defRPr sz="1200" b="0">
                <a:solidFill>
                  <a:srgbClr val="536B79"/>
                </a:solidFill>
                <a:latin typeface="Arial"/>
                <a:ea typeface="Arial"/>
                <a:cs typeface="Arial"/>
              </a:defRPr>
            </a:pPr>
            <a:r>
              <a:rPr sz="1200" b="0">
                <a:solidFill>
                  <a:srgbClr val="536B79"/>
                </a:solidFill>
                <a:latin typeface="Arial"/>
                <a:ea typeface="Arial"/>
                <a:cs typeface="Arial"/>
              </a:rPr>
              <a:t>11</a:t>
            </a:r>
          </a:p>
        </p:txBody>
      </p:sp>
      <p:pic>
        <p:nvPicPr>
          <p:cNvPr id="8" name="Picture 7" descr="representative-trace-full.png"/>
          <p:cNvPicPr>
            <a:picLocks noChangeAspect="1"/>
          </p:cNvPicPr>
          <p:nvPr/>
        </p:nvPicPr>
        <p:blipFill>
          <a:blip r:embed="rId2"/>
          <a:stretch>
            <a:fillRect/>
          </a:stretch>
        </p:blipFill>
        <p:spPr>
          <a:xfrm>
            <a:off x="571500" y="1250000"/>
            <a:ext cx="8541000" cy="4242253"/>
          </a:xfrm>
          <a:prstGeom prst="rect">
            <a:avLst/>
          </a:prstGeom>
        </p:spPr>
      </p:pic>
      <p:sp>
        <p:nvSpPr>
          <p:cNvPr id="6" name="Schematic of the procedure; scale and motion are illustrativ">
            <a:extLst>
              <a:ext uri="{FF2B5EF4-FFF2-40B4-BE49-F238E27FC236}">
                <a16:creationId xmlns:a16="http://schemas.microsoft.com/office/drawing/2014/main" id="{2BCF01A8-A812-4BB7-ADB0-153753A61F5C}"/>
              </a:ext>
            </a:extLst>
          </p:cNvPr>
          <p:cNvSpPr>
            <a:spLocks noGrp="1"/>
          </p:cNvSpPr>
          <p:nvPr/>
        </p:nvSpPr>
        <p:spPr>
          <a:xfrm>
            <a:off x="571500" y="5500000"/>
            <a:ext cx="10950000" cy="700000"/>
          </a:xfrm>
          <a:prstGeom prst="rect">
            <a:avLst/>
          </a:prstGeom>
          <a:noFill/>
          <a:ln w="0">
            <a:noFill/>
          </a:ln>
        </p:spPr>
        <p:txBody>
          <a:bodyPr>
            <a:noAutofit/>
          </a:bodyPr>
          <a:lstStyle/>
          <a:p>
            <a:pPr>
              <a:defRPr sz="1650" b="0">
                <a:solidFill>
                  <a:srgbClr val="536B79"/>
                </a:solidFill>
                <a:latin typeface="Arial"/>
                <a:ea typeface="Arial"/>
                <a:cs typeface="Arial"/>
              </a:defRPr>
            </a:pPr>
            <a:r>
              <a:rPr sz="1300" b="0">
                <a:solidFill>
                  <a:srgbClr val="536B79"/>
                </a:solidFill>
                <a:latin typeface="Arial"/>
                <a:ea typeface="Arial"/>
                <a:cs typeface="Arial"/>
              </a:rPr>
              <a:t>Distance to the robot, closing speed, speed command and joint speed from one predictive trial. The robot stops every time the worker comes close; the rapid on/off flicker is the predictor switching we identify as the fix.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he task and laboratory prototype">
            <a:extLst>
              <a:ext uri="{FF2B5EF4-FFF2-40B4-BE49-F238E27FC236}">
                <a16:creationId xmlns:a16="http://schemas.microsoft.com/office/drawing/2014/main" id="{DA806EAB-9D1F-4D99-9E8F-92CEBF025533}"/>
              </a:ext>
            </a:extLst>
          </p:cNvPr>
          <p:cNvSpPr>
            <a:spLocks noGrp="1"/>
          </p:cNvSpPr>
          <p:nvPr/>
        </p:nvSpPr>
        <p:spPr>
          <a:xfrm>
            <a:off x="438150" y="381000"/>
            <a:ext cx="11049000" cy="809625"/>
          </a:xfrm>
          <a:prstGeom prst="rect">
            <a:avLst/>
          </a:prstGeom>
          <a:noFill/>
          <a:ln w="0">
            <a:noFill/>
          </a:ln>
        </p:spPr>
        <p:txBody>
          <a:bodyPr>
            <a:noAutofit/>
          </a:bodyPr>
          <a:lstStyle/>
          <a:p>
            <a:pPr>
              <a:defRPr sz="3300" b="1">
                <a:solidFill>
                  <a:srgbClr val="172D3D"/>
                </a:solidFill>
                <a:latin typeface="Arial"/>
                <a:ea typeface="Arial"/>
                <a:cs typeface="Arial"/>
              </a:defRPr>
            </a:pPr>
            <a:r>
              <a:rPr sz="3300" b="1">
                <a:solidFill>
                  <a:srgbClr val="172D3D"/>
                </a:solidFill>
                <a:latin typeface="Arial"/>
                <a:ea typeface="Arial"/>
                <a:cs typeface="Arial"/>
              </a:rPr>
              <a:t>Results answer the research question</a:t>
            </a:r>
          </a:p>
        </p:txBody>
      </p:sp>
      <p:sp>
        <p:nvSpPr>
          <p:cNvPr id="2" name="03">
            <a:extLst>
              <a:ext uri="{FF2B5EF4-FFF2-40B4-BE49-F238E27FC236}">
                <a16:creationId xmlns:a16="http://schemas.microsoft.com/office/drawing/2014/main" id="{CFB5FF92-5DE5-431F-B644-183C6C08DB02}"/>
              </a:ext>
            </a:extLst>
          </p:cNvPr>
          <p:cNvSpPr>
            <a:spLocks noGrp="1"/>
          </p:cNvSpPr>
          <p:nvPr/>
        </p:nvSpPr>
        <p:spPr>
          <a:xfrm>
            <a:off x="466725" y="6362700"/>
            <a:ext cx="476250" cy="228600"/>
          </a:xfrm>
          <a:prstGeom prst="rect">
            <a:avLst/>
          </a:prstGeom>
          <a:noFill/>
          <a:ln w="0">
            <a:noFill/>
          </a:ln>
        </p:spPr>
        <p:txBody>
          <a:bodyPr>
            <a:noAutofit/>
          </a:bodyPr>
          <a:lstStyle/>
          <a:p>
            <a:pPr>
              <a:defRPr sz="1200" b="0">
                <a:solidFill>
                  <a:srgbClr val="536B79"/>
                </a:solidFill>
                <a:latin typeface="Arial"/>
                <a:ea typeface="Arial"/>
                <a:cs typeface="Arial"/>
              </a:defRPr>
            </a:pPr>
            <a:r>
              <a:rPr sz="1200" b="0">
                <a:solidFill>
                  <a:srgbClr val="536B79"/>
                </a:solidFill>
                <a:latin typeface="Arial"/>
                <a:ea typeface="Arial"/>
                <a:cs typeface="Arial"/>
              </a:rPr>
              <a:t>12</a:t>
            </a:r>
          </a:p>
        </p:txBody>
      </p:sp>
      <p:sp>
        <p:nvSpPr>
          <p:cNvPr id="5" name="Load → retreat → lift → work → retreat → lower / unload">
            <a:extLst>
              <a:ext uri="{FF2B5EF4-FFF2-40B4-BE49-F238E27FC236}">
                <a16:creationId xmlns:a16="http://schemas.microsoft.com/office/drawing/2014/main" id="{F2534CDA-8026-48C5-B240-46D698435715}"/>
              </a:ext>
            </a:extLst>
          </p:cNvPr>
          <p:cNvSpPr>
            <a:spLocks noGrp="1"/>
          </p:cNvSpPr>
          <p:nvPr/>
        </p:nvSpPr>
        <p:spPr>
          <a:xfrm>
            <a:off x="571500" y="1150000"/>
            <a:ext cx="10950000" cy="600000"/>
          </a:xfrm>
          <a:prstGeom prst="rect">
            <a:avLst/>
          </a:prstGeom>
          <a:noFill/>
          <a:ln w="0">
            <a:noFill/>
          </a:ln>
        </p:spPr>
        <p:txBody>
          <a:bodyPr>
            <a:noAutofit/>
          </a:bodyPr>
          <a:lstStyle/>
          <a:p>
            <a:pPr>
              <a:defRPr sz="2250" b="1">
                <a:solidFill>
                  <a:srgbClr val="006DAE"/>
                </a:solidFill>
                <a:latin typeface="Arial"/>
                <a:ea typeface="Arial"/>
                <a:cs typeface="Arial"/>
              </a:defRPr>
            </a:pPr>
            <a:r>
              <a:rPr sz="1800" b="1">
                <a:solidFill>
                  <a:srgbClr val="006DAE"/>
                </a:solidFill>
                <a:latin typeface="Arial"/>
                <a:ea typeface="Arial"/>
                <a:cs typeface="Arial"/>
              </a:rPr>
              <a:t>RQ: can a task-aware robot keep workers as safe as fixed zones, while keeping the work efficient?</a:t>
            </a:r>
          </a:p>
        </p:txBody>
      </p:sp>
      <p:graphicFrame>
        <p:nvGraphicFramePr>
          <p:cNvPr id="8" name="Table 7"/>
          <p:cNvGraphicFramePr>
            <a:graphicFrameLocks noGrp="1"/>
          </p:cNvGraphicFramePr>
          <p:nvPr/>
        </p:nvGraphicFramePr>
        <p:xfrm>
          <a:off x="571500" y="1850000"/>
          <a:ext cx="10950000" cy="3000000"/>
        </p:xfrm>
        <a:graphic>
          <a:graphicData uri="http://schemas.openxmlformats.org/drawingml/2006/table">
            <a:tbl>
              <a:tblPr firstRow="1" bandRow="1">
                <a:tableStyleId>{5C22544A-7EE6-4342-B048-85BDC9FD1C3A}</a:tableStyleId>
              </a:tblPr>
              <a:tblGrid>
                <a:gridCol w="3650000"/>
                <a:gridCol w="3650000"/>
                <a:gridCol w="3650000"/>
              </a:tblGrid>
              <a:tr h="600000">
                <a:tc>
                  <a:txBody>
                    <a:bodyPr/>
                    <a:lstStyle/>
                    <a:p>
                      <a:r>
                        <a:rPr sz="1500" b="1">
                          <a:latin typeface="Arial"/>
                        </a:rPr>
                        <a:t>Question</a:t>
                      </a:r>
                    </a:p>
                  </a:txBody>
                  <a:tcPr/>
                </a:tc>
                <a:tc>
                  <a:txBody>
                    <a:bodyPr/>
                    <a:lstStyle/>
                    <a:p>
                      <a:r>
                        <a:rPr sz="1500" b="1">
                          <a:latin typeface="Arial"/>
                        </a:rPr>
                        <a:t>What we found</a:t>
                      </a:r>
                    </a:p>
                  </a:txBody>
                  <a:tcPr/>
                </a:tc>
                <a:tc>
                  <a:txBody>
                    <a:bodyPr/>
                    <a:lstStyle/>
                    <a:p>
                      <a:r>
                        <a:rPr sz="1500" b="1">
                          <a:latin typeface="Arial"/>
                        </a:rPr>
                        <a:t>Answer</a:t>
                      </a:r>
                    </a:p>
                  </a:txBody>
                  <a:tcPr/>
                </a:tc>
              </a:tr>
              <a:tr h="600000">
                <a:tc>
                  <a:txBody>
                    <a:bodyPr/>
                    <a:lstStyle/>
                    <a:p>
                      <a:r>
                        <a:rPr sz="1500" b="0">
                          <a:latin typeface="Arial"/>
                        </a:rPr>
                        <a:t>Can the robot read the task phase?</a:t>
                      </a:r>
                    </a:p>
                  </a:txBody>
                  <a:tcPr/>
                </a:tc>
                <a:tc>
                  <a:txBody>
                    <a:bodyPr/>
                    <a:lstStyle/>
                    <a:p>
                      <a:r>
                        <a:rPr sz="1500" b="0">
                          <a:latin typeface="Arial"/>
                        </a:rPr>
                        <a:t>Recognised live on people it had never seen</a:t>
                      </a:r>
                    </a:p>
                  </a:txBody>
                  <a:tcPr/>
                </a:tc>
                <a:tc>
                  <a:txBody>
                    <a:bodyPr/>
                    <a:lstStyle/>
                    <a:p>
                      <a:r>
                        <a:rPr sz="1500" b="1">
                          <a:latin typeface="Arial"/>
                        </a:rPr>
                        <a:t>Yes: the building block works</a:t>
                      </a:r>
                    </a:p>
                  </a:txBody>
                  <a:tcPr/>
                </a:tc>
              </a:tr>
              <a:tr h="600000">
                <a:tc>
                  <a:txBody>
                    <a:bodyPr/>
                    <a:lstStyle/>
                    <a:p>
                      <a:r>
                        <a:rPr sz="1500" b="0">
                          <a:latin typeface="Arial"/>
                        </a:rPr>
                        <a:t>Is it as safe?</a:t>
                      </a:r>
                    </a:p>
                  </a:txBody>
                  <a:tcPr/>
                </a:tc>
                <a:tc>
                  <a:txBody>
                    <a:bodyPr/>
                    <a:lstStyle/>
                    <a:p>
                      <a:r>
                        <a:rPr sz="1500" b="0">
                          <a:latin typeface="Arial"/>
                        </a:rPr>
                        <a:t>Stopped every time someone came too close; close approaches alike</a:t>
                      </a:r>
                    </a:p>
                  </a:txBody>
                  <a:tcPr/>
                </a:tc>
                <a:tc>
                  <a:txBody>
                    <a:bodyPr/>
                    <a:lstStyle/>
                    <a:p>
                      <a:r>
                        <a:rPr sz="1500" b="1">
                          <a:latin typeface="Arial"/>
                        </a:rPr>
                        <a:t>Yes, on every recorded indicator</a:t>
                      </a:r>
                    </a:p>
                  </a:txBody>
                  <a:tcPr/>
                </a:tc>
              </a:tr>
              <a:tr h="600000">
                <a:tc>
                  <a:txBody>
                    <a:bodyPr/>
                    <a:lstStyle/>
                    <a:p>
                      <a:r>
                        <a:rPr sz="1500" b="0">
                          <a:latin typeface="Arial"/>
                        </a:rPr>
                        <a:t>Is it as efficient?</a:t>
                      </a:r>
                    </a:p>
                  </a:txBody>
                  <a:tcPr/>
                </a:tc>
                <a:tc>
                  <a:txBody>
                    <a:bodyPr/>
                    <a:lstStyle/>
                    <a:p>
                      <a:r>
                        <a:rPr sz="1500" b="0">
                          <a:latin typeface="Arial"/>
                        </a:rPr>
                        <a:t>Tasks took as long, but more brief pauses</a:t>
                      </a:r>
                    </a:p>
                  </a:txBody>
                  <a:tcPr/>
                </a:tc>
                <a:tc>
                  <a:txBody>
                    <a:bodyPr/>
                    <a:lstStyle/>
                    <a:p>
                      <a:r>
                        <a:rPr sz="1500" b="1">
                          <a:latin typeface="Arial"/>
                        </a:rPr>
                        <a:t>Partly: cause found (noisy predictor)</a:t>
                      </a:r>
                    </a:p>
                  </a:txBody>
                  <a:tcPr/>
                </a:tc>
              </a:tr>
              <a:tr h="600000">
                <a:tc>
                  <a:txBody>
                    <a:bodyPr/>
                    <a:lstStyle/>
                    <a:p>
                      <a:r>
                        <a:rPr sz="1500" b="0">
                          <a:latin typeface="Arial"/>
                        </a:rPr>
                        <a:t>Do workers accept it?</a:t>
                      </a:r>
                    </a:p>
                  </a:txBody>
                  <a:tcPr/>
                </a:tc>
                <a:tc>
                  <a:txBody>
                    <a:bodyPr/>
                    <a:lstStyle/>
                    <a:p>
                      <a:r>
                        <a:rPr sz="1500" b="0">
                          <a:latin typeface="Arial"/>
                        </a:rPr>
                        <a:t>Trusted it to stop; felt safer afterwards</a:t>
                      </a:r>
                    </a:p>
                  </a:txBody>
                  <a:tcPr/>
                </a:tc>
                <a:tc>
                  <a:txBody>
                    <a:bodyPr/>
                    <a:lstStyle/>
                    <a:p>
                      <a:r>
                        <a:rPr sz="1500" b="1">
                          <a:latin typeface="Arial"/>
                        </a:rPr>
                        <a:t>Yes</a:t>
                      </a:r>
                    </a:p>
                  </a:txBody>
                  <a:tcPr/>
                </a:tc>
              </a:tr>
            </a:tbl>
          </a:graphicData>
        </a:graphic>
      </p:graphicFrame>
      <p:sp>
        <p:nvSpPr>
          <p:cNvPr id="5" name="Load → retreat → lift → work → retreat → lower / unload">
            <a:extLst>
              <a:ext uri="{FF2B5EF4-FFF2-40B4-BE49-F238E27FC236}">
                <a16:creationId xmlns:a16="http://schemas.microsoft.com/office/drawing/2014/main" id="{F2534CDA-8026-48C5-B240-46D698435715}"/>
              </a:ext>
            </a:extLst>
          </p:cNvPr>
          <p:cNvSpPr>
            <a:spLocks noGrp="1"/>
          </p:cNvSpPr>
          <p:nvPr/>
        </p:nvSpPr>
        <p:spPr>
          <a:xfrm>
            <a:off x="571500" y="5150000"/>
            <a:ext cx="10950000" cy="900000"/>
          </a:xfrm>
          <a:prstGeom prst="rect">
            <a:avLst/>
          </a:prstGeom>
          <a:noFill/>
          <a:ln w="0">
            <a:noFill/>
          </a:ln>
        </p:spPr>
        <p:txBody>
          <a:bodyPr>
            <a:noAutofit/>
          </a:bodyPr>
          <a:lstStyle/>
          <a:p>
            <a:pPr>
              <a:defRPr sz="2250" b="1">
                <a:solidFill>
                  <a:srgbClr val="006DAE"/>
                </a:solidFill>
                <a:latin typeface="Arial"/>
                <a:ea typeface="Arial"/>
                <a:cs typeface="Arial"/>
              </a:defRPr>
            </a:pPr>
            <a:r>
              <a:rPr sz="1500" b="1">
                <a:solidFill>
                  <a:srgbClr val="006DAE"/>
                </a:solidFill>
                <a:latin typeface="Arial"/>
                <a:ea typeface="Arial"/>
                <a:cs typeface="Arial"/>
              </a:rPr>
              <a:t>Hypothesis partly supported. For industry: task awareness can sit on top of an unchanged safety limit without weakening it, so it is easy to assess, but its productivity gain still has to be tuned in.</a:t>
            </a:r>
          </a:p>
        </p:txBody>
      </p:sp>
    </p:spTree>
  </p:cSld>
  <p:clrMapOvr>
    <a:masterClrMapping/>
  </p:clrMapOvr>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2026-09-19T06:40:41.5790000Z</dcterms:created>
  <dcterms:modified xsi:type="dcterms:W3CDTF">2026-09-19T06:40:41.5790000Z</dcterms:modified>
</coreProperties>
</file>