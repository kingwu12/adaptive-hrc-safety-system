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67" ns0:id="rId18"/>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0:30</a:t>
            </a:r>
          </a:p>
          <a:p xmlns:a="http://schemas.openxmlformats.org/drawingml/2006/main"/>
          <a:p xmlns:a="http://schemas.openxmlformats.org/drawingml/2006/main">
            <a:r>
              <a:t>Good afternoon. We acknowledge the Traditional Owners of the land we are meeting on, and pay our respects to their Elders.</a:t>
            </a:r>
          </a:p>
          <a:p xmlns:a="http://schemas.openxmlformats.org/drawingml/2006/main"/>
          <a:p xmlns:a="http://schemas.openxmlformats.org/drawingml/2006/main">
            <a:r>
              <a:t>I am Zenan, and with Luke and Michael I will present our project: a context-aware safety system that lets a collaborative robot recognise what a construction worker is doing, so it can keep them safe without stopping unnecessarily. I will introduce the problem and our system, Michael will present our testing and results, and Luke will cover project management and use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Installing ceiling panels requires workers to hold heavy boards overhead. On a typical site, on the left, one person simply holds the board while another fixes it. In our laboratory, beside it, a collaborative robot does the holding.</a:t>
            </a:r>
          </a:p>
          <a:p/>
          <a:p>
            <a:r>
              <a:t>However, the worker now stands beside a moving robot. Current practice defines fixed safety zones around the robot and stops it whenever a person is inside. These zones cannot distinguish a worker approaching to begin a task from one moving away. If the robot stops too late, the worker may be injured; if it stops too often, crews are likely to disable it. Solving this benefits installation crews, contractors and the engineers who certify these systems.</a:t>
            </a:r>
          </a:p>
          <a:p/>
          <a:p>
            <a:r>
              <a:t>This leads to our research question, shown in the dark box: can a robot that is aware of the task phase keep workers as safe as fixed zones, while maintaining task efficiency?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To answer this, we compared three controllers, each adding one source of information. The fixed-zone controller uses separation distance only; this is current practice and our baseline. The reactive controller also considers approach speed. Our predictive controller adds the task phase, whether the worker is approaching, working or moving away, together with a predictor that anticipates entry into the stop zone.</a:t>
            </a:r>
          </a:p>
          <a:p/>
          <a:p>
            <a:r>
              <a:t>The key design principle is shown in the dark bar: the learned components can only reduce the robot's speed, never increase it, so safety never depends on the machine-learning model being correct.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Thank you, Zenan. Twelve participants took part under Monash ethics approval. Each completed three blocks of the panel task, with one controller per block in a rotated order. The task included cued movements, such as a quick step towards the robot, and a short questionnaire followed each block.</a:t>
            </a:r>
          </a:p>
          <a:p/>
          <a:p>
            <a:r>
              <a:t>Our key decision here was to use all the sensor inputs. This allowed us to see the same movement data from all three controllers, so any difference in outcome comes from the controller rather than the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We positioned the robot and built the PVC pipe structure shown here.</a:t>
            </a:r>
          </a:p>
          <a:p/>
          <a:p>
            <a:r>
              <a:t>The UR10 arm raises a panel substitute to ceiling height and holds it while the participant works beneath it. Cameras on the frame track the participant's head, and the motion-capture suit records the individual body segments. [Click the video.] This clip shows a participant approaching while the suit streams their movement to the controller. The controller reads the data and sets the speed the robot is permitted to move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This answers the first part of our question: is it as safe? Across all 970 entries into the stop zone, every controller had already commanded the robot to stop. On the measured distance, none of them failed.</a:t>
            </a:r>
          </a:p>
          <a:p/>
          <a:p>
            <a:r>
              <a:t>The difference is timing. Our controller requested the stop about a tenth of a second earlier, for every one of the twelve participants. This matters because distance measurement always carries some error. With a five-centimetre error, the fixed zones would still have covered 31 per cent of entries, compared with 67 per cent for our controller. It is therefore as safe, with a larger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The second part: is it still efficient? Partly. Our controller switched between stopping and resuming more often, because it releases the stop as soon as the estimated risk falls, so noise in the speed estimate causes it to toggle. A short release delay should resolve most of this.</a:t>
            </a:r>
          </a:p>
          <a:p/>
          <a:p>
            <a:r>
              <a:t>Overall, it added less than one second of unnecessary stopping per minute, and participants did not notice a difference: their choices of the safest block were split three, five and three, consistent with chance. When a stop was commanded, the robot halted within a quarter of a second.</a:t>
            </a:r>
          </a:p>
          <a:p/>
          <a:p>
            <a:r>
              <a:t>Luke will now discuss what these results mean and how we managed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Thank you, Michael. Our most important finding was not which controller was best but rather that the bigger limit is the task itself, not our controller. Under all three controllers, the robot was stopped for about one third of every trial [as we can see here]. This is because the task itself requires the worker to be inside the stop zone: to load the panel, to work beneath it and to unload it.</a:t>
            </a:r>
          </a:p>
          <a:p/>
          <a:p>
            <a:r>
              <a:t>The next real gain is therefore to switch to a contact-safe mode, such as hand guiding, while the worker is beneath the panel. Because our system already identifies the task phase, it provides the information needed to make that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We planned four stages:</a:t>
            </a:r>
          </a:p>
          <a:p>
            <a:r>
              <a:t>In July we refined our design and tested our project in simulation,</a:t>
            </a:r>
          </a:p>
          <a:p>
            <a:r>
              <a:t>In August, we built the rig and undertook pilot testing.</a:t>
            </a:r>
          </a:p>
          <a:p>
            <a:r>
              <a:t>In September, we tested twelve participants across four sessions</a:t>
            </a:r>
          </a:p>
          <a:p>
            <a:r>
              <a:t>and conducted analysis and review as we wrote our paper in October.</a:t>
            </a:r>
          </a:p>
          <a:p/>
          <a:p>
            <a:r>
              <a:t>We faced three setbacks across the project.</a:t>
            </a:r>
          </a:p>
          <a:p>
            <a:r>
              <a:t>First, due to connection issues we had multiple sessions that restarted under a new participant ID. We then had to manually analyse the sessions and match participants using the recorded data of dimensions, answers etc.</a:t>
            </a:r>
          </a:p>
          <a:p>
            <a:r>
              <a:t>Second, during the first six participants, distance was measured from the worker’s head to a fixed reference above the robot base. For the final six, this changed to whole-body tracking relative to the moving tool centre point. To account for this, we analysed both versions separately and replayed the exact code used in each.</a:t>
            </a:r>
          </a:p>
          <a:p>
            <a:r>
              <a:t>Third, our paper was initially too technical, so we rewrote it for a broader audience and finalised this with our supervisors.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0:45</a:t>
            </a:r>
          </a:p>
          <a:p/>
          <a:p>
            <a:r>
              <a:t>Moving from the laboratory to a site introduces real constraints.</a:t>
            </a:r>
          </a:p>
          <a:p>
            <a:r>
              <a:t>For safety, this is a research prototype running on the robot's standard speed controls, not a certified safety function, and we would allow half a second to react.</a:t>
            </a:r>
          </a:p>
          <a:p>
            <a:r>
              <a:t>For cost, the cameras and suits require calibration, maintenance and training for every crew, weighed against the labour saved.</a:t>
            </a:r>
          </a:p>
          <a:p>
            <a:r>
              <a:t>For health, it removes overhead lifting from workers, and participants rated the suit as only mildly restrictive.</a:t>
            </a:r>
          </a:p>
          <a:p>
            <a:r>
              <a:t>Finally, crews must accept a robotic co-worker, and any site system must meet the relevant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To return to our research question: can a task-aware robot be as safe as fixed zones and remain efficient? On safety, yes: it was as safe on every measure, with a larger margin under sensor error. On efficiency, partly: trial times were unchanged, with slightly more stopping. For industry, this shows that task awareness can be layered on top of a standard safety limit without weakening it.</a:t>
            </a:r>
          </a:p>
          <a:p/>
          <a:p>
            <a:r>
              <a:t>Next steps are a release delay, a contact-safe mode beneath the panel, and trials with real installation crews. For students choosing a final-year project, it combines robotics, sensing, human factors and construction, with plenty left to do. 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On the left is the operator console we developed to run each session. It verifies every sensor, assigns the controller, and records both the robot and the participant.</a:t>
            </a:r>
          </a:p>
          <a:p/>
          <a:p>
            <a:r>
              <a:t>On the right is our trained phase model, tested on a participant it never saw. The upper bar shows what the participant was actually doing, and the lower bar shows the model's live prediction. It tracks the long working phase closely and is least certain at the transitions.</a:t>
            </a:r>
          </a:p>
          <a:p/>
          <a:p>
            <a:r>
              <a:t>Michael will now present how we tested the system and what we found.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 Id="rId4"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 Id="rId5" Type="http://schemas.openxmlformats.org/officeDocument/2006/relationships/image" Target="../media/image9.png"/><Relationship Id="rId6"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000" b="0">
                <a:solidFill>
                  <a:srgbClr val="006DAE"/>
                </a:solidFill>
                <a:latin typeface="Arial"/>
                <a:ea typeface="Arial"/>
                <a:cs typeface="Arial"/>
              </a:rPr>
              <a:t>Safety and Efficiency of Context-Aware Speed and Separation Monitoring</a:t>
            </a:r>
            <a:br/>
            <a:r>
              <a:rPr sz="2000" b="0">
                <a:solidFill>
                  <a:srgbClr val="006DAE"/>
                </a:solidFill>
                <a:latin typeface="Arial"/>
                <a:ea typeface="Arial"/>
                <a:cs typeface="Arial"/>
              </a:rPr>
              <a:t>in Human–Robot Ceiling-Panel Installation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sp>
        <p:nvSpPr>
          <p:cNvPr id="5" name="Oval 4"/>
          <p:cNvSpPr/>
          <p:nvPr/>
        </p:nvSpPr>
        <p:spPr>
          <a:xfrm>
            <a:off x="7680960" y="1307592"/>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8275320" y="1280160"/>
            <a:ext cx="3337560" cy="1188720"/>
          </a:xfrm>
          <a:prstGeom prst="rect">
            <a:avLst/>
          </a:prstGeom>
          <a:noFill/>
        </p:spPr>
        <p:txBody>
          <a:bodyPr wrap="square" anchor="t" lIns="45720" rIns="45720">
            <a:spAutoFit/>
          </a:bodyPr>
          <a:lstStyle/>
          <a:p>
            <a:pPr algn="l"/>
            <a:r>
              <a:rPr sz="1600" b="1">
                <a:solidFill>
                  <a:srgbClr val="172D3D"/>
                </a:solidFill>
                <a:latin typeface="Arial"/>
              </a:rPr>
              <a:t>Overhead panel work is heavy and awkward</a:t>
            </a:r>
          </a:p>
          <a:p>
            <a:pPr algn="l">
              <a:spcBef>
                <a:spcPts val="855"/>
              </a:spcBef>
            </a:pPr>
            <a:r>
              <a:rPr sz="1600" b="0">
                <a:solidFill>
                  <a:srgbClr val="172D3D"/>
                </a:solidFill>
                <a:latin typeface="Arial"/>
              </a:rPr>
              <a:t>A robot can take the weight.</a:t>
            </a:r>
          </a:p>
        </p:txBody>
      </p:sp>
      <p:sp>
        <p:nvSpPr>
          <p:cNvPr id="7" name="Oval 6"/>
          <p:cNvSpPr/>
          <p:nvPr/>
        </p:nvSpPr>
        <p:spPr>
          <a:xfrm>
            <a:off x="768096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8275320" y="2578608"/>
            <a:ext cx="3337560" cy="1188720"/>
          </a:xfrm>
          <a:prstGeom prst="rect">
            <a:avLst/>
          </a:prstGeom>
          <a:noFill/>
        </p:spPr>
        <p:txBody>
          <a:bodyPr wrap="square" anchor="t" lIns="45720" rIns="45720">
            <a:spAutoFit/>
          </a:bodyPr>
          <a:lstStyle/>
          <a:p>
            <a:pPr algn="l"/>
            <a:r>
              <a:rPr sz="1600" b="1">
                <a:solidFill>
                  <a:srgbClr val="172D3D"/>
                </a:solidFill>
                <a:latin typeface="Arial"/>
              </a:rPr>
              <a:t>So the worker stands next to a moving robot</a:t>
            </a:r>
          </a:p>
          <a:p>
            <a:pPr algn="l">
              <a:spcBef>
                <a:spcPts val="855"/>
              </a:spcBef>
            </a:pPr>
            <a:r>
              <a:rPr sz="1600" b="0">
                <a:solidFill>
                  <a:srgbClr val="172D3D"/>
                </a:solidFill>
                <a:latin typeface="Arial"/>
              </a:rPr>
              <a:t>Safety zones stop it whenever someone is close.</a:t>
            </a:r>
          </a:p>
        </p:txBody>
      </p:sp>
      <p:sp>
        <p:nvSpPr>
          <p:cNvPr id="9" name="Oval 8"/>
          <p:cNvSpPr/>
          <p:nvPr/>
        </p:nvSpPr>
        <p:spPr>
          <a:xfrm>
            <a:off x="7680960" y="4151376"/>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8275320" y="4123944"/>
            <a:ext cx="3337560" cy="1188720"/>
          </a:xfrm>
          <a:prstGeom prst="rect">
            <a:avLst/>
          </a:prstGeom>
          <a:noFill/>
        </p:spPr>
        <p:txBody>
          <a:bodyPr wrap="square" anchor="t" lIns="45720" rIns="45720">
            <a:spAutoFit/>
          </a:bodyPr>
          <a:lstStyle/>
          <a:p>
            <a:pPr algn="l"/>
            <a:r>
              <a:rPr sz="1600" b="1">
                <a:solidFill>
                  <a:srgbClr val="172D3D"/>
                </a:solidFill>
                <a:latin typeface="Arial"/>
              </a:rPr>
              <a:t>Stop too late: injury.</a:t>
            </a:r>
            <a:br/>
            <a:r>
              <a:rPr sz="1600" b="1">
                <a:solidFill>
                  <a:srgbClr val="172D3D"/>
                </a:solidFill>
                <a:latin typeface="Arial"/>
              </a:rPr>
              <a:t>Stop too often: no one uses it.</a:t>
            </a:r>
          </a:p>
          <a:p>
            <a:pPr algn="l">
              <a:spcBef>
                <a:spcPts val="855"/>
              </a:spcBef>
            </a:pPr>
            <a:r>
              <a:rPr sz="1600" b="0">
                <a:solidFill>
                  <a:srgbClr val="172D3D"/>
                </a:solidFill>
                <a:latin typeface="Arial"/>
              </a:rPr>
              <a:t>Crews need it right both ways.</a:t>
            </a:r>
          </a:p>
        </p:txBody>
      </p:sp>
      <p:sp>
        <p:nvSpPr>
          <p:cNvPr id="11" name="Rounded Rectangle 10"/>
          <p:cNvSpPr/>
          <p:nvPr/>
        </p:nvSpPr>
        <p:spPr>
          <a:xfrm>
            <a:off x="548640" y="5175504"/>
            <a:ext cx="11155680" cy="694944"/>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5193792"/>
            <a:ext cx="10881360" cy="658368"/>
          </a:xfrm>
          <a:prstGeom prst="rect">
            <a:avLst/>
          </a:prstGeom>
          <a:noFill/>
        </p:spPr>
        <p:txBody>
          <a:bodyPr wrap="square" anchor="ctr" lIns="45720" rIns="45720">
            <a:spAutoFit/>
          </a:bodyPr>
          <a:lstStyle/>
          <a:p>
            <a:pPr algn="l"/>
            <a:r>
              <a:rPr sz="1800" b="1">
                <a:solidFill>
                  <a:srgbClr val="FFFFFF"/>
                </a:solidFill>
                <a:latin typeface="Arial"/>
              </a:rPr>
              <a:t>Our question: </a:t>
            </a:r>
            <a:r>
              <a:rPr sz="1800" b="0">
                <a:solidFill>
                  <a:srgbClr val="FFFFFF"/>
                </a:solidFill>
                <a:latin typeface="Arial"/>
              </a:rPr>
              <a:t>can a robot that knows the task phase keep workers as safe as fixed zones, and still keep the work efficient?</a:t>
            </a:r>
          </a:p>
        </p:txBody>
      </p:sp>
      <p:pic>
        <p:nvPicPr>
          <p:cNvPr id="13" name="Picture 12" descr="site-ceiling-board.jpg"/>
          <p:cNvPicPr>
            <a:picLocks noChangeAspect="1"/>
          </p:cNvPicPr>
          <p:nvPr/>
        </p:nvPicPr>
        <p:blipFill>
          <a:blip r:embed="rId4"/>
          <a:srcRect l="27734" r="3320" t="7833"/>
          <a:stretch>
            <a:fillRect/>
          </a:stretch>
        </p:blipFill>
        <p:spPr>
          <a:xfrm>
            <a:off x="548640" y="1188720"/>
            <a:ext cx="3200400" cy="3200400"/>
          </a:xfrm>
          <a:prstGeom prst="rect">
            <a:avLst/>
          </a:prstGeom>
        </p:spPr>
      </p:pic>
      <p:sp>
        <p:nvSpPr>
          <p:cNvPr id="14" name="TextBox 13"/>
          <p:cNvSpPr txBox="1"/>
          <p:nvPr/>
        </p:nvSpPr>
        <p:spPr>
          <a:xfrm>
            <a:off x="548640" y="4462272"/>
            <a:ext cx="3200400" cy="640080"/>
          </a:xfrm>
          <a:prstGeom prst="rect">
            <a:avLst/>
          </a:prstGeom>
          <a:noFill/>
        </p:spPr>
        <p:txBody>
          <a:bodyPr wrap="square" anchor="t" lIns="45720" rIns="45720">
            <a:spAutoFit/>
          </a:bodyPr>
          <a:lstStyle/>
          <a:p>
            <a:pPr algn="l"/>
            <a:r>
              <a:rPr sz="1500" b="1">
                <a:solidFill>
                  <a:srgbClr val="006DAE"/>
                </a:solidFill>
                <a:latin typeface="Arial"/>
              </a:rPr>
              <a:t>On site today</a:t>
            </a:r>
          </a:p>
          <a:p>
            <a:pPr algn="l">
              <a:spcBef>
                <a:spcPts val="675"/>
              </a:spcBef>
            </a:pPr>
            <a:r>
              <a:rPr sz="1500" b="0">
                <a:solidFill>
                  <a:srgbClr val="172D3D"/>
                </a:solidFill>
                <a:latin typeface="Arial"/>
              </a:rPr>
              <a:t>A second worker holds the board.</a:t>
            </a:r>
          </a:p>
        </p:txBody>
      </p:sp>
      <p:pic>
        <p:nvPicPr>
          <p:cNvPr id="15" name="Picture 14" descr="image.jpg"/>
          <p:cNvPicPr>
            <a:picLocks noChangeAspect="1"/>
          </p:cNvPicPr>
          <p:nvPr/>
        </p:nvPicPr>
        <p:blipFill>
          <a:blip r:embed="rId2"/>
          <a:srcRect l="10000" b="16667"/>
          <a:stretch>
            <a:fillRect/>
          </a:stretch>
        </p:blipFill>
        <p:spPr>
          <a:xfrm>
            <a:off x="3931920" y="1188720"/>
            <a:ext cx="3200400" cy="3200400"/>
          </a:xfrm>
          <a:prstGeom prst="rect">
            <a:avLst/>
          </a:prstGeom>
        </p:spPr>
      </p:pic>
      <p:sp>
        <p:nvSpPr>
          <p:cNvPr id="16" name="TextBox 15"/>
          <p:cNvSpPr txBox="1"/>
          <p:nvPr/>
        </p:nvSpPr>
        <p:spPr>
          <a:xfrm>
            <a:off x="3931920" y="4462272"/>
            <a:ext cx="3200400" cy="640080"/>
          </a:xfrm>
          <a:prstGeom prst="rect">
            <a:avLst/>
          </a:prstGeom>
          <a:noFill/>
        </p:spPr>
        <p:txBody>
          <a:bodyPr wrap="square" anchor="t" lIns="45720" rIns="45720">
            <a:spAutoFit/>
          </a:bodyPr>
          <a:lstStyle/>
          <a:p>
            <a:pPr algn="l"/>
            <a:r>
              <a:rPr sz="1500" b="1">
                <a:solidFill>
                  <a:srgbClr val="006DAE"/>
                </a:solidFill>
                <a:latin typeface="Arial"/>
              </a:rPr>
              <a:t>In our lab</a:t>
            </a:r>
          </a:p>
          <a:p>
            <a:pPr algn="l">
              <a:spcBef>
                <a:spcPts val="675"/>
              </a:spcBef>
            </a:pPr>
            <a:r>
              <a:rPr sz="1500" b="0">
                <a:solidFill>
                  <a:srgbClr val="172D3D"/>
                </a:solidFill>
                <a:latin typeface="Arial"/>
              </a:rPr>
              <a:t>The robot holds the panel.</a:t>
            </a:r>
          </a:p>
        </p:txBody>
      </p:sp>
      <p:sp>
        <p:nvSpPr>
          <p:cNvPr id="17" name="TextBox 16"/>
          <p:cNvSpPr txBox="1"/>
          <p:nvPr/>
        </p:nvSpPr>
        <p:spPr>
          <a:xfrm>
            <a:off x="548640" y="4535424"/>
            <a:ext cx="3200400" cy="201168"/>
          </a:xfrm>
          <a:prstGeom prst="rect">
            <a:avLst/>
          </a:prstGeom>
          <a:noFill/>
        </p:spPr>
        <p:txBody>
          <a:bodyPr wrap="square" anchor="t" lIns="45720" rIns="45720">
            <a:spAutoFit/>
          </a:bodyPr>
          <a:lstStyle/>
          <a:p>
            <a:pPr algn="r"/>
            <a:r>
              <a:rPr sz="900" b="0">
                <a:solidFill>
                  <a:srgbClr val="536B79"/>
                </a:solidFill>
                <a:latin typeface="Arial"/>
              </a:rPr>
              <a:t>Photo: Qole Pejorian, CC BY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we built: the console and the trained model</a:t>
            </a:r>
          </a:p>
        </p:txBody>
      </p:sp>
      <p:sp>
        <p:nvSpPr>
          <p:cNvPr id="5" name="TextBox 4"/>
          <p:cNvSpPr txBox="1"/>
          <p:nvPr/>
        </p:nvSpPr>
        <p:spPr>
          <a:xfrm>
            <a:off x="548640" y="4773168"/>
            <a:ext cx="5534712" cy="1097280"/>
          </a:xfrm>
          <a:prstGeom prst="rect">
            <a:avLst/>
          </a:prstGeom>
          <a:noFill/>
        </p:spPr>
        <p:txBody>
          <a:bodyPr wrap="square" anchor="t" lIns="45720" rIns="45720">
            <a:spAutoFit/>
          </a:bodyPr>
          <a:lstStyle/>
          <a:p>
            <a:pPr algn="l"/>
            <a:r>
              <a:rPr sz="1600" b="1">
                <a:solidFill>
                  <a:srgbClr val="172D3D"/>
                </a:solidFill>
                <a:latin typeface="Arial"/>
              </a:rPr>
              <a:t>Our operator console</a:t>
            </a:r>
          </a:p>
          <a:p>
            <a:pPr algn="l">
              <a:spcBef>
                <a:spcPts val="720"/>
              </a:spcBef>
            </a:pPr>
            <a:r>
              <a:rPr sz="1600" b="0">
                <a:solidFill>
                  <a:srgbClr val="172D3D"/>
                </a:solidFill>
                <a:latin typeface="Arial"/>
              </a:rPr>
              <a:t>Runs every session: checks the sensors, assigns the controller, records everything.</a:t>
            </a:r>
          </a:p>
        </p:txBody>
      </p:sp>
      <p:sp>
        <p:nvSpPr>
          <p:cNvPr id="6" name="TextBox 5"/>
          <p:cNvSpPr txBox="1"/>
          <p:nvPr/>
        </p:nvSpPr>
        <p:spPr>
          <a:xfrm>
            <a:off x="6537960" y="4773168"/>
            <a:ext cx="5166360" cy="1097280"/>
          </a:xfrm>
          <a:prstGeom prst="rect">
            <a:avLst/>
          </a:prstGeom>
          <a:noFill/>
        </p:spPr>
        <p:txBody>
          <a:bodyPr wrap="square" anchor="t" lIns="45720" rIns="45720">
            <a:spAutoFit/>
          </a:bodyPr>
          <a:lstStyle/>
          <a:p>
            <a:pPr algn="l"/>
            <a:r>
              <a:rPr sz="1600" b="1">
                <a:solidFill>
                  <a:srgbClr val="172D3D"/>
                </a:solidFill>
                <a:latin typeface="Arial"/>
              </a:rPr>
              <a:t>Our trained phase model on a new person</a:t>
            </a:r>
          </a:p>
          <a:p>
            <a:pPr algn="l">
              <a:spcBef>
                <a:spcPts val="720"/>
              </a:spcBef>
            </a:pPr>
            <a:r>
              <a:rPr sz="1600" b="0">
                <a:solidFill>
                  <a:srgbClr val="172D3D"/>
                </a:solidFill>
                <a:latin typeface="Arial"/>
              </a:rPr>
              <a:t>Upper bar: what they were doing. Lower bar: what the model said, live.</a:t>
            </a:r>
          </a:p>
        </p:txBody>
      </p:sp>
      <p:sp>
        <p:nvSpPr>
          <p:cNvPr id="7" name="TextBox 6"/>
          <p:cNvSpPr txBox="1"/>
          <p:nvPr/>
        </p:nvSpPr>
        <p:spPr>
          <a:xfrm>
            <a:off x="548640" y="5669280"/>
            <a:ext cx="11064240" cy="457200"/>
          </a:xfrm>
          <a:prstGeom prst="rect">
            <a:avLst/>
          </a:prstGeom>
          <a:noFill/>
        </p:spPr>
        <p:txBody>
          <a:bodyPr wrap="square" anchor="t" lIns="45720" rIns="45720">
            <a:spAutoFit/>
          </a:bodyPr>
          <a:lstStyle/>
          <a:p>
            <a:pPr algn="l"/>
            <a:r>
              <a:rPr sz="1500" b="0">
                <a:solidFill>
                  <a:srgbClr val="536B79"/>
                </a:solidFill>
                <a:latin typeface="Arial"/>
              </a:rPr>
              <a:t>Built and trained by the team: 32 labelled trials, about 90,000 motion frames, open on GitHub.</a:t>
            </a:r>
          </a:p>
        </p:txBody>
      </p:sp>
      <p:sp>
        <p:nvSpPr>
          <p:cNvPr id="8" name="TextBox 7"/>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pic>
        <p:nvPicPr>
          <p:cNvPr id="9" name="Picture 8" descr="dashboard-console-ready.png"/>
          <p:cNvPicPr>
            <a:picLocks noChangeAspect="1"/>
          </p:cNvPicPr>
          <p:nvPr/>
        </p:nvPicPr>
        <p:blipFill>
          <a:blip r:embed="rId5"/>
          <a:stretch>
            <a:fillRect/>
          </a:stretch>
        </p:blipFill>
        <p:spPr>
          <a:xfrm>
            <a:off x="548640" y="1188720"/>
            <a:ext cx="5534712" cy="3520440"/>
          </a:xfrm>
          <a:prstGeom prst="rect">
            <a:avLst/>
          </a:prstGeom>
          <a:ln w="9525">
            <a:solidFill>
              <a:srgbClr val="536B79"/>
            </a:solidFill>
          </a:ln>
        </p:spPr>
      </p:pic>
      <p:pic>
        <p:nvPicPr>
          <p:cNvPr id="10" name="Picture 9" descr="held-out-trial-slide.png"/>
          <p:cNvPicPr>
            <a:picLocks noChangeAspect="1"/>
          </p:cNvPicPr>
          <p:nvPr/>
        </p:nvPicPr>
        <p:blipFill>
          <a:blip r:embed="rId6"/>
          <a:stretch>
            <a:fillRect/>
          </a:stretch>
        </p:blipFill>
        <p:spPr>
          <a:xfrm>
            <a:off x="6537960" y="1188720"/>
            <a:ext cx="5166360" cy="3520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pic>
        <p:nvPicPr>
          <p:cNvPr id="4" name="Picture 3" descr="apparatus-a.jpg"/>
          <p:cNvPicPr>
            <a:picLocks noChangeAspect="1"/>
          </p:cNvPicPr>
          <p:nvPr/>
        </p:nvPicPr>
        <p:blipFill>
          <a:blip r:embed="rId2"/>
          <a:srcRect l="28333" r="22750"/>
          <a:stretch>
            <a:fillRect/>
          </a:stretch>
        </p:blipFill>
        <p:spPr>
          <a:xfrm>
            <a:off x="7726679" y="1234440"/>
            <a:ext cx="4023360" cy="4626521"/>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one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tracks the motion of all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pic>
        <p:nvPicPr>
          <p:cNvPr id="11" name="clip-approach-xsens.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548640" y="1234440"/>
            <a:ext cx="6675120" cy="3754755"/>
          </a:xfrm>
          <a:prstGeom prst="rect">
            <a:avLst/>
          </a:prstGeom>
        </p:spPr>
      </p:pic>
      <p:sp>
        <p:nvSpPr>
          <p:cNvPr id="12" name="Rounded Rectangle 11"/>
          <p:cNvSpPr/>
          <p:nvPr/>
        </p:nvSpPr>
        <p:spPr>
          <a:xfrm>
            <a:off x="4736592" y="4498848"/>
            <a:ext cx="2377440" cy="384048"/>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91456" y="4526280"/>
            <a:ext cx="2286000" cy="347472"/>
          </a:xfrm>
          <a:prstGeom prst="rect">
            <a:avLst/>
          </a:prstGeom>
          <a:noFill/>
        </p:spPr>
        <p:txBody>
          <a:bodyPr wrap="square" anchor="t" lIns="45720" rIns="45720">
            <a:spAutoFit/>
          </a:bodyPr>
          <a:lstStyle/>
          <a:p>
            <a:pPr algn="l"/>
            <a:r>
              <a:rPr sz="1300" b="1">
                <a:solidFill>
                  <a:srgbClr val="FFFFFF"/>
                </a:solidFill>
                <a:latin typeface="Arial"/>
              </a:rPr>
              <a:t>▶  Video: click to play (16 s)</a:t>
            </a:r>
          </a:p>
        </p:txBody>
      </p:sp>
      <p:sp>
        <p:nvSpPr>
          <p:cNvPr id="14" name="Oval 13"/>
          <p:cNvSpPr/>
          <p:nvPr/>
        </p:nvSpPr>
        <p:spPr>
          <a:xfrm>
            <a:off x="9748641" y="1611415"/>
            <a:ext cx="274164" cy="274164"/>
          </a:xfrm>
          <a:prstGeom prst="ellipse">
            <a:avLst/>
          </a:prstGeom>
          <a:noFill/>
          <a:ln w="38100">
            <a:solidFill>
              <a:srgbClr val="FFB8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869680" y="1662822"/>
            <a:ext cx="879445" cy="74157"/>
          </a:xfrm>
          <a:prstGeom prst="line">
            <a:avLst/>
          </a:prstGeom>
          <a:ln w="31750">
            <a:solidFill>
              <a:srgbClr val="FFB81C"/>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818120" y="1325880"/>
            <a:ext cx="1051560" cy="585216"/>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18120" y="1325880"/>
            <a:ext cx="1051560" cy="585216"/>
          </a:xfrm>
          <a:prstGeom prst="rect">
            <a:avLst/>
          </a:prstGeom>
          <a:noFill/>
        </p:spPr>
        <p:txBody>
          <a:bodyPr wrap="none" anchor="ctr" lIns="45720" rIns="45720">
            <a:spAutoFit/>
          </a:bodyPr>
          <a:lstStyle/>
          <a:p>
            <a:pPr algn="ctr"/>
            <a:r>
              <a:rPr sz="1500" b="1">
                <a:solidFill>
                  <a:srgbClr val="FFFFFF"/>
                </a:solidFill>
                <a:latin typeface="Arial"/>
              </a:rPr>
              <a:t>OptiTrack</a:t>
            </a:r>
            <a:br/>
            <a:r>
              <a:rPr sz="1500" b="1">
                <a:solidFill>
                  <a:srgbClr val="FFFFFF"/>
                </a:solidFill>
                <a:latin typeface="Arial"/>
              </a:rPr>
              <a:t>camera</a:t>
            </a:r>
          </a:p>
        </p:txBody>
      </p:sp>
      <p:sp>
        <p:nvSpPr>
          <p:cNvPr id="18" name="Oval 17"/>
          <p:cNvSpPr/>
          <p:nvPr/>
        </p:nvSpPr>
        <p:spPr>
          <a:xfrm>
            <a:off x="9769203" y="3516857"/>
            <a:ext cx="712826" cy="712826"/>
          </a:xfrm>
          <a:prstGeom prst="ellipse">
            <a:avLst/>
          </a:prstGeom>
          <a:noFill/>
          <a:ln w="38100">
            <a:solidFill>
              <a:srgbClr val="FFB8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8915400" y="3819249"/>
            <a:ext cx="854158" cy="38128"/>
          </a:xfrm>
          <a:prstGeom prst="line">
            <a:avLst/>
          </a:prstGeom>
          <a:ln w="31750">
            <a:solidFill>
              <a:srgbClr val="FFB81C"/>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3611880"/>
            <a:ext cx="1097280" cy="36576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20" y="3611880"/>
            <a:ext cx="1097280" cy="365760"/>
          </a:xfrm>
          <a:prstGeom prst="rect">
            <a:avLst/>
          </a:prstGeom>
          <a:noFill/>
        </p:spPr>
        <p:txBody>
          <a:bodyPr wrap="none" anchor="ctr" lIns="45720" rIns="45720">
            <a:spAutoFit/>
          </a:bodyPr>
          <a:lstStyle/>
          <a:p>
            <a:pPr algn="ctr"/>
            <a:r>
              <a:rPr sz="1500" b="1">
                <a:solidFill>
                  <a:srgbClr val="FFFFFF"/>
                </a:solidFill>
                <a:latin typeface="Arial"/>
              </a:rPr>
              <a:t>Xsens suit</a:t>
            </a:r>
          </a:p>
        </p:txBody>
      </p:sp>
      <p:sp>
        <p:nvSpPr>
          <p:cNvPr id="22" name="Oval 21"/>
          <p:cNvSpPr/>
          <p:nvPr/>
        </p:nvSpPr>
        <p:spPr>
          <a:xfrm>
            <a:off x="10125616" y="2461324"/>
            <a:ext cx="548328" cy="548328"/>
          </a:xfrm>
          <a:prstGeom prst="ellipse">
            <a:avLst/>
          </a:prstGeom>
          <a:noFill/>
          <a:ln w="38100">
            <a:solidFill>
              <a:srgbClr val="FFB8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10598753" y="2924105"/>
            <a:ext cx="339694" cy="322015"/>
          </a:xfrm>
          <a:prstGeom prst="line">
            <a:avLst/>
          </a:prstGeom>
          <a:ln w="31750">
            <a:solidFill>
              <a:srgbClr val="FFB81C"/>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771632" y="3246120"/>
            <a:ext cx="950976" cy="585216"/>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71632" y="3246120"/>
            <a:ext cx="950976" cy="585216"/>
          </a:xfrm>
          <a:prstGeom prst="rect">
            <a:avLst/>
          </a:prstGeom>
          <a:noFill/>
        </p:spPr>
        <p:txBody>
          <a:bodyPr wrap="none" anchor="ctr" lIns="45720" rIns="45720">
            <a:spAutoFit/>
          </a:bodyPr>
          <a:lstStyle/>
          <a:p>
            <a:pPr algn="ctr"/>
            <a:r>
              <a:rPr sz="1500" b="1">
                <a:solidFill>
                  <a:srgbClr val="FFFFFF"/>
                </a:solidFill>
                <a:latin typeface="Arial"/>
              </a:rPr>
              <a:t>UR10</a:t>
            </a:r>
            <a:br/>
            <a:r>
              <a:rPr sz="1500" b="1">
                <a:solidFill>
                  <a:srgbClr val="FFFFFF"/>
                </a:solidFill>
                <a:latin typeface="Arial"/>
              </a:rPr>
              <a:t>robot arm</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
        <p:nvSpPr>
          <p:cNvPr id="10" name="Rounded Rectangle 9"/>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as safe?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perceived equally as safe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stop (max 0.23 s)</a:t>
            </a:r>
          </a:p>
        </p:txBody>
      </p:sp>
      <p:sp>
        <p:nvSpPr>
          <p:cNvPr id="11" name="Rounded Rectangle 10"/>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still efficient?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
        <p:nvSpPr>
          <p:cNvPr id="8" name="Rounded Rectangle 7"/>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where is the real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40"/>
            <a:ext cx="5097779"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2" name="Rounded Rectangle 11"/>
          <p:cNvSpPr/>
          <p:nvPr/>
        </p:nvSpPr>
        <p:spPr>
          <a:xfrm>
            <a:off x="6240779"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3749040"/>
            <a:ext cx="5097779"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12</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