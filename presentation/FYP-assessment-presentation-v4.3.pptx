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We acknowledge the Traditional Owners of the land we are meeting on, and pay our respects to their Elders.</a:t>
            </a:r>
          </a:p>
          <a:p xmlns:a="http://schemas.openxmlformats.org/drawingml/2006/main"/>
          <a:p xmlns:a="http://schemas.openxmlformats.org/drawingml/2006/main">
            <a:r>
              <a:t>I am Zenan, and with Luke and Michael I will present our project: a context-aware safety system that lets a collaborative robot recognise what a construction worker is doing, so it can keep them safe without stopping unnecessarily. I will introduce the problem and our system, Michael will present our testing and results, and Luke will cover project management and use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requires workers to hold heavy boards overhead. On a typical site, on the left, one person simply holds the board while another fixes it. In our laboratory, beside it, a collaborative robot does the holding.</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so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methodological decision was to log every sensor input. This allowed us to replay all three controllers on identical movement data, much like three referees reviewing the same match footage,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I positioned the robot and built the PVC pipe structure shown here.</a:t>
            </a:r>
          </a:p>
          <a:p/>
          <a:p>
            <a:r>
              <a:t>The UR10 arm raises a panel substitute to ceiling height and holds it while the participant works beneath it. Cameras on the frame track the participant's head to about one millimetre, and the motion-capture suit records 23 body segments. [Click the video.] This clip shows a participant approaching while the suit streams their movement to the controller. The controller reads these data about sixty times per second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Under all three, the robot was stopped for about one third of every trial,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laboratory staff and our supervisors, Yihai and Will. We planned four stages: design and simulation in July, building and pilot testing the rig in August, twelve participant sessions in September, and analysis and writing in October.</a:t>
            </a:r>
          </a:p>
          <a:p/>
          <a:p>
            <a:r>
              <a:t>Three setbacks shaped the project. First, some sessions were restarted under a new participant ID, so we matched sessions to participants using the recorded data. Second, the distance reference changed midway through testing, so we analysed the two versions separately and replayed the exact code that had run. Third, our paper was initially too technical, so we rewrote it for a broader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0:45</a:t>
            </a:r>
          </a:p>
          <a:p/>
          <a:p>
            <a:r>
              <a:t>Moving from the laboratory to a site introduces real constraints. For safety, this is a research prototype running on the robot's standard speed controls, not a certified safety function, and we would allow half a second to react. For cost, the cameras and suits require calibration, maintenance and training for every crew, weighed against the labour saved. For health, it removes overhead lifting from workers, and participants rated the suit as only mildly restrictive. 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My contribution was the software. On the left is the operator console we developed to run each session. It verifies every sensor, assigns the controller, and records both the robot and the participant.</a:t>
            </a:r>
          </a:p>
          <a:p/>
          <a:p>
            <a:r>
              <a:t>On the right is our trained phase model, tested on a participant it never saw. The upper bar shows what the participant was actually doing, and the lower bar shows the model's live prediction. It tracks the long working phase closely and is least certain at the transitions.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 Id="rId5" Type="http://schemas.openxmlformats.org/officeDocument/2006/relationships/image" Target="../media/image9.png"/><Relationship Id="rId6"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000" b="0">
                <a:solidFill>
                  <a:srgbClr val="006DAE"/>
                </a:solidFill>
                <a:latin typeface="Arial"/>
                <a:ea typeface="Arial"/>
                <a:cs typeface="Arial"/>
              </a:rPr>
              <a:t>Safety and Efficiency of Context-Aware Speed and Separation Monitoring</a:t>
            </a:r>
            <a:br/>
            <a:r>
              <a:rPr sz="2000" b="0">
                <a:solidFill>
                  <a:srgbClr val="006DAE"/>
                </a:solidFill>
                <a:latin typeface="Arial"/>
                <a:ea typeface="Arial"/>
                <a:cs typeface="Arial"/>
              </a:rPr>
              <a:t>in 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sp>
        <p:nvSpPr>
          <p:cNvPr id="5" name="Oval 4"/>
          <p:cNvSpPr/>
          <p:nvPr/>
        </p:nvSpPr>
        <p:spPr>
          <a:xfrm>
            <a:off x="7680960" y="1307592"/>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8275320" y="1280160"/>
            <a:ext cx="3337560" cy="1188720"/>
          </a:xfrm>
          <a:prstGeom prst="rect">
            <a:avLst/>
          </a:prstGeom>
          <a:noFill/>
        </p:spPr>
        <p:txBody>
          <a:bodyPr wrap="square" anchor="t" lIns="45720" rIns="45720">
            <a:spAutoFit/>
          </a:bodyPr>
          <a:lstStyle/>
          <a:p>
            <a:pPr algn="l"/>
            <a:r>
              <a:rPr sz="1600" b="1">
                <a:solidFill>
                  <a:srgbClr val="172D3D"/>
                </a:solidFill>
                <a:latin typeface="Arial"/>
              </a:rPr>
              <a:t>Overhead panel work is heavy and awkward</a:t>
            </a:r>
          </a:p>
          <a:p>
            <a:pPr algn="l">
              <a:spcBef>
                <a:spcPts val="855"/>
              </a:spcBef>
            </a:pPr>
            <a:r>
              <a:rPr sz="1600" b="0">
                <a:solidFill>
                  <a:srgbClr val="172D3D"/>
                </a:solidFill>
                <a:latin typeface="Arial"/>
              </a:rPr>
              <a:t>A robot can take the weight.</a:t>
            </a:r>
          </a:p>
        </p:txBody>
      </p:sp>
      <p:sp>
        <p:nvSpPr>
          <p:cNvPr id="7" name="Oval 6"/>
          <p:cNvSpPr/>
          <p:nvPr/>
        </p:nvSpPr>
        <p:spPr>
          <a:xfrm>
            <a:off x="768096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8275320" y="2578608"/>
            <a:ext cx="3337560" cy="1188720"/>
          </a:xfrm>
          <a:prstGeom prst="rect">
            <a:avLst/>
          </a:prstGeom>
          <a:noFill/>
        </p:spPr>
        <p:txBody>
          <a:bodyPr wrap="square" anchor="t" lIns="45720" rIns="45720">
            <a:spAutoFit/>
          </a:bodyPr>
          <a:lstStyle/>
          <a:p>
            <a:pPr algn="l"/>
            <a:r>
              <a:rPr sz="1600" b="1">
                <a:solidFill>
                  <a:srgbClr val="172D3D"/>
                </a:solidFill>
                <a:latin typeface="Arial"/>
              </a:rPr>
              <a:t>So the worker stands next to a moving robot</a:t>
            </a:r>
          </a:p>
          <a:p>
            <a:pPr algn="l">
              <a:spcBef>
                <a:spcPts val="855"/>
              </a:spcBef>
            </a:pPr>
            <a:r>
              <a:rPr sz="1600" b="0">
                <a:solidFill>
                  <a:srgbClr val="172D3D"/>
                </a:solidFill>
                <a:latin typeface="Arial"/>
              </a:rPr>
              <a:t>Safety zones stop it whenever someone is close.</a:t>
            </a:r>
          </a:p>
        </p:txBody>
      </p:sp>
      <p:sp>
        <p:nvSpPr>
          <p:cNvPr id="9" name="Oval 8"/>
          <p:cNvSpPr/>
          <p:nvPr/>
        </p:nvSpPr>
        <p:spPr>
          <a:xfrm>
            <a:off x="7680960" y="4151376"/>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8275320" y="4123944"/>
            <a:ext cx="3337560" cy="1188720"/>
          </a:xfrm>
          <a:prstGeom prst="rect">
            <a:avLst/>
          </a:prstGeom>
          <a:noFill/>
        </p:spPr>
        <p:txBody>
          <a:bodyPr wrap="square" anchor="t" lIns="45720" rIns="45720">
            <a:spAutoFit/>
          </a:bodyPr>
          <a:lstStyle/>
          <a:p>
            <a:pPr algn="l"/>
            <a:r>
              <a:rPr sz="1600" b="1">
                <a:solidFill>
                  <a:srgbClr val="172D3D"/>
                </a:solidFill>
                <a:latin typeface="Arial"/>
              </a:rPr>
              <a:t>Stop too late: injury.</a:t>
            </a:r>
            <a:br/>
            <a:r>
              <a:rPr sz="1600" b="1">
                <a:solidFill>
                  <a:srgbClr val="172D3D"/>
                </a:solidFill>
                <a:latin typeface="Arial"/>
              </a:rPr>
              <a:t>Stop too often: no one uses it.</a:t>
            </a:r>
          </a:p>
          <a:p>
            <a:pPr algn="l">
              <a:spcBef>
                <a:spcPts val="855"/>
              </a:spcBef>
            </a:pPr>
            <a:r>
              <a:rPr sz="1600" b="0">
                <a:solidFill>
                  <a:srgbClr val="172D3D"/>
                </a:solidFill>
                <a:latin typeface="Arial"/>
              </a:rPr>
              <a:t>Crews need it right both ways.</a:t>
            </a:r>
          </a:p>
        </p:txBody>
      </p:sp>
      <p:sp>
        <p:nvSpPr>
          <p:cNvPr id="11" name="Rounded Rectangle 10"/>
          <p:cNvSpPr/>
          <p:nvPr/>
        </p:nvSpPr>
        <p:spPr>
          <a:xfrm>
            <a:off x="548640" y="5175504"/>
            <a:ext cx="11155680" cy="694944"/>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193792"/>
            <a:ext cx="10881360" cy="658368"/>
          </a:xfrm>
          <a:prstGeom prst="rect">
            <a:avLst/>
          </a:prstGeom>
          <a:noFill/>
        </p:spPr>
        <p:txBody>
          <a:bodyPr wrap="square" anchor="ctr" lIns="45720" rIns="45720">
            <a:spAutoFit/>
          </a:bodyPr>
          <a:lstStyle/>
          <a:p>
            <a:pPr algn="l"/>
            <a:r>
              <a:rPr sz="1800" b="1">
                <a:solidFill>
                  <a:srgbClr val="FFFFFF"/>
                </a:solidFill>
                <a:latin typeface="Arial"/>
              </a:rPr>
              <a:t>Our question: </a:t>
            </a:r>
            <a:r>
              <a:rPr sz="1800" b="0">
                <a:solidFill>
                  <a:srgbClr val="FFFFFF"/>
                </a:solidFill>
                <a:latin typeface="Arial"/>
              </a:rPr>
              <a:t>can a robot that knows the task phase keep workers as safe as fixed zones, and still keep the work efficient?</a:t>
            </a:r>
          </a:p>
        </p:txBody>
      </p:sp>
      <p:pic>
        <p:nvPicPr>
          <p:cNvPr id="13" name="Picture 12" descr="site-ceiling-board.jpg"/>
          <p:cNvPicPr>
            <a:picLocks noChangeAspect="1"/>
          </p:cNvPicPr>
          <p:nvPr/>
        </p:nvPicPr>
        <p:blipFill>
          <a:blip r:embed="rId4"/>
          <a:srcRect l="27734" r="3320" t="7833"/>
          <a:stretch>
            <a:fillRect/>
          </a:stretch>
        </p:blipFill>
        <p:spPr>
          <a:xfrm>
            <a:off x="548640" y="1188720"/>
            <a:ext cx="3200400" cy="3200400"/>
          </a:xfrm>
          <a:prstGeom prst="rect">
            <a:avLst/>
          </a:prstGeom>
        </p:spPr>
      </p:pic>
      <p:sp>
        <p:nvSpPr>
          <p:cNvPr id="14" name="TextBox 13"/>
          <p:cNvSpPr txBox="1"/>
          <p:nvPr/>
        </p:nvSpPr>
        <p:spPr>
          <a:xfrm>
            <a:off x="548640" y="4462272"/>
            <a:ext cx="3200400" cy="640080"/>
          </a:xfrm>
          <a:prstGeom prst="rect">
            <a:avLst/>
          </a:prstGeom>
          <a:noFill/>
        </p:spPr>
        <p:txBody>
          <a:bodyPr wrap="square" anchor="t" lIns="45720" rIns="45720">
            <a:spAutoFit/>
          </a:bodyPr>
          <a:lstStyle/>
          <a:p>
            <a:pPr algn="l"/>
            <a:r>
              <a:rPr sz="1500" b="1">
                <a:solidFill>
                  <a:srgbClr val="006DAE"/>
                </a:solidFill>
                <a:latin typeface="Arial"/>
              </a:rPr>
              <a:t>On site today</a:t>
            </a:r>
          </a:p>
          <a:p>
            <a:pPr algn="l">
              <a:spcBef>
                <a:spcPts val="675"/>
              </a:spcBef>
            </a:pPr>
            <a:r>
              <a:rPr sz="1500" b="0">
                <a:solidFill>
                  <a:srgbClr val="172D3D"/>
                </a:solidFill>
                <a:latin typeface="Arial"/>
              </a:rPr>
              <a:t>A second worker holds the board.</a:t>
            </a:r>
          </a:p>
        </p:txBody>
      </p:sp>
      <p:pic>
        <p:nvPicPr>
          <p:cNvPr id="15" name="Picture 14" descr="image.jpg"/>
          <p:cNvPicPr>
            <a:picLocks noChangeAspect="1"/>
          </p:cNvPicPr>
          <p:nvPr/>
        </p:nvPicPr>
        <p:blipFill>
          <a:blip r:embed="rId2"/>
          <a:srcRect l="10000" b="16667"/>
          <a:stretch>
            <a:fillRect/>
          </a:stretch>
        </p:blipFill>
        <p:spPr>
          <a:xfrm>
            <a:off x="3931920" y="1188720"/>
            <a:ext cx="3200400" cy="3200400"/>
          </a:xfrm>
          <a:prstGeom prst="rect">
            <a:avLst/>
          </a:prstGeom>
        </p:spPr>
      </p:pic>
      <p:sp>
        <p:nvSpPr>
          <p:cNvPr id="16" name="TextBox 15"/>
          <p:cNvSpPr txBox="1"/>
          <p:nvPr/>
        </p:nvSpPr>
        <p:spPr>
          <a:xfrm>
            <a:off x="3931920" y="4462272"/>
            <a:ext cx="3200400" cy="640080"/>
          </a:xfrm>
          <a:prstGeom prst="rect">
            <a:avLst/>
          </a:prstGeom>
          <a:noFill/>
        </p:spPr>
        <p:txBody>
          <a:bodyPr wrap="square" anchor="t" lIns="45720" rIns="45720">
            <a:spAutoFit/>
          </a:bodyPr>
          <a:lstStyle/>
          <a:p>
            <a:pPr algn="l"/>
            <a:r>
              <a:rPr sz="1500" b="1">
                <a:solidFill>
                  <a:srgbClr val="006DAE"/>
                </a:solidFill>
                <a:latin typeface="Arial"/>
              </a:rPr>
              <a:t>In our lab</a:t>
            </a:r>
          </a:p>
          <a:p>
            <a:pPr algn="l">
              <a:spcBef>
                <a:spcPts val="675"/>
              </a:spcBef>
            </a:pPr>
            <a:r>
              <a:rPr sz="1500" b="0">
                <a:solidFill>
                  <a:srgbClr val="172D3D"/>
                </a:solidFill>
                <a:latin typeface="Arial"/>
              </a:rPr>
              <a:t>The robot holds the panel.</a:t>
            </a:r>
          </a:p>
        </p:txBody>
      </p:sp>
      <p:sp>
        <p:nvSpPr>
          <p:cNvPr id="17" name="TextBox 16"/>
          <p:cNvSpPr txBox="1"/>
          <p:nvPr/>
        </p:nvSpPr>
        <p:spPr>
          <a:xfrm>
            <a:off x="548640" y="4535424"/>
            <a:ext cx="3200400" cy="201168"/>
          </a:xfrm>
          <a:prstGeom prst="rect">
            <a:avLst/>
          </a:prstGeom>
          <a:noFill/>
        </p:spPr>
        <p:txBody>
          <a:bodyPr wrap="square" anchor="t" lIns="45720" rIns="45720">
            <a:spAutoFit/>
          </a:bodyPr>
          <a:lstStyle/>
          <a:p>
            <a:pPr algn="r"/>
            <a:r>
              <a:rPr sz="900" b="0">
                <a:solidFill>
                  <a:srgbClr val="536B79"/>
                </a:solidFill>
                <a:latin typeface="Arial"/>
              </a:rPr>
              <a:t>Photo: Qole Pejorian, CC BY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sp>
        <p:nvSpPr>
          <p:cNvPr id="5" name="TextBox 4"/>
          <p:cNvSpPr txBox="1"/>
          <p:nvPr/>
        </p:nvSpPr>
        <p:spPr>
          <a:xfrm>
            <a:off x="548640" y="4773168"/>
            <a:ext cx="5534712"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6537960" y="4773168"/>
            <a:ext cx="516636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Upper bar: what they were doing. Lower bar: what the model said, live.</a:t>
            </a:r>
          </a:p>
        </p:txBody>
      </p:sp>
      <p:sp>
        <p:nvSpPr>
          <p:cNvPr id="7" name="TextBox 6"/>
          <p:cNvSpPr txBox="1"/>
          <p:nvPr/>
        </p:nvSpPr>
        <p:spPr>
          <a:xfrm>
            <a:off x="548640" y="56692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pic>
        <p:nvPicPr>
          <p:cNvPr id="9" name="Picture 8" descr="dashboard-console-ready.png"/>
          <p:cNvPicPr>
            <a:picLocks noChangeAspect="1"/>
          </p:cNvPicPr>
          <p:nvPr/>
        </p:nvPicPr>
        <p:blipFill>
          <a:blip r:embed="rId5"/>
          <a:stretch>
            <a:fillRect/>
          </a:stretch>
        </p:blipFill>
        <p:spPr>
          <a:xfrm>
            <a:off x="548640" y="1188720"/>
            <a:ext cx="5534712" cy="3520440"/>
          </a:xfrm>
          <a:prstGeom prst="rect">
            <a:avLst/>
          </a:prstGeom>
          <a:ln w="9525">
            <a:solidFill>
              <a:srgbClr val="536B79"/>
            </a:solidFill>
          </a:ln>
        </p:spPr>
      </p:pic>
      <p:pic>
        <p:nvPicPr>
          <p:cNvPr id="10" name="Picture 9" descr="held-out-trial-slide.png"/>
          <p:cNvPicPr>
            <a:picLocks noChangeAspect="1"/>
          </p:cNvPicPr>
          <p:nvPr/>
        </p:nvPicPr>
        <p:blipFill>
          <a:blip r:embed="rId6"/>
          <a:stretch>
            <a:fillRect/>
          </a:stretch>
        </p:blipFill>
        <p:spPr>
          <a:xfrm>
            <a:off x="6537960" y="1188720"/>
            <a:ext cx="5166360" cy="3520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rcRect l="28333" r="22750"/>
          <a:stretch>
            <a:fillRect/>
          </a:stretch>
        </p:blipFill>
        <p:spPr>
          <a:xfrm>
            <a:off x="7726679" y="1234440"/>
            <a:ext cx="4023360" cy="4626521"/>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one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tracks the motion of all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4736592" y="449884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1456" y="452628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
        <p:nvSpPr>
          <p:cNvPr id="14" name="Oval 13"/>
          <p:cNvSpPr/>
          <p:nvPr/>
        </p:nvSpPr>
        <p:spPr>
          <a:xfrm>
            <a:off x="9748641" y="1611415"/>
            <a:ext cx="274164" cy="274164"/>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869680" y="1662822"/>
            <a:ext cx="879445" cy="74157"/>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818120" y="1325880"/>
            <a:ext cx="1051560" cy="585216"/>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8120" y="1325880"/>
            <a:ext cx="1051560" cy="585216"/>
          </a:xfrm>
          <a:prstGeom prst="rect">
            <a:avLst/>
          </a:prstGeom>
          <a:noFill/>
        </p:spPr>
        <p:txBody>
          <a:bodyPr wrap="none" anchor="ctr" lIns="45720" rIns="45720">
            <a:spAutoFit/>
          </a:bodyPr>
          <a:lstStyle/>
          <a:p>
            <a:pPr algn="ctr"/>
            <a:r>
              <a:rPr sz="1500" b="1">
                <a:solidFill>
                  <a:srgbClr val="FFFFFF"/>
                </a:solidFill>
                <a:latin typeface="Arial"/>
              </a:rPr>
              <a:t>OptiTrack</a:t>
            </a:r>
            <a:br/>
            <a:r>
              <a:rPr sz="1500" b="1">
                <a:solidFill>
                  <a:srgbClr val="FFFFFF"/>
                </a:solidFill>
                <a:latin typeface="Arial"/>
              </a:rPr>
              <a:t>camera</a:t>
            </a:r>
          </a:p>
        </p:txBody>
      </p:sp>
      <p:sp>
        <p:nvSpPr>
          <p:cNvPr id="18" name="Oval 17"/>
          <p:cNvSpPr/>
          <p:nvPr/>
        </p:nvSpPr>
        <p:spPr>
          <a:xfrm>
            <a:off x="9769203" y="3516857"/>
            <a:ext cx="712826" cy="712826"/>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915400" y="3819249"/>
            <a:ext cx="854158" cy="38128"/>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3611880"/>
            <a:ext cx="1097280" cy="36576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3611880"/>
            <a:ext cx="1097280" cy="365760"/>
          </a:xfrm>
          <a:prstGeom prst="rect">
            <a:avLst/>
          </a:prstGeom>
          <a:noFill/>
        </p:spPr>
        <p:txBody>
          <a:bodyPr wrap="none" anchor="ctr" lIns="45720" rIns="45720">
            <a:spAutoFit/>
          </a:bodyPr>
          <a:lstStyle/>
          <a:p>
            <a:pPr algn="ctr"/>
            <a:r>
              <a:rPr sz="1500" b="1">
                <a:solidFill>
                  <a:srgbClr val="FFFFFF"/>
                </a:solidFill>
                <a:latin typeface="Arial"/>
              </a:rPr>
              <a:t>Xsens suit</a:t>
            </a:r>
          </a:p>
        </p:txBody>
      </p:sp>
      <p:sp>
        <p:nvSpPr>
          <p:cNvPr id="22" name="Oval 21"/>
          <p:cNvSpPr/>
          <p:nvPr/>
        </p:nvSpPr>
        <p:spPr>
          <a:xfrm>
            <a:off x="10125616" y="2461324"/>
            <a:ext cx="548328" cy="548328"/>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10598753" y="2924105"/>
            <a:ext cx="339694" cy="322015"/>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771632" y="3246120"/>
            <a:ext cx="950976" cy="585216"/>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71632" y="3246120"/>
            <a:ext cx="950976" cy="585216"/>
          </a:xfrm>
          <a:prstGeom prst="rect">
            <a:avLst/>
          </a:prstGeom>
          <a:noFill/>
        </p:spPr>
        <p:txBody>
          <a:bodyPr wrap="none" anchor="ctr" lIns="45720" rIns="45720">
            <a:spAutoFit/>
          </a:bodyPr>
          <a:lstStyle/>
          <a:p>
            <a:pPr algn="ctr"/>
            <a:r>
              <a:rPr sz="1500" b="1">
                <a:solidFill>
                  <a:srgbClr val="FFFFFF"/>
                </a:solidFill>
                <a:latin typeface="Arial"/>
              </a:rPr>
              <a:t>UR10</a:t>
            </a:r>
            <a:br/>
            <a:r>
              <a:rPr sz="1500" b="1">
                <a:solidFill>
                  <a:srgbClr val="FFFFFF"/>
                </a:solidFill>
                <a:latin typeface="Arial"/>
              </a:rPr>
              <a:t>robot arm</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perceived equally as safe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40"/>
            <a:ext cx="5097779"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2" name="Rounded Rectangle 11"/>
          <p:cNvSpPr/>
          <p:nvPr/>
        </p:nvSpPr>
        <p:spPr>
          <a:xfrm>
            <a:off x="6240779"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3749040"/>
            <a:ext cx="5097779"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