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0718b674bb4430d" Type="http://schemas.openxmlformats.org/officeDocument/2006/relationships/extended-properties" Target="docProps/app.xml"/><Relationship Id="R43d2732ff6134f34" Type="http://schemas.openxmlformats.org/package/2006/relationships/metadata/core-properties" Target="docProps/core.xml"/><Relationship Id="Rfb1adf5d5f48450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1b3804e82d8a4676"/>
  </p:sldMasterIdLst>
  <p:notesMasterIdLst>
    <p:notesMasterId xmlns:r="http://schemas.openxmlformats.org/officeDocument/2006/relationships" r:id="Rd5667a8528e84bc1"/>
  </p:notesMasterIdLst>
  <p:sldIdLst>
    <p:sldId xmlns:r="http://schemas.openxmlformats.org/officeDocument/2006/relationships" id="256" r:id="Ref2a4bf3706c4352"/>
    <p:sldId xmlns:ns0="http://schemas.openxmlformats.org/officeDocument/2006/relationships" id="257" ns0:id="rId8"/>
    <p:sldId xmlns:ns0="http://schemas.openxmlformats.org/officeDocument/2006/relationships" id="258" ns0:id="rId9"/>
    <p:sldId xmlns:ns0="http://schemas.openxmlformats.org/officeDocument/2006/relationships" id="267" ns0:id="rId18"/>
    <p:sldId xmlns:ns0="http://schemas.openxmlformats.org/officeDocument/2006/relationships" id="259" ns0:id="rId10"/>
    <p:sldId xmlns:ns0="http://schemas.openxmlformats.org/officeDocument/2006/relationships" id="260" ns0:id="rId11"/>
    <p:sldId xmlns:ns0="http://schemas.openxmlformats.org/officeDocument/2006/relationships" id="261" ns0:id="rId12"/>
    <p:sldId xmlns:ns0="http://schemas.openxmlformats.org/officeDocument/2006/relationships" id="262" ns0:id="rId13"/>
    <p:sldId xmlns:ns0="http://schemas.openxmlformats.org/officeDocument/2006/relationships" id="263" ns0:id="rId14"/>
    <p:sldId xmlns:ns0="http://schemas.openxmlformats.org/officeDocument/2006/relationships" id="264" ns0:id="rId15"/>
    <p:sldId xmlns:ns0="http://schemas.openxmlformats.org/officeDocument/2006/relationships" id="265" ns0:id="rId16"/>
    <p:sldId xmlns:ns0="http://schemas.openxmlformats.org/officeDocument/2006/relationships" id="266" ns0:id="rId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1b3804e82d8a4676" Type="http://schemas.openxmlformats.org/officeDocument/2006/relationships/slideMaster" Target="slideMasters/slideMaster1.xml"/><Relationship Id="R2aef5c3067004dd4" Type="http://schemas.openxmlformats.org/officeDocument/2006/relationships/tableStyles" Target="tableStyles.xml"/><Relationship Id="R62cd735ce6a94590" Type="http://schemas.openxmlformats.org/officeDocument/2006/relationships/viewProps" Target="viewProps.xml"/><Relationship Id="Ra6d426e1991e4c5d" Type="http://schemas.openxmlformats.org/officeDocument/2006/relationships/theme" Target="theme/theme1.xml"/><Relationship Id="Rbe14295336034ba3" Type="http://schemas.openxmlformats.org/officeDocument/2006/relationships/presProps" Target="presProps.xml"/><Relationship Id="Rd5667a8528e84bc1" Type="http://schemas.openxmlformats.org/officeDocument/2006/relationships/notesMaster" Target="notesMasters/notesMaster1.xml"/><Relationship Id="Ref2a4bf3706c4352"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2D3D"/>
                </a:solidFill>
                <a:latin typeface="Arial"/>
              </a:rPr>
              <a:t>If the distance is misread by 5 cm: entries still covered</a:t>
            </a:r>
          </a:p>
        </c:rich>
      </c:tx>
      <c:layout/>
      <c:overlay val="0"/>
    </c:title>
    <c:autoTitleDeleted val="0"/>
    <c:plotArea>
      <c:barChart>
        <c:barDir val="col"/>
        <c:grouping val="clustered"/>
        <c:ser>
          <c:idx val="0"/>
          <c:order val="0"/>
          <c:tx>
            <c:strRef>
              <c:f>Sheet1!$B$1</c:f>
              <c:strCache>
                <c:ptCount val="1"/>
                <c:pt idx="0">
                  <c:v>If the distance is misread by 5 cm: entries still covered</c:v>
                </c:pt>
              </c:strCache>
            </c:strRef>
          </c:tx>
          <c:dPt>
            <c:idx val="0"/>
            <c:spPr>
              <a:solidFill>
                <a:srgbClr val="9FB3C0"/>
              </a:solidFill>
            </c:spPr>
          </c:dPt>
          <c:dPt>
            <c:idx val="1"/>
            <c:spPr>
              <a:solidFill>
                <a:srgbClr val="9FB3C0"/>
              </a:solidFill>
            </c:spPr>
          </c:dPt>
          <c:dPt>
            <c:idx val="2"/>
            <c:spPr>
              <a:solidFill>
                <a:srgbClr val="006DAE"/>
              </a:solidFill>
            </c:spPr>
          </c:dPt>
          <c:cat>
            <c:strRef>
              <c:f>Sheet1!$A$2:$A$4</c:f>
              <c:strCache>
                <c:ptCount val="3"/>
                <c:pt idx="0">
                  <c:v>Fixed zones</c:v>
                </c:pt>
                <c:pt idx="1">
                  <c:v>Reactive</c:v>
                </c:pt>
                <c:pt idx="2">
                  <c:v>Predictive</c:v>
                </c:pt>
              </c:strCache>
            </c:strRef>
          </c:cat>
          <c:val>
            <c:numRef>
              <c:f>Sheet1!$B$2:$B$4</c:f>
              <c:numCache>
                <c:formatCode>General</c:formatCode>
                <c:ptCount val="3"/>
                <c:pt idx="0">
                  <c:v>31</c:v>
                </c:pt>
                <c:pt idx="1">
                  <c:v>42</c:v>
                </c:pt>
                <c:pt idx="2">
                  <c:v>67</c:v>
                </c:pt>
              </c:numCache>
            </c:numRef>
          </c:val>
        </c:ser>
        <c:dLbls>
          <c:numFmt formatCode="0&quot;%&quot;" sourceLinked="0"/>
          <c:txPr>
            <a:bodyPr/>
            <a:lstStyle/>
            <a:p>
              <a:pPr>
                <a:defRPr sz="1800" b="1">
                  <a:solidFill>
                    <a:srgbClr val="172D3D"/>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0"/>
            </a:solidFill>
          </a:ln>
        </c:spPr>
        <c:txPr>
          <a:bodyPr/>
          <a:lstStyle/>
          <a:p>
            <a:pPr>
              <a:defRPr sz="1600">
                <a:solidFill>
                  <a:srgbClr val="172D3D"/>
                </a:solidFill>
                <a:latin typeface="Arial"/>
              </a:defRPr>
            </a:pPr>
          </a:p>
        </c:txPr>
        <c:crossAx val="-2113994440"/>
        <c:crosses val="autoZero"/>
        <c:auto val="1"/>
        <c:lblAlgn val="ctr"/>
        <c:lblOffset val="100"/>
        <c:noMultiLvlLbl val="0"/>
      </c:catAx>
      <c:valAx>
        <c:axId val="-2113994440"/>
        <c:scaling>
          <c:max val="8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2D3D"/>
                </a:solidFill>
                <a:latin typeface="Arial"/>
              </a:rPr>
              <a:t>Brief stop requests (under 0.5 s) per minute</a:t>
            </a:r>
          </a:p>
        </c:rich>
      </c:tx>
      <c:layout/>
      <c:overlay val="0"/>
    </c:title>
    <c:autoTitleDeleted val="0"/>
    <c:plotArea>
      <c:barChart>
        <c:barDir val="col"/>
        <c:grouping val="clustered"/>
        <c:ser>
          <c:idx val="0"/>
          <c:order val="0"/>
          <c:tx>
            <c:strRef>
              <c:f>Sheet1!$B$1</c:f>
              <c:strCache>
                <c:ptCount val="1"/>
                <c:pt idx="0">
                  <c:v>Brief stop requests (under 0.5 s) per minute</c:v>
                </c:pt>
              </c:strCache>
            </c:strRef>
          </c:tx>
          <c:dPt>
            <c:idx val="0"/>
            <c:spPr>
              <a:solidFill>
                <a:srgbClr val="9FB3C0"/>
              </a:solidFill>
            </c:spPr>
          </c:dPt>
          <c:dPt>
            <c:idx val="1"/>
            <c:spPr>
              <a:solidFill>
                <a:srgbClr val="9FB3C0"/>
              </a:solidFill>
            </c:spPr>
          </c:dPt>
          <c:dPt>
            <c:idx val="2"/>
            <c:spPr>
              <a:solidFill>
                <a:srgbClr val="006DAE"/>
              </a:solidFill>
            </c:spPr>
          </c:dPt>
          <c:cat>
            <c:strRef>
              <c:f>Sheet1!$A$2:$A$4</c:f>
              <c:strCache>
                <c:ptCount val="3"/>
                <c:pt idx="0">
                  <c:v>Fixed zones</c:v>
                </c:pt>
                <c:pt idx="1">
                  <c:v>Reactive</c:v>
                </c:pt>
                <c:pt idx="2">
                  <c:v>Predictive</c:v>
                </c:pt>
              </c:strCache>
            </c:strRef>
          </c:cat>
          <c:val>
            <c:numRef>
              <c:f>Sheet1!$B$2:$B$4</c:f>
              <c:numCache>
                <c:formatCode>General</c:formatCode>
                <c:ptCount val="3"/>
                <c:pt idx="0">
                  <c:v>2.2</c:v>
                </c:pt>
                <c:pt idx="1">
                  <c:v>6.7</c:v>
                </c:pt>
                <c:pt idx="2">
                  <c:v>15.3</c:v>
                </c:pt>
              </c:numCache>
            </c:numRef>
          </c:val>
        </c:ser>
        <c:dLbls>
          <c:numFmt formatCode="0.0" sourceLinked="0"/>
          <c:txPr>
            <a:bodyPr/>
            <a:lstStyle/>
            <a:p>
              <a:pPr>
                <a:defRPr sz="1800" b="1">
                  <a:solidFill>
                    <a:srgbClr val="172D3D"/>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0"/>
            </a:solidFill>
          </a:ln>
        </c:spPr>
        <c:txPr>
          <a:bodyPr/>
          <a:lstStyle/>
          <a:p>
            <a:pPr>
              <a:defRPr sz="1600">
                <a:solidFill>
                  <a:srgbClr val="172D3D"/>
                </a:solidFill>
                <a:latin typeface="Arial"/>
              </a:defRPr>
            </a:pPr>
          </a:p>
        </c:txPr>
        <c:crossAx val="-2113994440"/>
        <c:crosses val="autoZero"/>
        <c:auto val="1"/>
        <c:lblAlgn val="ctr"/>
        <c:lblOffset val="100"/>
        <c:noMultiLvlLbl val="0"/>
      </c:catAx>
      <c:valAx>
        <c:axId val="-2113994440"/>
        <c:scaling>
          <c:max val="18.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2D3D"/>
                </a:solidFill>
                <a:latin typeface="Arial"/>
              </a:rPr>
              <a:t>Share of each trial the robot was stopped (median, logged trials)</a:t>
            </a:r>
          </a:p>
        </c:rich>
      </c:tx>
      <c:layout/>
      <c:overlay val="0"/>
    </c:title>
    <c:autoTitleDeleted val="0"/>
    <c:plotArea>
      <c:barChart>
        <c:barDir val="col"/>
        <c:grouping val="clustered"/>
        <c:ser>
          <c:idx val="0"/>
          <c:order val="0"/>
          <c:tx>
            <c:strRef>
              <c:f>Sheet1!$B$1</c:f>
              <c:strCache>
                <c:ptCount val="1"/>
                <c:pt idx="0">
                  <c:v>Share of each trial the robot was stopped (median, logged trials)</c:v>
                </c:pt>
              </c:strCache>
            </c:strRef>
          </c:tx>
          <c:dPt>
            <c:idx val="0"/>
            <c:spPr>
              <a:solidFill>
                <a:srgbClr val="9FB3C0"/>
              </a:solidFill>
            </c:spPr>
          </c:dPt>
          <c:dPt>
            <c:idx val="1"/>
            <c:spPr>
              <a:solidFill>
                <a:srgbClr val="9FB3C0"/>
              </a:solidFill>
            </c:spPr>
          </c:dPt>
          <c:dPt>
            <c:idx val="2"/>
            <c:spPr>
              <a:solidFill>
                <a:srgbClr val="9FB3C0"/>
              </a:solidFill>
            </c:spPr>
          </c:dPt>
          <c:cat>
            <c:strRef>
              <c:f>Sheet1!$A$2:$A$4</c:f>
              <c:strCache>
                <c:ptCount val="3"/>
                <c:pt idx="0">
                  <c:v>Fixed zones</c:v>
                </c:pt>
                <c:pt idx="1">
                  <c:v>Reactive</c:v>
                </c:pt>
                <c:pt idx="2">
                  <c:v>Predictive</c:v>
                </c:pt>
              </c:strCache>
            </c:strRef>
          </c:cat>
          <c:val>
            <c:numRef>
              <c:f>Sheet1!$B$2:$B$4</c:f>
              <c:numCache>
                <c:formatCode>General</c:formatCode>
                <c:ptCount val="3"/>
                <c:pt idx="0">
                  <c:v>29.7</c:v>
                </c:pt>
                <c:pt idx="1">
                  <c:v>33.6</c:v>
                </c:pt>
                <c:pt idx="2">
                  <c:v>36.7</c:v>
                </c:pt>
              </c:numCache>
            </c:numRef>
          </c:val>
        </c:ser>
        <c:dLbls>
          <c:numFmt formatCode="0.0&quot;%&quot;" sourceLinked="0"/>
          <c:txPr>
            <a:bodyPr/>
            <a:lstStyle/>
            <a:p>
              <a:pPr>
                <a:defRPr sz="1800" b="1">
                  <a:solidFill>
                    <a:srgbClr val="172D3D"/>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0"/>
            </a:solidFill>
          </a:ln>
        </c:spPr>
        <c:txPr>
          <a:bodyPr/>
          <a:lstStyle/>
          <a:p>
            <a:pPr>
              <a:defRPr sz="1600">
                <a:solidFill>
                  <a:srgbClr val="172D3D"/>
                </a:solidFill>
                <a:latin typeface="Arial"/>
              </a:defRPr>
            </a:pPr>
          </a:p>
        </c:txPr>
        <c:crossAx val="-2113994440"/>
        <c:crosses val="autoZero"/>
        <c:auto val="1"/>
        <c:lblAlgn val="ctr"/>
        <c:lblOffset val="100"/>
        <c:noMultiLvlLbl val="0"/>
      </c:catAx>
      <c:valAx>
        <c:axId val="-2113994440"/>
        <c:scaling>
          <c:max val="45.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78f5b71cffb54a8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834da4d420a42bf" Type="http://schemas.openxmlformats.org/officeDocument/2006/relationships/notesMaster" Target="../notesMasters/notesMaster1.xml"/><Relationship Id="R60ca0d92abc2463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0:30</a:t>
            </a:r>
          </a:p>
          <a:p xmlns:a="http://schemas.openxmlformats.org/drawingml/2006/main"/>
          <a:p xmlns:a="http://schemas.openxmlformats.org/drawingml/2006/main">
            <a:r>
              <a:t>Good afternoon. We acknowledge the Traditional Owners of the land we are meeting on, and pay our respects to their Elders.</a:t>
            </a:r>
          </a:p>
          <a:p xmlns:a="http://schemas.openxmlformats.org/drawingml/2006/main"/>
          <a:p xmlns:a="http://schemas.openxmlformats.org/drawingml/2006/main">
            <a:r>
              <a:t>I am Zenan, and with Luke and Michael I will present our project: a context-aware safety system that lets a collaborative robot recognise what a construction worker is doing, so it can keep them safe without stopping unnecessarily. I will introduce the problem and our system, Michael will present our testing and results, and Luke will cover project management and use on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ZENAN | 0:50</a:t>
            </a:r>
          </a:p>
          <a:p/>
          <a:p>
            <a:r>
              <a:t>Installing ceiling panels requires workers to hold heavy boards overhead. On a typical site, shown here, one person simply holds the board while another fixes it. In our laboratory, below, a collaborative robot does the holding.</a:t>
            </a:r>
          </a:p>
          <a:p/>
          <a:p>
            <a:r>
              <a:t>However, the worker now stands beside a moving robot. Current practice defines fixed safety zones around the robot and stops it whenever a person is inside. These zones cannot distinguish a worker approaching to begin a task from one moving away. If the robot stops too late, the worker may be injured; if it stops too often, crews are likely to disable it. Solving this benefits installation crews, contractors and the engineers who certify these systems.</a:t>
            </a:r>
          </a:p>
          <a:p/>
          <a:p>
            <a:r>
              <a:t>This leads to our research question, shown in the dark box: can a robot that is aware of the task phase keep workers as safe as fixed zones, while maintaining task efficiency?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ZENAN | 0:50</a:t>
            </a:r>
          </a:p>
          <a:p/>
          <a:p>
            <a:r>
              <a:t>To answer this, we compared three controllers, each adding one source of information. The fixed-zone controller uses separation distance only; this is current practice and our baseline. The reactive controller also considers approach speed. Our predictive controller adds the task phase, whether the worker is approaching, working or moving away, together with a predictor that anticipates entry into the stop zone.</a:t>
            </a:r>
          </a:p>
          <a:p/>
          <a:p>
            <a:r>
              <a:t>The key design principle is shown in the dark bar: the learned components can only reduce the robot's speed, never increase it, so safety never depends on the machine-learning model being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0:40</a:t>
            </a:r>
          </a:p>
          <a:p/>
          <a:p>
            <a:r>
              <a:t>Thank you, Zenan. Twelve participants took part under Monash ethics approval. Each completed three blocks of the panel task, with one controller per block in a rotated order. The task included cued movements, such as a quick step towards the robot, and a short questionnaire followed each block.</a:t>
            </a:r>
          </a:p>
          <a:p/>
          <a:p>
            <a:r>
              <a:t>Our key methodological decision was to log every sensor input. This allowed us to replay all three controllers on identical movement data, much like three referees reviewing the same match footage, so any difference in outcome comes from the controller rather than the participant.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0:40</a:t>
            </a:r>
          </a:p>
          <a:p/>
          <a:p>
            <a:r>
              <a:t>My main contribution was the physical setup: I positioned the robot and built the PVC pipe structure shown here.</a:t>
            </a:r>
          </a:p>
          <a:p/>
          <a:p>
            <a:r>
              <a:t>The UR10 arm raises a panel substitute to ceiling height and holds it while the participant works beneath it. Cameras on the frame track the participant's head to about one millimetre, and the motion-capture suit records 23 body segments. [Click the video.] This clip shows a participant approaching while the suit streams their movement to the controller. The controller reads these data about sixty times per second and sets the speed the robot is permitted to move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0:50</a:t>
            </a:r>
          </a:p>
          <a:p/>
          <a:p>
            <a:r>
              <a:t>This answers the first part of our question: is it as safe? Across all 970 entries into the stop zone, every controller had already commanded the robot to stop. On the measured distance, none of them failed.</a:t>
            </a:r>
          </a:p>
          <a:p/>
          <a:p>
            <a:r>
              <a:t>The difference is timing. Our controller requested the stop about a tenth of a second earlier, for every one of the twelve participants. This matters because distance measurement always carries some error. With a five-centimetre error, the fixed zones would still have covered 31 per cent of entries, compared with 67 per cent for our controller. It is therefore as safe, with a larger margin.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0:50</a:t>
            </a:r>
          </a:p>
          <a:p/>
          <a:p>
            <a:r>
              <a:t>The second part: is it still efficient? Partly. Our controller switched between stopping and resuming more often, because it releases the stop as soon as the estimated risk falls, so noise in the speed estimate causes it to toggle. A short release delay should resolve most of this.</a:t>
            </a:r>
          </a:p>
          <a:p/>
          <a:p>
            <a:r>
              <a:t>Overall, it added less than one second of unnecessary stopping per minute, and participants did not notice a difference: their choices of the safest block were split three, five and three, consistent with chance. When a stop was commanded, the robot halted within a quarter of a second.</a:t>
            </a:r>
          </a:p>
          <a:p/>
          <a:p>
            <a:r>
              <a:t>Luke will now discuss what these results mean and how we managed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0:40</a:t>
            </a:r>
          </a:p>
          <a:p/>
          <a:p>
            <a:r>
              <a:t>Thank you, Michael. Our most important finding was not which controller was best. Under all three, the robot was stopped for about one third of every trial, because the task itself requires the worker to be inside the stop zone: to load the panel, to work beneath it and to unload it.</a:t>
            </a:r>
          </a:p>
          <a:p/>
          <a:p>
            <a:r>
              <a:t>The next real gain is therefore to switch to a contact-safe mode, such as hand guiding, while the worker is beneath the panel. Because our system already identifies the task phase, it provides the information needed to make that switch.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0:50</a:t>
            </a:r>
          </a:p>
          <a:p/>
          <a:p>
            <a:r>
              <a:t>My role was coordinating with the laboratory staff and our supervisors, Yihai and Will. We planned four stages: design and simulation in July, building and pilot testing the rig in August, twelve participant sessions in September, and analysis and writing in October.</a:t>
            </a:r>
          </a:p>
          <a:p/>
          <a:p>
            <a:r>
              <a:t>Three setbacks shaped the project. First, some sessions were restarted under a new participant ID, so we matched sessions to participants using the recorded data. Second, the distance reference changed midway through testing, so we analysed the two versions separately and replayed the exact code that had run. Third, our paper was initially too technical, so we rewrote it for a broader audience.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0:45</a:t>
            </a:r>
          </a:p>
          <a:p/>
          <a:p>
            <a:r>
              <a:t>Moving from the laboratory to a site introduces real constraints. For safety, this is a research prototype running on the robot's standard speed controls, not a certified safety function, and we would allow half a second to react. For cost, the cameras and suits require calibration, maintenance and training for every crew, weighed against the labour saved. For health, it removes overhead lifting from workers, and participants rated the suit as only mildly restrictive. Finally, crews must accept a robotic co-worker, and any site system must meet the relevant robot safety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0:40</a:t>
            </a:r>
          </a:p>
          <a:p/>
          <a:p>
            <a:r>
              <a:t>To return to our research question: can a task-aware robot be as safe as fixed zones and remain efficient? On safety, yes: it was as safe on every measure, with a larger margin under sensor error. On efficiency, partly: trial times were unchanged, with slightly more stopping. For industry, this shows that task awareness can be layered on top of a standard safety limit without weakening it.</a:t>
            </a:r>
          </a:p>
          <a:p/>
          <a:p>
            <a:r>
              <a:t>Next steps are a release delay, a contact-safe mode beneath the panel, and trials with real installation crews. For students choosing a final-year project, it combines robotics, sensing, human factors and construction, with plenty left to do. Thank you; we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ZENAN | 0:50</a:t>
            </a:r>
          </a:p>
          <a:p/>
          <a:p>
            <a:r>
              <a:t>My contribution was the software. On the left is the operator console we developed to run each session. It verifies every sensor, assigns the controller, and records both the robot and the participant.</a:t>
            </a:r>
          </a:p>
          <a:p/>
          <a:p>
            <a:r>
              <a:t>On the right is our trained phase model, tested on a participant it never saw. The upper bar shows what the participant was actually doing, and the lower bar shows the model's live prediction. It tracks the long working phase closely and is least certain at the transitions.</a:t>
            </a:r>
          </a:p>
          <a:p/>
          <a:p>
            <a:r>
              <a:t>Michael will now present how we tested the system and what we found.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bd78081893954c3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c21d838408c46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a87548a7f7941e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1559b8a073b478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32fd7869cf1403b"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096e0c9343d446b"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148740cb099245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2cad81473d534a9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6d196350af4f481d"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786ca8dd05164a50"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aac1b3982b6b456e"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4af0695dad56425c"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c6ab5c07a7fe480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4feb6f4d589f4498"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Title slide_image option 1">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9959E34-7D5A-4BD7-8251-3B069FE78CA1}"/>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D5275896-2C72-498D-B653-414BBE17557D}"/>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F16C37D6-C2E2-49C2-8CCA-00F002D0D28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890999CC-DE80-4843-A760-7D43FDD36995}"/>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2.xml><?xml version="1.0" encoding="utf-8"?>
<p:sldLayout xmlns:p="http://schemas.openxmlformats.org/presentationml/2006/main" preserve="1" userDrawn="1">
  <p:cSld name="Title slide_image option 2">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5A8440E5-1D3D-467C-9331-C80E53D74DF9}"/>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8A02B849-B130-40B4-8741-8B68F7172123}"/>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175D9F5F-88F1-4E36-9CB2-B54ADEE31DFD}"/>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5BDD50A3-E67B-4774-84EE-10ABC7E22B69}"/>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3.xml><?xml version="1.0" encoding="utf-8"?>
<p:sldLayout xmlns:p="http://schemas.openxmlformats.org/presentationml/2006/main" preserve="1" userDrawn="1">
  <p:cSld name="Title slide_image option 3">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8C18B34-15C1-4501-A171-E4A379C18BE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0D890E79-75EE-455E-BC7C-FE9972AC9C25}"/>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E6CC4F13-DD70-4E24-BB60-54CBB58584F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65C29C93-3E71-46BC-8193-E32D10C3E3D3}"/>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4.xml><?xml version="1.0" encoding="utf-8"?>
<p:sldLayout xmlns:p="http://schemas.openxmlformats.org/presentationml/2006/main" preserve="1" userDrawn="1">
  <p:cSld name="Title slide_image option 4">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3C596B7D-0569-427C-9D0A-20EC6B25FF8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713619B6-C40D-42CA-950C-2BE9B668EB98}"/>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05014D11-E9D0-4F5C-B088-03C35C98B651}"/>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11CD9A49-9F7E-4D7D-8A8E-8517C81558AD}"/>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
        <p:nvSpPr>
          <p:cNvPr id="9" name="Freeform 8">
            <a:extLst xmlns:a="http://schemas.openxmlformats.org/drawingml/2006/main">
              <a:ext uri="{FF2B5EF4-FFF2-40B4-BE49-F238E27FC236}">
                <a16:creationId xmlns:a16="http://schemas.microsoft.com/office/drawing/2014/main" id="{D3A273D6-276C-4B9E-A311-A28B57A20E48}"/>
              </a:ext>
            </a:extLst>
          </p:cNvPr>
          <p:cNvSpPr>
            <a:spLocks xmlns:a="http://schemas.openxmlformats.org/drawingml/2006/main" noGrp="1"/>
          </p:cNvSpPr>
          <p:nvPr/>
        </p:nvSpPr>
        <p:spPr>
          <a:xfrm xmlns:a="http://schemas.openxmlformats.org/drawingml/2006/main">
            <a:off x="8652398" y="2502"/>
            <a:ext cx="2926807" cy="6882646"/>
          </a:xfrm>
          <a:custGeom xmlns:a="http://schemas.openxmlformats.org/drawingml/2006/main">
            <a:gdLst>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71800 w 2971800"/>
              <a:gd name="connsiteY8" fmla="*/ 6916782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61790 w 2971800"/>
              <a:gd name="connsiteY8" fmla="*/ 6976844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6383"/>
              <a:gd name="connsiteX1" fmla="*/ 0 w 2971800"/>
              <a:gd name="connsiteY1" fmla="*/ 6982097 h 6986383"/>
              <a:gd name="connsiteX2" fmla="*/ 796834 w 2971800"/>
              <a:gd name="connsiteY2" fmla="*/ 6982097 h 6986383"/>
              <a:gd name="connsiteX3" fmla="*/ 796834 w 2971800"/>
              <a:gd name="connsiteY3" fmla="*/ 3997234 h 6986383"/>
              <a:gd name="connsiteX4" fmla="*/ 1051560 w 2971800"/>
              <a:gd name="connsiteY4" fmla="*/ 6969034 h 6986383"/>
              <a:gd name="connsiteX5" fmla="*/ 1939834 w 2971800"/>
              <a:gd name="connsiteY5" fmla="*/ 6969034 h 6986383"/>
              <a:gd name="connsiteX6" fmla="*/ 2168434 w 2971800"/>
              <a:gd name="connsiteY6" fmla="*/ 4023360 h 6986383"/>
              <a:gd name="connsiteX7" fmla="*/ 2175823 w 2971800"/>
              <a:gd name="connsiteY7" fmla="*/ 6986383 h 6986383"/>
              <a:gd name="connsiteX8" fmla="*/ 2961790 w 2971800"/>
              <a:gd name="connsiteY8" fmla="*/ 6976844 h 6986383"/>
              <a:gd name="connsiteX9" fmla="*/ 2971800 w 2971800"/>
              <a:gd name="connsiteY9" fmla="*/ 0 h 6986383"/>
              <a:gd name="connsiteX10" fmla="*/ 1691640 w 2971800"/>
              <a:gd name="connsiteY10" fmla="*/ 0 h 6986383"/>
              <a:gd name="connsiteX11" fmla="*/ 1489166 w 2971800"/>
              <a:gd name="connsiteY11" fmla="*/ 2331720 h 6986383"/>
              <a:gd name="connsiteX12" fmla="*/ 1293223 w 2971800"/>
              <a:gd name="connsiteY12" fmla="*/ 6531 h 6986383"/>
              <a:gd name="connsiteX13" fmla="*/ 0 w 2971800"/>
              <a:gd name="connsiteY13" fmla="*/ 6531 h 6986383"/>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7001646"/>
              <a:gd name="connsiteX1" fmla="*/ 0 w 2971800"/>
              <a:gd name="connsiteY1" fmla="*/ 6982097 h 7001646"/>
              <a:gd name="connsiteX2" fmla="*/ 796834 w 2971800"/>
              <a:gd name="connsiteY2" fmla="*/ 6982097 h 7001646"/>
              <a:gd name="connsiteX3" fmla="*/ 796834 w 2971800"/>
              <a:gd name="connsiteY3" fmla="*/ 3997234 h 7001646"/>
              <a:gd name="connsiteX4" fmla="*/ 1051560 w 2971800"/>
              <a:gd name="connsiteY4" fmla="*/ 6969034 h 7001646"/>
              <a:gd name="connsiteX5" fmla="*/ 1939834 w 2971800"/>
              <a:gd name="connsiteY5" fmla="*/ 6969034 h 7001646"/>
              <a:gd name="connsiteX6" fmla="*/ 2168434 w 2971800"/>
              <a:gd name="connsiteY6" fmla="*/ 4023360 h 7001646"/>
              <a:gd name="connsiteX7" fmla="*/ 2175824 w 2971800"/>
              <a:gd name="connsiteY7" fmla="*/ 7001646 h 7001646"/>
              <a:gd name="connsiteX8" fmla="*/ 2961790 w 2971800"/>
              <a:gd name="connsiteY8" fmla="*/ 6999737 h 7001646"/>
              <a:gd name="connsiteX9" fmla="*/ 2971800 w 2971800"/>
              <a:gd name="connsiteY9" fmla="*/ 0 h 7001646"/>
              <a:gd name="connsiteX10" fmla="*/ 1691640 w 2971800"/>
              <a:gd name="connsiteY10" fmla="*/ 0 h 7001646"/>
              <a:gd name="connsiteX11" fmla="*/ 1489166 w 2971800"/>
              <a:gd name="connsiteY11" fmla="*/ 2331720 h 7001646"/>
              <a:gd name="connsiteX12" fmla="*/ 1293223 w 2971800"/>
              <a:gd name="connsiteY12" fmla="*/ 6531 h 7001646"/>
              <a:gd name="connsiteX13" fmla="*/ 0 w 2971800"/>
              <a:gd name="connsiteY13" fmla="*/ 6531 h 7001646"/>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1560 w 2971800"/>
              <a:gd name="connsiteY4" fmla="*/ 6969034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7631 w 2971800"/>
              <a:gd name="connsiteY1" fmla="*/ 6989729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67160 w 2979769"/>
              <a:gd name="connsiteY4" fmla="*/ 6991927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74790 w 2979769"/>
              <a:gd name="connsiteY4" fmla="*/ 6999558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Lst>
            <a:rect l="l" t="t" r="r" b="b"/>
            <a:pathLst>
              <a:path w="2979769" h="700718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userDrawn="1">
  <p:cSld name="Copy with subheadings_grey">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84CE05A7-6415-4224-8099-BD7EAE31C5D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435EAB2A-BE35-48CB-AAD6-859040DC75E9}"/>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0D9F5A9-7F8A-4AE2-8B4C-704C44886080}"/>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DDF9E08A-D944-47D4-B39B-FCF57408EFA8}"/>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2" name="Text Placeholder 17">
            <a:extLst xmlns:a="http://schemas.openxmlformats.org/drawingml/2006/main">
              <a:ext uri="{FF2B5EF4-FFF2-40B4-BE49-F238E27FC236}">
                <a16:creationId xmlns:a16="http://schemas.microsoft.com/office/drawing/2014/main" id="{A773E9C9-FB34-442E-B4ED-B5293CC0B78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43" name="Text Placeholder 17">
            <a:extLst xmlns:a="http://schemas.openxmlformats.org/drawingml/2006/main">
              <a:ext uri="{FF2B5EF4-FFF2-40B4-BE49-F238E27FC236}">
                <a16:creationId xmlns:a16="http://schemas.microsoft.com/office/drawing/2014/main" id="{40EF88CF-6144-4D04-865C-B5DB53277F89}"/>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0" name="Text Placeholder 17">
            <a:extLst xmlns:a="http://schemas.openxmlformats.org/drawingml/2006/main">
              <a:ext uri="{FF2B5EF4-FFF2-40B4-BE49-F238E27FC236}">
                <a16:creationId xmlns:a16="http://schemas.microsoft.com/office/drawing/2014/main" id="{466839EE-A660-4E54-AD29-483FC9EA9A24}"/>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6.xml><?xml version="1.0" encoding="utf-8"?>
<p:sldLayout xmlns:p="http://schemas.openxmlformats.org/presentationml/2006/main" preserve="1" userDrawn="1">
  <p:cSld name="Copy with subheadings_blue">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6EEE7214-2952-44DB-A3C6-C505C832EF7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006DA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D280CD4B-221B-4766-B1FD-F59FC5358362}"/>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2B870B4A-5659-431F-9C52-5FFF9310E6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10" name="Text Placeholder 17">
            <a:extLst xmlns:a="http://schemas.openxmlformats.org/drawingml/2006/main">
              <a:ext uri="{FF2B5EF4-FFF2-40B4-BE49-F238E27FC236}">
                <a16:creationId xmlns:a16="http://schemas.microsoft.com/office/drawing/2014/main" id="{119DE6AA-0BCF-43ED-9B93-485A1E6DA675}"/>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1" name="Text Placeholder 17">
            <a:extLst xmlns:a="http://schemas.openxmlformats.org/drawingml/2006/main">
              <a:ext uri="{FF2B5EF4-FFF2-40B4-BE49-F238E27FC236}">
                <a16:creationId xmlns:a16="http://schemas.microsoft.com/office/drawing/2014/main" id="{A7184EA4-0CE3-477E-BCBE-1058D62AB5F7}"/>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13" name="Text Placeholder 17">
            <a:extLst xmlns:a="http://schemas.openxmlformats.org/drawingml/2006/main">
              <a:ext uri="{FF2B5EF4-FFF2-40B4-BE49-F238E27FC236}">
                <a16:creationId xmlns:a16="http://schemas.microsoft.com/office/drawing/2014/main" id="{9D07E0DE-CCF8-4C7E-83F9-601B50B1CF7E}"/>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4" name="Text Placeholder 17">
            <a:extLst xmlns:a="http://schemas.openxmlformats.org/drawingml/2006/main">
              <a:ext uri="{FF2B5EF4-FFF2-40B4-BE49-F238E27FC236}">
                <a16:creationId xmlns:a16="http://schemas.microsoft.com/office/drawing/2014/main" id="{7017B2EC-6CC6-46B0-A700-31BC918FDD36}"/>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7.xml><?xml version="1.0" encoding="utf-8"?>
<p:sldLayout xmlns:p="http://schemas.openxmlformats.org/presentationml/2006/main" preserve="1" userDrawn="1">
  <p:cSld name="Bulleted list with 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7445E1A-58B1-4A2E-9C8B-81FEEFB29B18}"/>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7FE20C2D-3F5B-4F70-ACC0-A43A693819BA}"/>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37E586F7-ACAF-46BA-9016-3EE4934EFF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25" name="Text Placeholder 17">
            <a:extLst xmlns:a="http://schemas.openxmlformats.org/drawingml/2006/main">
              <a:ext uri="{FF2B5EF4-FFF2-40B4-BE49-F238E27FC236}">
                <a16:creationId xmlns:a16="http://schemas.microsoft.com/office/drawing/2014/main" id="{4079832C-F1D0-4BDF-95EE-6F177A1F4B1B}"/>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1 (20PT, ARIAL NARROW, UPPER CASE)</a:t>
            </a:r>
          </a:p>
        </p:txBody>
      </p:sp>
      <p:sp>
        <p:nvSpPr>
          <p:cNvPr id="26" name="Text Placeholder 17">
            <a:extLst xmlns:a="http://schemas.openxmlformats.org/drawingml/2006/main">
              <a:ext uri="{FF2B5EF4-FFF2-40B4-BE49-F238E27FC236}">
                <a16:creationId xmlns:a16="http://schemas.microsoft.com/office/drawing/2014/main" id="{6F2D5B67-BB1A-48F0-ACC1-7BFF3B19DF82}"/>
              </a:ext>
            </a:extLst>
          </p:cNvPr>
          <p:cNvSpPr>
            <a:spLocks xmlns:a="http://schemas.openxmlformats.org/drawingml/2006/main" noGrp="1"/>
          </p:cNvSpPr>
          <p:nvPr>
            <p:ph type="body" idx="16" hasCustomPrompt="1"/>
          </p:nvPr>
        </p:nvSpPr>
        <p:spPr>
          <a:xfrm xmlns:a="http://schemas.openxmlformats.org/drawingml/2006/main">
            <a:off x="300211" y="2131371"/>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one column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a:p xmlns:a="http://schemas.openxmlformats.org/drawingml/2006/main">
            <a:endParaRPr/>
          </a:p>
        </p:txBody>
      </p:sp>
      <p:sp>
        <p:nvSpPr>
          <p:cNvPr id="27" name="Text Placeholder 17">
            <a:extLst xmlns:a="http://schemas.openxmlformats.org/drawingml/2006/main">
              <a:ext uri="{FF2B5EF4-FFF2-40B4-BE49-F238E27FC236}">
                <a16:creationId xmlns:a16="http://schemas.microsoft.com/office/drawing/2014/main" id="{30CDAF4D-0CE9-426B-94B4-B1E0C5A23F2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 (20PT, ARIAL NARROW, UPPER CASE)</a:t>
            </a:r>
          </a:p>
        </p:txBody>
      </p:sp>
      <p:sp>
        <p:nvSpPr>
          <p:cNvPr id="28" name="Text Placeholder 17">
            <a:extLst xmlns:a="http://schemas.openxmlformats.org/drawingml/2006/main">
              <a:ext uri="{FF2B5EF4-FFF2-40B4-BE49-F238E27FC236}">
                <a16:creationId xmlns:a16="http://schemas.microsoft.com/office/drawing/2014/main" id="{7415D1DC-1E04-4B04-86DC-6692F58340CA}"/>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marR="0" indent="-342900" algn="l" defTabSz="914400">
              <a:lnSpc>
                <a:spcPct val="90000"/>
              </a:lnSpc>
              <a:spcBef>
                <a:spcPts val="1000"/>
              </a:spcBef>
              <a:spcAft>
                <a:spcPts val="0"/>
              </a:spcAft>
              <a:buClrTx/>
              <a:buSzTx/>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two column (20pt, Arial)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pPr marL="342900" marR="0" lvl="0" indent="-342900" algn="l" defTabSz="914400">
              <a:lnSpc>
                <a:spcPct val="90000"/>
              </a:lnSpc>
              <a:spcBef>
                <a:spcPts val="1000"/>
              </a:spcBef>
              <a:spcAft>
                <a:spcPts val="0"/>
              </a:spcAft>
              <a:buClrTx/>
              <a:buSzTx/>
              <a:buFont typeface="Arial"/>
              <a:buChar char="•"/>
            </a:pPr>
            <a:r>
              <a:t>Bullet list, two column (20pt, Arial) </a:t>
            </a:r>
          </a:p>
          <a:p xmlns:a="http://schemas.openxmlformats.org/drawingml/2006/main">
            <a:endParaRPr/>
          </a:p>
        </p:txBody>
      </p:sp>
      <p:sp>
        <p:nvSpPr>
          <p:cNvPr id="29" name="Freeform 28">
            <a:extLst xmlns:a="http://schemas.openxmlformats.org/drawingml/2006/main">
              <a:ext uri="{FF2B5EF4-FFF2-40B4-BE49-F238E27FC236}">
                <a16:creationId xmlns:a16="http://schemas.microsoft.com/office/drawing/2014/main" id="{058D2D07-A5B3-4538-800D-BACEC3B23477}"/>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Copy with two images">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8599A87E-2CE9-4FFB-A5FA-16FC7F80B973}"/>
              </a:ext>
            </a:extLst>
          </p:cNvPr>
          <p:cNvSpPr>
            <a:spLocks xmlns:a="http://schemas.openxmlformats.org/drawingml/2006/main" noGrp="1"/>
          </p:cNvSpPr>
          <p:nvPr>
            <p:ph type="body" idx="11" hasCustomPrompt="1"/>
          </p:nvPr>
        </p:nvSpPr>
        <p:spPr>
          <a:xfrm xmlns:a="http://schemas.openxmlformats.org/drawingml/2006/main">
            <a:off x="306060" y="1046138"/>
            <a:ext cx="7451725" cy="466468"/>
          </a:xfrm>
          <a:prstGeom xmlns:a="http://schemas.openxmlformats.org/drawingml/2006/main" prst="rect">
            <a:avLst/>
          </a:prstGeom>
        </p:spPr>
        <p:txBody>
          <a:bodyPr xmlns:a="http://schemas.openxmlformats.org/drawingml/2006/main"/>
          <a:lstStyle xmlns:a="http://schemas.openxmlformats.org/drawingml/2006/main">
            <a:lvl1pPr>
              <a:buNone/>
              <a:defRPr sz="2400">
                <a:solidFill>
                  <a:schemeClr val="tx1"/>
                </a:solidFill>
              </a:defRPr>
            </a:lvl1pPr>
          </a:lstStyle>
          <a:p xmlns:a="http://schemas.openxmlformats.org/drawingml/2006/main">
            <a:r>
              <a:t>SUB HEADING (24PT, UPPER CASE)</a:t>
            </a:r>
            <a:endParaRPr/>
          </a:p>
        </p:txBody>
      </p:sp>
      <p:sp>
        <p:nvSpPr>
          <p:cNvPr id="19" name="Text Placeholder 22">
            <a:extLst xmlns:a="http://schemas.openxmlformats.org/drawingml/2006/main">
              <a:ext uri="{FF2B5EF4-FFF2-40B4-BE49-F238E27FC236}">
                <a16:creationId xmlns:a16="http://schemas.microsoft.com/office/drawing/2014/main" id="{54C78CB8-E688-43B0-9DF8-E35BBE492586}"/>
              </a:ext>
            </a:extLst>
          </p:cNvPr>
          <p:cNvSpPr>
            <a:spLocks xmlns:a="http://schemas.openxmlformats.org/drawingml/2006/main" noGrp="1"/>
          </p:cNvSpPr>
          <p:nvPr>
            <p:ph type="body" idx="13" hasCustomPrompt="1"/>
          </p:nvPr>
        </p:nvSpPr>
        <p:spPr>
          <a:xfrm xmlns:a="http://schemas.openxmlformats.org/drawingml/2006/main">
            <a:off x="306060" y="359998"/>
            <a:ext cx="7452026" cy="736956"/>
          </a:xfrm>
          <a:prstGeom xmlns:a="http://schemas.openxmlformats.org/drawingml/2006/main" prst="rect">
            <a:avLst/>
          </a:prstGeom>
        </p:spPr>
        <p:txBody>
          <a:bodyPr xmlns:a="http://schemas.openxmlformats.org/drawingml/2006/main"/>
          <a:lstStyle xmlns:a="http://schemas.openxmlformats.org/drawingml/2006/main">
            <a:lvl1pPr>
              <a:buNone/>
              <a:defRPr sz="4200" b="1" baseline="0">
                <a:solidFill>
                  <a:schemeClr val="tx1"/>
                </a:solidFill>
              </a:defRPr>
            </a:lvl1pPr>
          </a:lstStyle>
          <a:p xmlns:a="http://schemas.openxmlformats.org/drawingml/2006/main">
            <a:pPr lvl="0">
              <a:buNone/>
            </a:pPr>
            <a:r>
              <a:t>HEADING (42PT, UPPER CASE)</a:t>
            </a:r>
          </a:p>
        </p:txBody>
      </p:sp>
      <p:sp>
        <p:nvSpPr>
          <p:cNvPr id="23" name="Text Placeholder 17">
            <a:extLst xmlns:a="http://schemas.openxmlformats.org/drawingml/2006/main">
              <a:ext uri="{FF2B5EF4-FFF2-40B4-BE49-F238E27FC236}">
                <a16:creationId xmlns:a16="http://schemas.microsoft.com/office/drawing/2014/main" id="{E4565448-45EF-490B-BE61-7AE0E03A2481}"/>
              </a:ext>
            </a:extLst>
          </p:cNvPr>
          <p:cNvSpPr>
            <a:spLocks xmlns:a="http://schemas.openxmlformats.org/drawingml/2006/main" noGrp="1"/>
          </p:cNvSpPr>
          <p:nvPr>
            <p:ph type="body" idx="14" hasCustomPrompt="1"/>
          </p:nvPr>
        </p:nvSpPr>
        <p:spPr>
          <a:xfrm xmlns:a="http://schemas.openxmlformats.org/drawingml/2006/main">
            <a:off x="306060" y="1763411"/>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(20PT, ARIAL NARROW, UPPER CASE)</a:t>
            </a:r>
          </a:p>
        </p:txBody>
      </p:sp>
      <p:sp>
        <p:nvSpPr>
          <p:cNvPr id="24" name="Text Placeholder 17">
            <a:extLst xmlns:a="http://schemas.openxmlformats.org/drawingml/2006/main">
              <a:ext uri="{FF2B5EF4-FFF2-40B4-BE49-F238E27FC236}">
                <a16:creationId xmlns:a16="http://schemas.microsoft.com/office/drawing/2014/main" id="{9EBD0A08-9D48-4854-B1C1-3F5149C62175}"/>
              </a:ext>
            </a:extLst>
          </p:cNvPr>
          <p:cNvSpPr>
            <a:spLocks xmlns:a="http://schemas.openxmlformats.org/drawingml/2006/main" noGrp="1"/>
          </p:cNvSpPr>
          <p:nvPr>
            <p:ph type="body" idx="16" hasCustomPrompt="1"/>
          </p:nvPr>
        </p:nvSpPr>
        <p:spPr>
          <a:xfrm xmlns:a="http://schemas.openxmlformats.org/drawingml/2006/main">
            <a:off x="300212" y="2131371"/>
            <a:ext cx="4352700" cy="3976132"/>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25" name="Picture Placeholder 17">
            <a:extLst xmlns:a="http://schemas.openxmlformats.org/drawingml/2006/main">
              <a:ext uri="{FF2B5EF4-FFF2-40B4-BE49-F238E27FC236}">
                <a16:creationId xmlns:a16="http://schemas.microsoft.com/office/drawing/2014/main" id="{C1F8CC9E-1830-4D72-86E5-9C602E9F3D8D}"/>
              </a:ext>
            </a:extLst>
          </p:cNvPr>
          <p:cNvSpPr>
            <a:spLocks xmlns:a="http://schemas.openxmlformats.org/drawingml/2006/main" noGrp="1"/>
          </p:cNvSpPr>
          <p:nvPr>
            <p:ph type="pic" idx="17"/>
          </p:nvPr>
        </p:nvSpPr>
        <p:spPr>
          <a:xfrm xmlns:a="http://schemas.openxmlformats.org/drawingml/2006/main">
            <a:off x="7380288" y="2520000"/>
            <a:ext cx="4027879" cy="22679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26" name="Picture Placeholder 19">
            <a:extLst xmlns:a="http://schemas.openxmlformats.org/drawingml/2006/main">
              <a:ext uri="{FF2B5EF4-FFF2-40B4-BE49-F238E27FC236}">
                <a16:creationId xmlns:a16="http://schemas.microsoft.com/office/drawing/2014/main" id="{357364C1-864B-476B-B866-1199A8427FB8}"/>
              </a:ext>
            </a:extLst>
          </p:cNvPr>
          <p:cNvSpPr>
            <a:spLocks xmlns:a="http://schemas.openxmlformats.org/drawingml/2006/main" noGrp="1"/>
          </p:cNvSpPr>
          <p:nvPr>
            <p:ph type="pic" idx="18"/>
          </p:nvPr>
        </p:nvSpPr>
        <p:spPr>
          <a:xfrm xmlns:a="http://schemas.openxmlformats.org/drawingml/2006/main">
            <a:off x="4960507" y="2519363"/>
            <a:ext cx="2281237" cy="22685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preserve="1" userDrawn="1">
  <p:cSld name="Full slide image with caption">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6061F949-74A9-4216-AC7C-A5C7AFD8C4C7}"/>
              </a:ext>
            </a:extLst>
          </p:cNvPr>
          <p:cNvSpPr>
            <a:spLocks xmlns:a="http://schemas.openxmlformats.org/drawingml/2006/main" noGrp="1"/>
          </p:cNvSpPr>
          <p:nvPr>
            <p:ph type="pic" idx="15"/>
          </p:nvPr>
        </p:nvSpPr>
        <p:spPr>
          <a:xfrm xmlns:a="http://schemas.openxmlformats.org/drawingml/2006/main">
            <a:off x="0" y="-8466"/>
            <a:ext cx="10371666" cy="6866466"/>
          </a:xfrm>
          <a:custGeom xmlns:a="http://schemas.openxmlformats.org/drawingml/2006/main">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9228667 w 12192000"/>
              <a:gd name="connsiteY1" fmla="*/ 8467 h 6858000"/>
              <a:gd name="connsiteX2" fmla="*/ 12192000 w 12192000"/>
              <a:gd name="connsiteY2" fmla="*/ 6858000 h 6858000"/>
              <a:gd name="connsiteX3" fmla="*/ 0 w 12192000"/>
              <a:gd name="connsiteY3" fmla="*/ 6858000 h 6858000"/>
              <a:gd name="connsiteX4" fmla="*/ 0 w 12192000"/>
              <a:gd name="connsiteY4" fmla="*/ 0 h 6858000"/>
              <a:gd name="connsiteX0" fmla="*/ 0 w 10498666"/>
              <a:gd name="connsiteY0" fmla="*/ 0 h 6858000"/>
              <a:gd name="connsiteX1" fmla="*/ 9228667 w 10498666"/>
              <a:gd name="connsiteY1" fmla="*/ 8467 h 6858000"/>
              <a:gd name="connsiteX2" fmla="*/ 10498666 w 10498666"/>
              <a:gd name="connsiteY2" fmla="*/ 6858000 h 6858000"/>
              <a:gd name="connsiteX3" fmla="*/ 0 w 10498666"/>
              <a:gd name="connsiteY3" fmla="*/ 6858000 h 6858000"/>
              <a:gd name="connsiteX4" fmla="*/ 0 w 10498666"/>
              <a:gd name="connsiteY4" fmla="*/ 0 h 6858000"/>
              <a:gd name="connsiteX0" fmla="*/ 0 w 10498666"/>
              <a:gd name="connsiteY0" fmla="*/ 8466 h 6866466"/>
              <a:gd name="connsiteX1" fmla="*/ 9245601 w 10498666"/>
              <a:gd name="connsiteY1" fmla="*/ 0 h 6866466"/>
              <a:gd name="connsiteX2" fmla="*/ 10498666 w 10498666"/>
              <a:gd name="connsiteY2" fmla="*/ 6866466 h 6866466"/>
              <a:gd name="connsiteX3" fmla="*/ 0 w 10498666"/>
              <a:gd name="connsiteY3" fmla="*/ 6866466 h 6866466"/>
              <a:gd name="connsiteX4" fmla="*/ 0 w 10498666"/>
              <a:gd name="connsiteY4" fmla="*/ 8466 h 6866466"/>
              <a:gd name="connsiteX0" fmla="*/ 0 w 10371666"/>
              <a:gd name="connsiteY0" fmla="*/ 8466 h 6866466"/>
              <a:gd name="connsiteX1" fmla="*/ 9245601 w 10371666"/>
              <a:gd name="connsiteY1" fmla="*/ 0 h 6866466"/>
              <a:gd name="connsiteX2" fmla="*/ 10371666 w 10371666"/>
              <a:gd name="connsiteY2" fmla="*/ 6849533 h 6866466"/>
              <a:gd name="connsiteX3" fmla="*/ 0 w 10371666"/>
              <a:gd name="connsiteY3" fmla="*/ 6866466 h 6866466"/>
              <a:gd name="connsiteX4" fmla="*/ 0 w 10371666"/>
              <a:gd name="connsiteY4" fmla="*/ 8466 h 6866466"/>
            </a:gdLst>
            <a:rect l="l" t="t" r="r" b="b"/>
            <a:pathLst>
              <a:path w="10371666" h="6866466">
                <a:moveTo>
                  <a:pt x="0" y="8466"/>
                </a:moveTo>
                <a:lnTo>
                  <a:pt x="9245601" y="0"/>
                </a:lnTo>
                <a:lnTo>
                  <a:pt x="10371666" y="6849533"/>
                </a:lnTo>
                <a:lnTo>
                  <a:pt x="0" y="6866466"/>
                </a:lnTo>
                <a:lnTo>
                  <a:pt x="0" y="8466"/>
                </a:lnTo>
                <a:close/>
              </a:path>
            </a:pathLst>
          </a:custGeom>
        </p:spPr>
        <p:txBody>
          <a:bodyPr xmlns:a="http://schemas.openxmlformats.org/drawingml/2006/main"/>
          <a:lstStyle xmlns:a="http://schemas.openxmlformats.org/drawingml/2006/main"/>
          <a:p xmlns:a="http://schemas.openxmlformats.org/drawingml/2006/main">
            <a:endParaRPr/>
          </a:p>
        </p:txBody>
      </p:sp>
      <p:sp>
        <p:nvSpPr>
          <p:cNvPr id="13" name="Text Placeholder 17">
            <a:extLst xmlns:a="http://schemas.openxmlformats.org/drawingml/2006/main">
              <a:ext uri="{FF2B5EF4-FFF2-40B4-BE49-F238E27FC236}">
                <a16:creationId xmlns:a16="http://schemas.microsoft.com/office/drawing/2014/main" id="{B0F437CF-4DF7-4CE5-ACC9-5B8FF6EE71EC}"/>
              </a:ext>
            </a:extLst>
          </p:cNvPr>
          <p:cNvSpPr>
            <a:spLocks xmlns:a="http://schemas.openxmlformats.org/drawingml/2006/main" noGrp="1"/>
          </p:cNvSpPr>
          <p:nvPr>
            <p:ph type="body" idx="14" hasCustomPrompt="1"/>
          </p:nvPr>
        </p:nvSpPr>
        <p:spPr>
          <a:xfrm xmlns:a="http://schemas.openxmlformats.org/drawingml/2006/main">
            <a:off x="9689170" y="332573"/>
            <a:ext cx="2309631" cy="130284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Image caption (title case)</a:t>
            </a:r>
          </a:p>
        </p:txBody>
      </p:sp>
    </p:spTree>
  </p:cSld>
</p:sldLayout>
</file>

<file path=ppt/slideLayouts/slideLayout10.xml><?xml version="1.0" encoding="utf-8"?>
<p:sldLayout xmlns:p="http://schemas.openxmlformats.org/presentationml/2006/main" preserve="1" userDrawn="1">
  <p:cSld name="Section divider">
    <p:spTree>
      <p:nvGrpSpPr>
        <p:cNvPr id="1" name=""/>
        <p:cNvGrpSpPr/>
        <p:nvPr/>
      </p:nvGrpSpPr>
      <p:grpSpPr>
        <a:xfrm xmlns:a="http://schemas.openxmlformats.org/drawingml/2006/main"/>
      </p:grpSpPr>
      <p:sp>
        <p:nvSpPr>
          <p:cNvPr id="5" name="Freeform 4">
            <a:extLst xmlns:a="http://schemas.openxmlformats.org/drawingml/2006/main">
              <a:ext uri="{FF2B5EF4-FFF2-40B4-BE49-F238E27FC236}">
                <a16:creationId xmlns:a16="http://schemas.microsoft.com/office/drawing/2014/main" id="{446DC7FA-2DC5-4C50-B2B9-4DB3ED1B2C14}"/>
              </a:ext>
            </a:extLst>
          </p:cNvPr>
          <p:cNvSpPr>
            <a:spLocks xmlns:a="http://schemas.openxmlformats.org/drawingml/2006/main" noGrp="1"/>
          </p:cNvSpPr>
          <p:nvPr/>
        </p:nvSpPr>
        <p:spPr>
          <a:xfrm xmlns:a="http://schemas.openxmlformats.org/drawingml/2006/main">
            <a:off x="-19050" y="-9525"/>
            <a:ext cx="9420225" cy="6867525"/>
          </a:xfrm>
          <a:custGeom xmlns:a="http://schemas.openxmlformats.org/drawingml/2006/main">
            <a:gdLst>
              <a:gd name="connsiteX0" fmla="*/ 9525 w 8905875"/>
              <a:gd name="connsiteY0" fmla="*/ 0 h 6896100"/>
              <a:gd name="connsiteX1" fmla="*/ 4724400 w 8905875"/>
              <a:gd name="connsiteY1" fmla="*/ 0 h 6896100"/>
              <a:gd name="connsiteX2" fmla="*/ 8905875 w 8905875"/>
              <a:gd name="connsiteY2" fmla="*/ 6896100 h 6896100"/>
              <a:gd name="connsiteX3" fmla="*/ 0 w 8905875"/>
              <a:gd name="connsiteY3" fmla="*/ 6896100 h 6896100"/>
              <a:gd name="connsiteX4" fmla="*/ 9525 w 8905875"/>
              <a:gd name="connsiteY4" fmla="*/ 0 h 6896100"/>
            </a:gdLst>
            <a:rect l="l" t="t" r="r" b="b"/>
            <a:pathLst>
              <a:path w="8905875" h="6896100">
                <a:moveTo>
                  <a:pt x="9525" y="0"/>
                </a:moveTo>
                <a:lnTo>
                  <a:pt x="4724400" y="0"/>
                </a:lnTo>
                <a:lnTo>
                  <a:pt x="8905875" y="6896100"/>
                </a:lnTo>
                <a:lnTo>
                  <a:pt x="0" y="6896100"/>
                </a:lnTo>
                <a:lnTo>
                  <a:pt x="9525" y="0"/>
                </a:lnTo>
                <a:close/>
              </a:path>
            </a:pathLst>
          </a:custGeom>
          <a:solidFill xmlns:a="http://schemas.openxmlformats.org/drawingml/2006/main">
            <a:srgbClr val="006DAE"/>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 Placeholder 22">
            <a:extLst xmlns:a="http://schemas.openxmlformats.org/drawingml/2006/main">
              <a:ext uri="{FF2B5EF4-FFF2-40B4-BE49-F238E27FC236}">
                <a16:creationId xmlns:a16="http://schemas.microsoft.com/office/drawing/2014/main" id="{E3619149-78E1-4EF5-9904-0118824ABE09}"/>
              </a:ext>
            </a:extLst>
          </p:cNvPr>
          <p:cNvSpPr>
            <a:spLocks xmlns:a="http://schemas.openxmlformats.org/drawingml/2006/main" noGrp="1"/>
          </p:cNvSpPr>
          <p:nvPr>
            <p:ph type="body" idx="13" hasCustomPrompt="1"/>
          </p:nvPr>
        </p:nvSpPr>
        <p:spPr>
          <a:xfrm xmlns:a="http://schemas.openxmlformats.org/drawingml/2006/main">
            <a:off x="138368" y="1741593"/>
            <a:ext cx="5757606" cy="3435594"/>
          </a:xfrm>
          <a:prstGeom xmlns:a="http://schemas.openxmlformats.org/drawingml/2006/main" prst="rect">
            <a:avLst/>
          </a:prstGeom>
        </p:spPr>
        <p:txBody>
          <a:bodyPr xmlns:a="http://schemas.openxmlformats.org/drawingml/2006/main" wrap="square"/>
          <a:lstStyle xmlns:a="http://schemas.openxmlformats.org/drawingml/2006/main">
            <a:lvl1pPr algn="r">
              <a:buNone/>
              <a:defRPr sz="4400" b="1" baseline="0">
                <a:solidFill>
                  <a:schemeClr val="bg1"/>
                </a:solidFill>
              </a:defRPr>
            </a:lvl1pPr>
          </a:lstStyle>
          <a:p xmlns:a="http://schemas.openxmlformats.org/drawingml/2006/main">
            <a:pPr lvl="0">
              <a:buNone/>
            </a:pPr>
            <a:r>
              <a:t>SECTION DIVIDER OR PULL-OUT QUOTE (UPPER CASE)</a:t>
            </a:r>
          </a:p>
        </p:txBody>
      </p:sp>
      <p:sp>
        <p:nvSpPr>
          <p:cNvPr id="3" name="Picture Placeholder 2">
            <a:extLst xmlns:a="http://schemas.openxmlformats.org/drawingml/2006/main">
              <a:ext uri="{FF2B5EF4-FFF2-40B4-BE49-F238E27FC236}">
                <a16:creationId xmlns:a16="http://schemas.microsoft.com/office/drawing/2014/main" id="{BF47C82E-9673-4E62-9CF1-D73F08BECA4E}"/>
              </a:ext>
            </a:extLst>
          </p:cNvPr>
          <p:cNvSpPr>
            <a:spLocks xmlns:a="http://schemas.openxmlformats.org/drawingml/2006/main" noGrp="1"/>
          </p:cNvSpPr>
          <p:nvPr>
            <p:ph type="pic" idx="14"/>
          </p:nvPr>
        </p:nvSpPr>
        <p:spPr>
          <a:xfrm xmlns:a="http://schemas.openxmlformats.org/drawingml/2006/main">
            <a:off x="6091492" y="1733018"/>
            <a:ext cx="5438775" cy="3435350"/>
          </a:xfrm>
          <a:custGeom xmlns:a="http://schemas.openxmlformats.org/drawingml/2006/main">
            <a:gdLst>
              <a:gd name="connsiteX0" fmla="*/ 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0 w 5476875"/>
              <a:gd name="connsiteY4" fmla="*/ 0 h 3435350"/>
              <a:gd name="connsiteX0" fmla="*/ 1905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19050 w 5476875"/>
              <a:gd name="connsiteY4" fmla="*/ 0 h 3435350"/>
              <a:gd name="connsiteX0" fmla="*/ 0 w 5457825"/>
              <a:gd name="connsiteY0" fmla="*/ 0 h 3435350"/>
              <a:gd name="connsiteX1" fmla="*/ 5457825 w 5457825"/>
              <a:gd name="connsiteY1" fmla="*/ 0 h 3435350"/>
              <a:gd name="connsiteX2" fmla="*/ 5457825 w 5457825"/>
              <a:gd name="connsiteY2" fmla="*/ 3435350 h 3435350"/>
              <a:gd name="connsiteX3" fmla="*/ 2266950 w 5457825"/>
              <a:gd name="connsiteY3" fmla="*/ 3435350 h 3435350"/>
              <a:gd name="connsiteX4" fmla="*/ 0 w 5457825"/>
              <a:gd name="connsiteY4" fmla="*/ 0 h 3435350"/>
              <a:gd name="connsiteX0" fmla="*/ 0 w 5438775"/>
              <a:gd name="connsiteY0" fmla="*/ 0 h 3435350"/>
              <a:gd name="connsiteX1" fmla="*/ 5438775 w 5438775"/>
              <a:gd name="connsiteY1" fmla="*/ 0 h 3435350"/>
              <a:gd name="connsiteX2" fmla="*/ 5438775 w 5438775"/>
              <a:gd name="connsiteY2" fmla="*/ 3435350 h 3435350"/>
              <a:gd name="connsiteX3" fmla="*/ 2247900 w 5438775"/>
              <a:gd name="connsiteY3" fmla="*/ 3435350 h 3435350"/>
              <a:gd name="connsiteX4" fmla="*/ 0 w 5438775"/>
              <a:gd name="connsiteY4" fmla="*/ 0 h 3435350"/>
            </a:gdLst>
            <a:rect l="l" t="t" r="r" b="b"/>
            <a:pathLst>
              <a:path w="5438775" h="3435350">
                <a:moveTo>
                  <a:pt x="0" y="0"/>
                </a:moveTo>
                <a:lnTo>
                  <a:pt x="5438775" y="0"/>
                </a:lnTo>
                <a:lnTo>
                  <a:pt x="5438775" y="3435350"/>
                </a:lnTo>
                <a:lnTo>
                  <a:pt x="2247900" y="3435350"/>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preserve="1" userDrawn="1">
  <p:cSld name="Full slide copy_grey">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6C879FEF-DC91-4951-B0E5-43D3040EDF94}"/>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16E42D98-FCC5-42A8-A027-B4B5D7C4989B}"/>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B60FA61-6103-4D75-BCE8-6696DD50E3E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FC321D5D-09E3-4855-A150-A1864A13D7C3}"/>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1" name="Text Placeholder 17">
            <a:extLst xmlns:a="http://schemas.openxmlformats.org/drawingml/2006/main">
              <a:ext uri="{FF2B5EF4-FFF2-40B4-BE49-F238E27FC236}">
                <a16:creationId xmlns:a16="http://schemas.microsoft.com/office/drawing/2014/main" id="{8C7804E7-0D2A-449B-8D68-48E74417A60F}"/>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1255507-862C-4540-B578-D31212BAA379}"/>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Full slide copy_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E8B06B49-0756-4552-B15F-70B193380F86}"/>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0F7056E6-5144-4734-8092-CF75883C21EF}"/>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24E110D-C152-4F5D-AD6E-1749796FB06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99E00C5E-FC26-4EDB-8B70-852B3BF6453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5" name="Rectangle 4">
            <a:extLst xmlns:a="http://schemas.openxmlformats.org/drawingml/2006/main">
              <a:ext uri="{FF2B5EF4-FFF2-40B4-BE49-F238E27FC236}">
                <a16:creationId xmlns:a16="http://schemas.microsoft.com/office/drawing/2014/main" id="{777D9326-DCC8-4AC5-A964-BF81B5FC733B}"/>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 Placeholder 17">
            <a:extLst xmlns:a="http://schemas.openxmlformats.org/drawingml/2006/main">
              <a:ext uri="{FF2B5EF4-FFF2-40B4-BE49-F238E27FC236}">
                <a16:creationId xmlns:a16="http://schemas.microsoft.com/office/drawing/2014/main" id="{3B205BC4-90F4-41C2-9740-8B9731D9D19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3.xml><?xml version="1.0" encoding="utf-8"?>
<p:sldLayout xmlns:p="http://schemas.openxmlformats.org/presentationml/2006/main" preserve="1" userDrawn="1">
  <p:cSld name="Full slide copy_texture option 2">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74E0E7A3-404F-47BF-AF25-CCD3ADBEF759}"/>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AE4CA6C5-B635-42B6-97C9-894A1BE8D5C0}"/>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122B80FA-A860-4FD5-B914-616C85F8B0FB}"/>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31F1573F-4B61-40CD-ABC6-11CAB0C717C4}"/>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9" name="Rectangle 18">
            <a:extLst xmlns:a="http://schemas.openxmlformats.org/drawingml/2006/main">
              <a:ext uri="{FF2B5EF4-FFF2-40B4-BE49-F238E27FC236}">
                <a16:creationId xmlns:a16="http://schemas.microsoft.com/office/drawing/2014/main" id="{E0B6C49D-6247-41F3-BDB2-A6294F8E0FA4}"/>
              </a:ext>
            </a:extLst>
          </p:cNvPr>
          <p:cNvSpPr>
            <a:spLocks xmlns:a="http://schemas.openxmlformats.org/drawingml/2006/main" noGrp="1"/>
          </p:cNvSpPr>
          <p:nvPr/>
        </p:nvSpPr>
        <p:spPr>
          <a:xfrm xmlns:a="http://schemas.openxmlformats.org/drawingml/2006/main">
            <a:off x="9993085" y="-19049"/>
            <a:ext cx="123825" cy="1190946"/>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Isosceles Triangle 20">
            <a:extLst xmlns:a="http://schemas.openxmlformats.org/drawingml/2006/main">
              <a:ext uri="{FF2B5EF4-FFF2-40B4-BE49-F238E27FC236}">
                <a16:creationId xmlns:a16="http://schemas.microsoft.com/office/drawing/2014/main" id="{CF19B229-16AC-4AAE-BA41-3AFED6786F7B}"/>
              </a:ext>
            </a:extLst>
          </p:cNvPr>
          <p:cNvSpPr>
            <a:spLocks xmlns:a="http://schemas.openxmlformats.org/drawingml/2006/main" noGrp="1"/>
          </p:cNvSpPr>
          <p:nvPr/>
        </p:nvSpPr>
        <p:spPr>
          <a:xfrm xmlns:a="http://schemas.openxmlformats.org/drawingml/2006/main" rot="16200000" flipH="1">
            <a:off x="8957587" y="-680357"/>
            <a:ext cx="2562223" cy="3884848"/>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C916FAF3-DF47-4D39-B6F1-D0B18A97188A}"/>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4.xml><?xml version="1.0" encoding="utf-8"?>
<p:sldLayout xmlns:p="http://schemas.openxmlformats.org/presentationml/2006/main" preserve="1" userDrawn="1">
  <p:cSld name="Full slide copy_texture option 3">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A7C78F4-BAF0-437A-B890-C0D36CFC0671}"/>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BCF51FF1-746E-439F-83FB-57971054F233}"/>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85908EF-E20C-4B94-9FB9-7887F5262661}"/>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AF089010-26FF-4595-8B83-CF46E7A1D7A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21" name="Isosceles Triangle 20">
            <a:extLst xmlns:a="http://schemas.openxmlformats.org/drawingml/2006/main">
              <a:ext uri="{FF2B5EF4-FFF2-40B4-BE49-F238E27FC236}">
                <a16:creationId xmlns:a16="http://schemas.microsoft.com/office/drawing/2014/main" id="{517F9D49-44C6-4893-997C-A982FABD18BC}"/>
              </a:ext>
            </a:extLst>
          </p:cNvPr>
          <p:cNvSpPr>
            <a:spLocks xmlns:a="http://schemas.openxmlformats.org/drawingml/2006/main" noGrp="1"/>
          </p:cNvSpPr>
          <p:nvPr/>
        </p:nvSpPr>
        <p:spPr>
          <a:xfrm xmlns:a="http://schemas.openxmlformats.org/drawingml/2006/main" rot="16200000" flipV="1">
            <a:off x="558815" y="4317983"/>
            <a:ext cx="2000250" cy="3117884"/>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Freeform 24">
            <a:extLst xmlns:a="http://schemas.openxmlformats.org/drawingml/2006/main">
              <a:ext uri="{FF2B5EF4-FFF2-40B4-BE49-F238E27FC236}">
                <a16:creationId xmlns:a16="http://schemas.microsoft.com/office/drawing/2014/main" id="{4E6DC48B-D6CC-419D-8282-6A48CD645964}"/>
              </a:ext>
            </a:extLst>
          </p:cNvPr>
          <p:cNvSpPr>
            <a:spLocks xmlns:a="http://schemas.openxmlformats.org/drawingml/2006/main" noGrp="1"/>
          </p:cNvSpPr>
          <p:nvPr/>
        </p:nvSpPr>
        <p:spPr>
          <a:xfrm xmlns:a="http://schemas.openxmlformats.org/drawingml/2006/main" flipH="1">
            <a:off x="-1" y="4876800"/>
            <a:ext cx="1176335" cy="1962472"/>
          </a:xfrm>
          <a:custGeom xmlns:a="http://schemas.openxmlformats.org/drawingml/2006/main">
            <a:gdLst>
              <a:gd name="connsiteX0" fmla="*/ 0 w 1485900"/>
              <a:gd name="connsiteY0" fmla="*/ 0 h 6877050"/>
              <a:gd name="connsiteX1" fmla="*/ 1485900 w 1485900"/>
              <a:gd name="connsiteY1" fmla="*/ 19050 h 6877050"/>
              <a:gd name="connsiteX2" fmla="*/ 1485900 w 1485900"/>
              <a:gd name="connsiteY2" fmla="*/ 6877050 h 6877050"/>
              <a:gd name="connsiteX3" fmla="*/ 1457325 w 1485900"/>
              <a:gd name="connsiteY3" fmla="*/ 6858000 h 6877050"/>
              <a:gd name="connsiteX4" fmla="*/ 0 w 1485900"/>
              <a:gd name="connsiteY4" fmla="*/ 0 h 6877050"/>
              <a:gd name="connsiteX0" fmla="*/ 0 w 1485900"/>
              <a:gd name="connsiteY0" fmla="*/ 0 h 6877050"/>
              <a:gd name="connsiteX1" fmla="*/ 1485900 w 1485900"/>
              <a:gd name="connsiteY1" fmla="*/ 19050 h 6877050"/>
              <a:gd name="connsiteX2" fmla="*/ 1485900 w 1485900"/>
              <a:gd name="connsiteY2" fmla="*/ 6877050 h 6877050"/>
              <a:gd name="connsiteX3" fmla="*/ 1438275 w 1485900"/>
              <a:gd name="connsiteY3" fmla="*/ 6858000 h 6877050"/>
              <a:gd name="connsiteX4" fmla="*/ 0 w 1485900"/>
              <a:gd name="connsiteY4" fmla="*/ 0 h 6877050"/>
              <a:gd name="connsiteX0" fmla="*/ 0 w 1485900"/>
              <a:gd name="connsiteY0" fmla="*/ 0 h 6886575"/>
              <a:gd name="connsiteX1" fmla="*/ 1485900 w 1485900"/>
              <a:gd name="connsiteY1" fmla="*/ 19050 h 6886575"/>
              <a:gd name="connsiteX2" fmla="*/ 1485900 w 1485900"/>
              <a:gd name="connsiteY2" fmla="*/ 6877050 h 6886575"/>
              <a:gd name="connsiteX3" fmla="*/ 1438275 w 1485900"/>
              <a:gd name="connsiteY3" fmla="*/ 6886575 h 6886575"/>
              <a:gd name="connsiteX4" fmla="*/ 0 w 1485900"/>
              <a:gd name="connsiteY4" fmla="*/ 0 h 6886575"/>
              <a:gd name="connsiteX0" fmla="*/ 0 w 1495425"/>
              <a:gd name="connsiteY0" fmla="*/ 1417188 h 8303763"/>
              <a:gd name="connsiteX1" fmla="*/ 1495425 w 1495425"/>
              <a:gd name="connsiteY1" fmla="*/ 0 h 8303763"/>
              <a:gd name="connsiteX2" fmla="*/ 1485900 w 1495425"/>
              <a:gd name="connsiteY2" fmla="*/ 8294238 h 8303763"/>
              <a:gd name="connsiteX3" fmla="*/ 1438275 w 1495425"/>
              <a:gd name="connsiteY3" fmla="*/ 8303763 h 8303763"/>
              <a:gd name="connsiteX4" fmla="*/ 0 w 1495425"/>
              <a:gd name="connsiteY4" fmla="*/ 1417188 h 8303763"/>
              <a:gd name="connsiteX0" fmla="*/ 0 w 1543050"/>
              <a:gd name="connsiteY0" fmla="*/ 1159402 h 8303763"/>
              <a:gd name="connsiteX1" fmla="*/ 1543050 w 1543050"/>
              <a:gd name="connsiteY1" fmla="*/ 0 h 8303763"/>
              <a:gd name="connsiteX2" fmla="*/ 1533525 w 1543050"/>
              <a:gd name="connsiteY2" fmla="*/ 8294238 h 8303763"/>
              <a:gd name="connsiteX3" fmla="*/ 1485900 w 1543050"/>
              <a:gd name="connsiteY3" fmla="*/ 8303763 h 8303763"/>
              <a:gd name="connsiteX4" fmla="*/ 0 w 1543050"/>
              <a:gd name="connsiteY4" fmla="*/ 1159402 h 8303763"/>
              <a:gd name="connsiteX0" fmla="*/ 0 w 1533525"/>
              <a:gd name="connsiteY0" fmla="*/ 2374680 h 9519041"/>
              <a:gd name="connsiteX1" fmla="*/ 1514475 w 1533525"/>
              <a:gd name="connsiteY1" fmla="*/ 0 h 9519041"/>
              <a:gd name="connsiteX2" fmla="*/ 1533525 w 1533525"/>
              <a:gd name="connsiteY2" fmla="*/ 9509516 h 9519041"/>
              <a:gd name="connsiteX3" fmla="*/ 1485900 w 1533525"/>
              <a:gd name="connsiteY3" fmla="*/ 9519041 h 9519041"/>
              <a:gd name="connsiteX4" fmla="*/ 0 w 1533525"/>
              <a:gd name="connsiteY4" fmla="*/ 2374680 h 9519041"/>
              <a:gd name="connsiteX0" fmla="*/ 0 w 1362075"/>
              <a:gd name="connsiteY0" fmla="*/ 54604 h 9519041"/>
              <a:gd name="connsiteX1" fmla="*/ 1343025 w 1362075"/>
              <a:gd name="connsiteY1" fmla="*/ 0 h 9519041"/>
              <a:gd name="connsiteX2" fmla="*/ 1362075 w 1362075"/>
              <a:gd name="connsiteY2" fmla="*/ 9509516 h 9519041"/>
              <a:gd name="connsiteX3" fmla="*/ 1314450 w 1362075"/>
              <a:gd name="connsiteY3" fmla="*/ 9519041 h 9519041"/>
              <a:gd name="connsiteX4" fmla="*/ 0 w 1362075"/>
              <a:gd name="connsiteY4" fmla="*/ 54604 h 9519041"/>
              <a:gd name="connsiteX0" fmla="*/ 0 w 2209800"/>
              <a:gd name="connsiteY0" fmla="*/ 17777 h 9519041"/>
              <a:gd name="connsiteX1" fmla="*/ 2190750 w 2209800"/>
              <a:gd name="connsiteY1" fmla="*/ 0 h 9519041"/>
              <a:gd name="connsiteX2" fmla="*/ 2209800 w 2209800"/>
              <a:gd name="connsiteY2" fmla="*/ 9509516 h 9519041"/>
              <a:gd name="connsiteX3" fmla="*/ 2162175 w 2209800"/>
              <a:gd name="connsiteY3" fmla="*/ 9519041 h 9519041"/>
              <a:gd name="connsiteX4" fmla="*/ 0 w 2209800"/>
              <a:gd name="connsiteY4" fmla="*/ 17777 h 9519041"/>
              <a:gd name="connsiteX0" fmla="*/ 0 w 2209800"/>
              <a:gd name="connsiteY0" fmla="*/ 17777 h 9519041"/>
              <a:gd name="connsiteX1" fmla="*/ 2190750 w 2209800"/>
              <a:gd name="connsiteY1" fmla="*/ 0 h 9519041"/>
              <a:gd name="connsiteX2" fmla="*/ 2209800 w 2209800"/>
              <a:gd name="connsiteY2" fmla="*/ 9509516 h 9519041"/>
              <a:gd name="connsiteX3" fmla="*/ 2200275 w 2209800"/>
              <a:gd name="connsiteY3" fmla="*/ 9519041 h 9519041"/>
              <a:gd name="connsiteX4" fmla="*/ 0 w 2209800"/>
              <a:gd name="connsiteY4" fmla="*/ 17777 h 9519041"/>
              <a:gd name="connsiteX0" fmla="*/ 0 w 2209800"/>
              <a:gd name="connsiteY0" fmla="*/ 17777 h 9592694"/>
              <a:gd name="connsiteX1" fmla="*/ 2190750 w 2209800"/>
              <a:gd name="connsiteY1" fmla="*/ 0 h 9592694"/>
              <a:gd name="connsiteX2" fmla="*/ 2209800 w 2209800"/>
              <a:gd name="connsiteY2" fmla="*/ 9509516 h 9592694"/>
              <a:gd name="connsiteX3" fmla="*/ 2200275 w 2209800"/>
              <a:gd name="connsiteY3" fmla="*/ 9592694 h 9592694"/>
              <a:gd name="connsiteX4" fmla="*/ 0 w 2209800"/>
              <a:gd name="connsiteY4" fmla="*/ 17777 h 9592694"/>
              <a:gd name="connsiteX0" fmla="*/ 0 w 2279073"/>
              <a:gd name="connsiteY0" fmla="*/ 4906456 h 9592694"/>
              <a:gd name="connsiteX1" fmla="*/ 2260023 w 2279073"/>
              <a:gd name="connsiteY1" fmla="*/ 0 h 9592694"/>
              <a:gd name="connsiteX2" fmla="*/ 2279073 w 2279073"/>
              <a:gd name="connsiteY2" fmla="*/ 9509516 h 9592694"/>
              <a:gd name="connsiteX3" fmla="*/ 2269548 w 2279073"/>
              <a:gd name="connsiteY3" fmla="*/ 9592694 h 9592694"/>
              <a:gd name="connsiteX4" fmla="*/ 0 w 2279073"/>
              <a:gd name="connsiteY4" fmla="*/ 4906456 h 9592694"/>
              <a:gd name="connsiteX0" fmla="*/ 0 w 1711036"/>
              <a:gd name="connsiteY0" fmla="*/ 3742485 h 9592694"/>
              <a:gd name="connsiteX1" fmla="*/ 1691986 w 1711036"/>
              <a:gd name="connsiteY1" fmla="*/ 0 h 9592694"/>
              <a:gd name="connsiteX2" fmla="*/ 1711036 w 1711036"/>
              <a:gd name="connsiteY2" fmla="*/ 9509516 h 9592694"/>
              <a:gd name="connsiteX3" fmla="*/ 1701511 w 1711036"/>
              <a:gd name="connsiteY3" fmla="*/ 9592694 h 9592694"/>
              <a:gd name="connsiteX4" fmla="*/ 0 w 1711036"/>
              <a:gd name="connsiteY4" fmla="*/ 3742485 h 9592694"/>
            </a:gdLst>
            <a:rect l="l" t="t" r="r" b="b"/>
            <a:pathLst>
              <a:path w="1711036" h="9592694">
                <a:moveTo>
                  <a:pt x="0" y="3742485"/>
                </a:moveTo>
                <a:lnTo>
                  <a:pt x="1691986" y="0"/>
                </a:lnTo>
                <a:lnTo>
                  <a:pt x="1711036" y="9509516"/>
                </a:lnTo>
                <a:lnTo>
                  <a:pt x="1701511" y="9592694"/>
                </a:lnTo>
                <a:lnTo>
                  <a:pt x="0" y="3742485"/>
                </a:lnTo>
                <a:close/>
              </a:path>
            </a:pathLst>
          </a:custGeom>
          <a:solidFill xmlns:a="http://schemas.openxmlformats.org/drawingml/2006/main">
            <a:srgbClr val="006CAB">
              <a:alpha val="5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13C6D13E-CFCB-47C9-B8DB-2A2A8DC4D5A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Masters/_rels/slideMaster1.xml.rels><?xml version='1.0' encoding='UTF-8' standalone='yes'?>
<Relationships xmlns="http://schemas.openxmlformats.org/package/2006/relationships"><Relationship Id="R1b9328ccffe648b4" Type="http://schemas.openxmlformats.org/officeDocument/2006/relationships/slideLayout" Target="../slideLayouts/slideLayout8.xml"/><Relationship Id="R1dfc7f19fa704866" Type="http://schemas.openxmlformats.org/officeDocument/2006/relationships/slideLayout" Target="../slideLayouts/slideLayout14.xml"/><Relationship Id="R1ffa163bd37f414f" Type="http://schemas.openxmlformats.org/officeDocument/2006/relationships/slideLayout" Target="../slideLayouts/slideLayout3.xml"/><Relationship Id="R2a86f35e3c584ee9" Type="http://schemas.openxmlformats.org/officeDocument/2006/relationships/theme" Target="theme/theme2.xml"/><Relationship Id="R3a0dc306b4894c6d" Type="http://schemas.openxmlformats.org/officeDocument/2006/relationships/slideLayout" Target="../slideLayouts/slideLayout5.xml"/><Relationship Id="R42a1128e575d497b" Type="http://schemas.openxmlformats.org/officeDocument/2006/relationships/slideLayout" Target="../slideLayouts/slideLayout2.xml"/><Relationship Id="R589b750b09334bb5" Type="http://schemas.openxmlformats.org/officeDocument/2006/relationships/slideLayout" Target="../slideLayouts/slideLayout4.xml"/><Relationship Id="R5af9248e6aca4236" Type="http://schemas.openxmlformats.org/officeDocument/2006/relationships/slideLayout" Target="../slideLayouts/slideLayout6.xml"/><Relationship Id="R72188e8a28aa44ac" Type="http://schemas.openxmlformats.org/officeDocument/2006/relationships/slideLayout" Target="../slideLayouts/slideLayout1.xml"/><Relationship Id="R8c3a2de5b0f54fd2" Type="http://schemas.openxmlformats.org/officeDocument/2006/relationships/slideLayout" Target="../slideLayouts/slideLayout7.xml"/><Relationship Id="R9af3c20229a6487b" Type="http://schemas.openxmlformats.org/officeDocument/2006/relationships/slideLayout" Target="../slideLayouts/slideLayout12.xml"/><Relationship Id="Ra57d29800d784d02" Type="http://schemas.openxmlformats.org/officeDocument/2006/relationships/slideLayout" Target="../slideLayouts/slideLayout11.xml"/><Relationship Id="Rbb8cbd0f6d0046cf" Type="http://schemas.openxmlformats.org/officeDocument/2006/relationships/slideLayout" Target="../slideLayouts/slideLayout10.xml"/><Relationship Id="Rf1a9c5cd38834962" Type="http://schemas.openxmlformats.org/officeDocument/2006/relationships/slideLayout" Target="../slideLayouts/slideLayout13.xml"/><Relationship Id="Rfcaa18d8cdfa451f" Type="http://schemas.openxmlformats.org/officeDocument/2006/relationships/slideLayout" Target="../slideLayouts/slideLayout9.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88e8a28aa44ac"/>
    <p:sldLayoutId xmlns:r="http://schemas.openxmlformats.org/officeDocument/2006/relationships" id="2147483650" r:id="R42a1128e575d497b"/>
    <p:sldLayoutId xmlns:r="http://schemas.openxmlformats.org/officeDocument/2006/relationships" id="2147483651" r:id="R1ffa163bd37f414f"/>
    <p:sldLayoutId xmlns:r="http://schemas.openxmlformats.org/officeDocument/2006/relationships" id="2147483652" r:id="R589b750b09334bb5"/>
    <p:sldLayoutId xmlns:r="http://schemas.openxmlformats.org/officeDocument/2006/relationships" id="2147483653" r:id="R3a0dc306b4894c6d"/>
    <p:sldLayoutId xmlns:r="http://schemas.openxmlformats.org/officeDocument/2006/relationships" id="2147483654" r:id="R5af9248e6aca4236"/>
    <p:sldLayoutId xmlns:r="http://schemas.openxmlformats.org/officeDocument/2006/relationships" id="2147483655" r:id="R8c3a2de5b0f54fd2"/>
    <p:sldLayoutId xmlns:r="http://schemas.openxmlformats.org/officeDocument/2006/relationships" id="2147483656" r:id="R1b9328ccffe648b4"/>
    <p:sldLayoutId xmlns:r="http://schemas.openxmlformats.org/officeDocument/2006/relationships" id="2147483657" r:id="Rfcaa18d8cdfa451f"/>
    <p:sldLayoutId xmlns:r="http://schemas.openxmlformats.org/officeDocument/2006/relationships" id="2147483658" r:id="Rbb8cbd0f6d0046cf"/>
    <p:sldLayoutId xmlns:r="http://schemas.openxmlformats.org/officeDocument/2006/relationships" id="2147483659" r:id="Ra57d29800d784d02"/>
    <p:sldLayoutId xmlns:r="http://schemas.openxmlformats.org/officeDocument/2006/relationships" id="2147483660" r:id="R9af3c20229a6487b"/>
    <p:sldLayoutId xmlns:r="http://schemas.openxmlformats.org/officeDocument/2006/relationships" id="2147483661" r:id="Rf1a9c5cd38834962"/>
    <p:sldLayoutId xmlns:r="http://schemas.openxmlformats.org/officeDocument/2006/relationships" id="2147483662" r:id="R1dfc7f19fa704866"/>
  </p:sldLayoutIdLst>
  <p:hf hdr="0" ftr="0" dt="0"/>
  <p:txStyles>
    <p:titleStyle>
      <a:lvl1pPr xmlns:a="http://schemas.openxmlformats.org/drawingml/2006/main" algn="l" defTabSz="914400">
        <a:lnSpc>
          <a:spcPct val="90000"/>
        </a:lnSpc>
        <a:spcBef>
          <a:spcPct val="0"/>
        </a:spcBef>
        <a:buNone/>
        <a:defRPr sz="3400" b="1" i="0" kern="1200">
          <a:solidFill>
            <a:schemeClr val="bg1"/>
          </a:solidFill>
          <a:latin typeface="Arial Narrow"/>
          <a:ea typeface="Arial Narrow"/>
          <a:cs typeface="Arial Narrow"/>
        </a:defRPr>
      </a:lvl1pPr>
    </p:titleStyle>
    <p:bodyStyle>
      <a:lvl1pPr xmlns:a="http://schemas.openxmlformats.org/drawingml/2006/main" marL="0" indent="0" algn="l" defTabSz="914400">
        <a:lnSpc>
          <a:spcPct val="90000"/>
        </a:lnSpc>
        <a:spcBef>
          <a:spcPts val="1000"/>
        </a:spcBef>
        <a:buFont typeface="Arial"/>
        <a:buNone/>
        <a:defRPr sz="2200" kern="1200">
          <a:solidFill>
            <a:schemeClr val="bg1"/>
          </a:solidFill>
          <a:latin typeface="Arial Narrow"/>
          <a:ea typeface="Arial Narrow"/>
          <a:cs typeface="Arial Narrow"/>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257">
          <p15:clr>
            <a:srgbClr xmlns:a="http://schemas.openxmlformats.org/drawingml/2006/main" val="F26B43"/>
          </p15:clr>
        </p15:guide>
      </p15:sldGuideLst>
    </p:ext>
  </p:extLst>
</p:sldMaster>
</file>

<file path=ppt/slideMasters/theme/theme2.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c9052ae64574d38" Type="http://schemas.openxmlformats.org/officeDocument/2006/relationships/slideLayout" Target="../slideLayouts/slideLayout3.xml"/><Relationship Id="Re4b7dc44a8c84b5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jpg"/><Relationship Id="rId3" Type="http://schemas.openxmlformats.org/officeDocument/2006/relationships/notesSlide" Target="../notesSlides/notesSlide2.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5.xml"/><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CONTEXT-AWARE&#10;ROBOT SAFETY">
            <a:extLst xmlns:a="http://schemas.openxmlformats.org/drawingml/2006/main">
              <a:ext uri="{FF2B5EF4-FFF2-40B4-BE49-F238E27FC236}">
                <a16:creationId xmlns:a16="http://schemas.microsoft.com/office/drawing/2014/main" id="{A3317F18-32B7-44E5-8BC5-E14E9441CD69}"/>
              </a:ext>
            </a:extLst>
          </p:cNvPr>
          <p:cNvSpPr>
            <a:spLocks xmlns:a="http://schemas.openxmlformats.org/drawingml/2006/main" noGrp="1"/>
          </p:cNvSpPr>
          <p:nvPr/>
        </p:nvSpPr>
        <p:spPr>
          <a:xfrm xmlns:a="http://schemas.openxmlformats.org/drawingml/2006/main">
            <a:off x="514350" y="1714500"/>
            <a:ext cx="10382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CONTEXT-AWARE</a:t>
            </a:r>
          </a:p>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ROBOT SAFETY</a:t>
            </a:r>
          </a:p>
        </p:txBody>
      </p:sp>
      <p:sp>
        <p:nvSpPr>
          <p:cNvPr id="2" name="Human–robot ceiling-panel installation">
            <a:extLst xmlns:a="http://schemas.openxmlformats.org/drawingml/2006/main">
              <a:ext uri="{FF2B5EF4-FFF2-40B4-BE49-F238E27FC236}">
                <a16:creationId xmlns:a16="http://schemas.microsoft.com/office/drawing/2014/main" id="{E152C5E9-2D23-4825-81A4-987AECF6E701}"/>
              </a:ext>
            </a:extLst>
          </p:cNvPr>
          <p:cNvSpPr>
            <a:spLocks xmlns:a="http://schemas.openxmlformats.org/drawingml/2006/main" noGrp="1"/>
          </p:cNvSpPr>
          <p:nvPr/>
        </p:nvSpPr>
        <p:spPr>
          <a:xfrm xmlns:a="http://schemas.openxmlformats.org/drawingml/2006/main">
            <a:off x="533400" y="3448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p xmlns:a="http://schemas.openxmlformats.org/drawingml/2006/main">
            <a:pPr>
              <a:defRPr sz="2775" b="0">
                <a:solidFill>
                  <a:srgbClr val="006DAE"/>
                </a:solidFill>
                <a:latin typeface="Arial"/>
                <a:ea typeface="Arial"/>
                <a:cs typeface="Arial"/>
              </a:defRPr>
            </a:pPr>
            <a:r>
              <a:rPr sz="2000" b="0">
                <a:solidFill>
                  <a:srgbClr val="006DAE"/>
                </a:solidFill>
                <a:latin typeface="Arial"/>
                <a:ea typeface="Arial"/>
                <a:cs typeface="Arial"/>
              </a:rPr>
              <a:t>Safety and Efficiency of Context-Aware Speed and Separation Monitoring in Human–Robot Ceiling-Panel Installation</a:t>
            </a:r>
          </a:p>
        </p:txBody>
      </p:sp>
      <p:sp>
        <p:nvSpPr>
          <p:cNvPr id="3" name="Zenan Wu · Luke Siniakov · Michael Magila">
            <a:extLst xmlns:a="http://schemas.openxmlformats.org/drawingml/2006/main">
              <a:ext uri="{FF2B5EF4-FFF2-40B4-BE49-F238E27FC236}">
                <a16:creationId xmlns:a16="http://schemas.microsoft.com/office/drawing/2014/main" id="{EF599501-92F0-4D29-8278-A8C45B8FD8D4}"/>
              </a:ext>
            </a:extLst>
          </p:cNvPr>
          <p:cNvSpPr>
            <a:spLocks xmlns:a="http://schemas.openxmlformats.org/drawingml/2006/main" noGrp="1"/>
          </p:cNvSpPr>
          <p:nvPr/>
        </p:nvSpPr>
        <p:spPr>
          <a:xfrm xmlns:a="http://schemas.openxmlformats.org/drawingml/2006/main">
            <a:off x="533400" y="43053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3D"/>
                </a:solidFill>
                <a:latin typeface="Arial"/>
                <a:ea typeface="Arial"/>
                <a:cs typeface="Arial"/>
              </a:defRPr>
            </a:pPr>
            <a:r>
              <a:rPr sz="2025" b="0">
                <a:solidFill>
                  <a:srgbClr val="172D3D"/>
                </a:solidFill>
                <a:latin typeface="Arial"/>
                <a:ea typeface="Arial"/>
                <a:cs typeface="Arial"/>
              </a:rPr>
              <a:t>Zenan Wu · Luke Siniakov · Michael Magila</a:t>
            </a:r>
          </a:p>
        </p:txBody>
      </p:sp>
      <p:sp>
        <p:nvSpPr>
          <p:cNvPr id="4" name="Primary supervisor: Associate Professor Yihai Fang">
            <a:extLst xmlns:a="http://schemas.openxmlformats.org/drawingml/2006/main">
              <a:ext uri="{FF2B5EF4-FFF2-40B4-BE49-F238E27FC236}">
                <a16:creationId xmlns:a16="http://schemas.microsoft.com/office/drawing/2014/main" id="{189FF469-DE45-4D12-A788-3626CF454F4D}"/>
              </a:ext>
            </a:extLst>
          </p:cNvPr>
          <p:cNvSpPr>
            <a:spLocks xmlns:a="http://schemas.openxmlformats.org/drawingml/2006/main" noGrp="1"/>
          </p:cNvSpPr>
          <p:nvPr/>
        </p:nvSpPr>
        <p:spPr>
          <a:xfrm xmlns:a="http://schemas.openxmlformats.org/drawingml/2006/main">
            <a:off x="533400" y="50006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Primary supervisor: Associate Professor Yihai Fang</a:t>
            </a:r>
          </a:p>
        </p:txBody>
      </p:sp>
      <p:sp>
        <p:nvSpPr>
          <p:cNvPr id="5" name="Technical support: Yizhe (Will) Wang">
            <a:extLst xmlns:a="http://schemas.openxmlformats.org/drawingml/2006/main">
              <a:ext uri="{FF2B5EF4-FFF2-40B4-BE49-F238E27FC236}">
                <a16:creationId xmlns:a16="http://schemas.microsoft.com/office/drawing/2014/main" id="{C035169A-14F2-43F7-8797-C2C657DED983}"/>
              </a:ext>
            </a:extLst>
          </p:cNvPr>
          <p:cNvSpPr>
            <a:spLocks xmlns:a="http://schemas.openxmlformats.org/drawingml/2006/main" noGrp="1"/>
          </p:cNvSpPr>
          <p:nvPr/>
        </p:nvSpPr>
        <p:spPr>
          <a:xfrm xmlns:a="http://schemas.openxmlformats.org/drawingml/2006/main">
            <a:off x="533400" y="5410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Technical support: Yizhe (Will) Wang</a:t>
            </a:r>
          </a:p>
        </p:txBody>
      </p:sp>
    </p:spTree>
    <p:extLst>
      <p:ext uri="{BB962C8B-B14F-4D97-AF65-F5344CB8AC3E}">
        <p14:creationId xmlns:p14="http://schemas.microsoft.com/office/powerpoint/2010/main" val="1822514080"/>
      </p:ext>
    </p:extLst>
  </p:cSl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Why this problem matters</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02</a:t>
            </a:r>
          </a:p>
        </p:txBody>
      </p:sp>
      <p:sp>
        <p:nvSpPr>
          <p:cNvPr id="5" name="Oval 4"/>
          <p:cNvSpPr/>
          <p:nvPr/>
        </p:nvSpPr>
        <p:spPr>
          <a:xfrm>
            <a:off x="5349240" y="1371600"/>
            <a:ext cx="502920" cy="502920"/>
          </a:xfrm>
          <a:prstGeom prst="ellipse">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6" name="TextBox 5"/>
          <p:cNvSpPr txBox="1"/>
          <p:nvPr/>
        </p:nvSpPr>
        <p:spPr>
          <a:xfrm>
            <a:off x="6035040" y="1325880"/>
            <a:ext cx="5669280" cy="1188720"/>
          </a:xfrm>
          <a:prstGeom prst="rect">
            <a:avLst/>
          </a:prstGeom>
          <a:noFill/>
        </p:spPr>
        <p:txBody>
          <a:bodyPr wrap="square" anchor="t" lIns="45720" rIns="45720">
            <a:spAutoFit/>
          </a:bodyPr>
          <a:lstStyle/>
          <a:p>
            <a:pPr algn="l"/>
            <a:r>
              <a:rPr sz="1900" b="1">
                <a:solidFill>
                  <a:srgbClr val="172D3D"/>
                </a:solidFill>
                <a:latin typeface="Arial"/>
              </a:rPr>
              <a:t>Overhead panel work is heavy and awkward</a:t>
            </a:r>
          </a:p>
          <a:p>
            <a:pPr algn="l">
              <a:spcBef>
                <a:spcPts val="855"/>
              </a:spcBef>
            </a:pPr>
            <a:r>
              <a:rPr sz="1900" b="0">
                <a:solidFill>
                  <a:srgbClr val="172D3D"/>
                </a:solidFill>
                <a:latin typeface="Arial"/>
              </a:rPr>
              <a:t>A robot can hold the panel while the worker does the skilled part.</a:t>
            </a:r>
          </a:p>
        </p:txBody>
      </p:sp>
      <p:sp>
        <p:nvSpPr>
          <p:cNvPr id="7" name="Oval 6"/>
          <p:cNvSpPr/>
          <p:nvPr/>
        </p:nvSpPr>
        <p:spPr>
          <a:xfrm>
            <a:off x="5349240" y="2606039"/>
            <a:ext cx="502920" cy="502920"/>
          </a:xfrm>
          <a:prstGeom prst="ellipse">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8" name="TextBox 7"/>
          <p:cNvSpPr txBox="1"/>
          <p:nvPr/>
        </p:nvSpPr>
        <p:spPr>
          <a:xfrm>
            <a:off x="6035040" y="2560320"/>
            <a:ext cx="5669280" cy="1188720"/>
          </a:xfrm>
          <a:prstGeom prst="rect">
            <a:avLst/>
          </a:prstGeom>
          <a:noFill/>
        </p:spPr>
        <p:txBody>
          <a:bodyPr wrap="square" anchor="t" lIns="45720" rIns="45720">
            <a:spAutoFit/>
          </a:bodyPr>
          <a:lstStyle/>
          <a:p>
            <a:pPr algn="l"/>
            <a:r>
              <a:rPr sz="1900" b="1">
                <a:solidFill>
                  <a:srgbClr val="172D3D"/>
                </a:solidFill>
                <a:latin typeface="Arial"/>
              </a:rPr>
              <a:t>So the worker stands next to a moving robot</a:t>
            </a:r>
          </a:p>
          <a:p>
            <a:pPr algn="l">
              <a:spcBef>
                <a:spcPts val="855"/>
              </a:spcBef>
            </a:pPr>
            <a:r>
              <a:rPr sz="1900" b="0">
                <a:solidFill>
                  <a:srgbClr val="172D3D"/>
                </a:solidFill>
                <a:latin typeface="Arial"/>
              </a:rPr>
              <a:t>Safety zones stop the robot whenever someone is close.</a:t>
            </a:r>
          </a:p>
        </p:txBody>
      </p:sp>
      <p:sp>
        <p:nvSpPr>
          <p:cNvPr id="9" name="Oval 8"/>
          <p:cNvSpPr/>
          <p:nvPr/>
        </p:nvSpPr>
        <p:spPr>
          <a:xfrm>
            <a:off x="5349240" y="3840480"/>
            <a:ext cx="502920" cy="502920"/>
          </a:xfrm>
          <a:prstGeom prst="ellipse">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0" name="TextBox 9"/>
          <p:cNvSpPr txBox="1"/>
          <p:nvPr/>
        </p:nvSpPr>
        <p:spPr>
          <a:xfrm>
            <a:off x="6035040" y="3794760"/>
            <a:ext cx="5669280" cy="1188720"/>
          </a:xfrm>
          <a:prstGeom prst="rect">
            <a:avLst/>
          </a:prstGeom>
          <a:noFill/>
        </p:spPr>
        <p:txBody>
          <a:bodyPr wrap="square" anchor="t" lIns="45720" rIns="45720">
            <a:spAutoFit/>
          </a:bodyPr>
          <a:lstStyle/>
          <a:p>
            <a:pPr algn="l"/>
            <a:r>
              <a:rPr sz="1900" b="1">
                <a:solidFill>
                  <a:srgbClr val="172D3D"/>
                </a:solidFill>
                <a:latin typeface="Arial"/>
              </a:rPr>
              <a:t>Stop too late: injury.  Stop too often: no one uses it.</a:t>
            </a:r>
          </a:p>
          <a:p>
            <a:pPr algn="l">
              <a:spcBef>
                <a:spcPts val="855"/>
              </a:spcBef>
            </a:pPr>
            <a:r>
              <a:rPr sz="1900" b="0">
                <a:solidFill>
                  <a:srgbClr val="172D3D"/>
                </a:solidFill>
                <a:latin typeface="Arial"/>
              </a:rPr>
              <a:t>Crews and contractors need it right both ways.</a:t>
            </a:r>
          </a:p>
        </p:txBody>
      </p:sp>
      <p:sp>
        <p:nvSpPr>
          <p:cNvPr id="11" name="Rounded Rectangle 10"/>
          <p:cNvSpPr/>
          <p:nvPr/>
        </p:nvSpPr>
        <p:spPr>
          <a:xfrm>
            <a:off x="5349240" y="5120640"/>
            <a:ext cx="6355080" cy="73152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5148072"/>
            <a:ext cx="6126480" cy="685800"/>
          </a:xfrm>
          <a:prstGeom prst="rect">
            <a:avLst/>
          </a:prstGeom>
          <a:noFill/>
        </p:spPr>
        <p:txBody>
          <a:bodyPr wrap="square" anchor="ctr" lIns="45720" rIns="45720">
            <a:spAutoFit/>
          </a:bodyPr>
          <a:lstStyle/>
          <a:p>
            <a:pPr algn="l"/>
            <a:r>
              <a:rPr sz="1600" b="1">
                <a:solidFill>
                  <a:srgbClr val="FFFFFF"/>
                </a:solidFill>
                <a:latin typeface="Arial"/>
              </a:rPr>
              <a:t>Our question: </a:t>
            </a:r>
            <a:r>
              <a:rPr sz="1600" b="0">
                <a:solidFill>
                  <a:srgbClr val="FFFFFF"/>
                </a:solidFill>
                <a:latin typeface="Arial"/>
              </a:rPr>
              <a:t>can a robot that knows the task phase keep workers as safe as fixed zones, and still keep the work efficient?</a:t>
            </a:r>
          </a:p>
        </p:txBody>
      </p:sp>
      <p:pic>
        <p:nvPicPr>
          <p:cNvPr id="13" name="Picture 12" descr="site-ceiling-board.jpg"/>
          <p:cNvPicPr>
            <a:picLocks noChangeAspect="1"/>
          </p:cNvPicPr>
          <p:nvPr/>
        </p:nvPicPr>
        <p:blipFill>
          <a:blip r:embed="rId4"/>
          <a:srcRect t="3003" b="9399"/>
          <a:stretch>
            <a:fillRect/>
          </a:stretch>
        </p:blipFill>
        <p:spPr>
          <a:xfrm>
            <a:off x="548640" y="1325880"/>
            <a:ext cx="4187952" cy="2744253"/>
          </a:xfrm>
          <a:prstGeom prst="rect">
            <a:avLst/>
          </a:prstGeom>
        </p:spPr>
      </p:pic>
      <p:sp>
        <p:nvSpPr>
          <p:cNvPr id="14" name="Rounded Rectangle 13"/>
          <p:cNvSpPr/>
          <p:nvPr/>
        </p:nvSpPr>
        <p:spPr>
          <a:xfrm>
            <a:off x="658368" y="1435608"/>
            <a:ext cx="1600200" cy="347472"/>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1463040"/>
            <a:ext cx="1508760" cy="310896"/>
          </a:xfrm>
          <a:prstGeom prst="rect">
            <a:avLst/>
          </a:prstGeom>
          <a:noFill/>
        </p:spPr>
        <p:txBody>
          <a:bodyPr wrap="square" anchor="t" lIns="45720" rIns="45720">
            <a:spAutoFit/>
          </a:bodyPr>
          <a:lstStyle/>
          <a:p>
            <a:pPr algn="l"/>
            <a:r>
              <a:rPr sz="1300" b="1">
                <a:solidFill>
                  <a:srgbClr val="FFFFFF"/>
                </a:solidFill>
                <a:latin typeface="Arial"/>
              </a:rPr>
              <a:t>On site today</a:t>
            </a:r>
          </a:p>
        </p:txBody>
      </p:sp>
      <p:sp>
        <p:nvSpPr>
          <p:cNvPr id="16" name="TextBox 15"/>
          <p:cNvSpPr txBox="1"/>
          <p:nvPr/>
        </p:nvSpPr>
        <p:spPr>
          <a:xfrm>
            <a:off x="548640" y="4087368"/>
            <a:ext cx="4187952" cy="201168"/>
          </a:xfrm>
          <a:prstGeom prst="rect">
            <a:avLst/>
          </a:prstGeom>
          <a:noFill/>
        </p:spPr>
        <p:txBody>
          <a:bodyPr wrap="square" anchor="t" lIns="45720" rIns="45720">
            <a:spAutoFit/>
          </a:bodyPr>
          <a:lstStyle/>
          <a:p>
            <a:pPr algn="l"/>
            <a:r>
              <a:rPr sz="900" b="0">
                <a:solidFill>
                  <a:srgbClr val="536B79"/>
                </a:solidFill>
                <a:latin typeface="Arial"/>
              </a:rPr>
              <a:t>Photo: Qole Pejorian, CC BY 2.0</a:t>
            </a:r>
          </a:p>
        </p:txBody>
      </p:sp>
      <p:pic>
        <p:nvPicPr>
          <p:cNvPr id="17" name="Picture 16" descr="image.jpg"/>
          <p:cNvPicPr>
            <a:picLocks noChangeAspect="1"/>
          </p:cNvPicPr>
          <p:nvPr/>
        </p:nvPicPr>
        <p:blipFill>
          <a:blip r:embed="rId2"/>
          <a:stretch>
            <a:fillRect/>
          </a:stretch>
        </p:blipFill>
        <p:spPr>
          <a:xfrm>
            <a:off x="548640" y="4343400"/>
            <a:ext cx="1397000" cy="1508760"/>
          </a:xfrm>
          <a:prstGeom prst="rect">
            <a:avLst/>
          </a:prstGeom>
        </p:spPr>
      </p:pic>
      <p:sp>
        <p:nvSpPr>
          <p:cNvPr id="18" name="TextBox 17"/>
          <p:cNvSpPr txBox="1"/>
          <p:nvPr/>
        </p:nvSpPr>
        <p:spPr>
          <a:xfrm>
            <a:off x="2103120" y="4343400"/>
            <a:ext cx="2651760" cy="1508760"/>
          </a:xfrm>
          <a:prstGeom prst="rect">
            <a:avLst/>
          </a:prstGeom>
          <a:noFill/>
        </p:spPr>
        <p:txBody>
          <a:bodyPr wrap="square" anchor="ctr" lIns="45720" rIns="45720">
            <a:spAutoFit/>
          </a:bodyPr>
          <a:lstStyle/>
          <a:p>
            <a:pPr algn="l"/>
            <a:r>
              <a:rPr sz="1500" b="1">
                <a:solidFill>
                  <a:srgbClr val="006DAE"/>
                </a:solidFill>
                <a:latin typeface="Arial"/>
              </a:rPr>
              <a:t>In our lab</a:t>
            </a:r>
          </a:p>
          <a:p>
            <a:pPr algn="l">
              <a:spcBef>
                <a:spcPts val="675"/>
              </a:spcBef>
            </a:pPr>
            <a:r>
              <a:rPr sz="1500" b="0">
                <a:solidFill>
                  <a:srgbClr val="172D3D"/>
                </a:solidFill>
                <a:latin typeface="Arial"/>
              </a:rPr>
              <a:t>The robot holds the panel; the worker aligns and fixes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Our solution: a robot that knows the task phase</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03</a:t>
            </a:r>
          </a:p>
        </p:txBody>
      </p:sp>
      <p:sp>
        <p:nvSpPr>
          <p:cNvPr id="4" name="Rounded Rectangle 3"/>
          <p:cNvSpPr/>
          <p:nvPr/>
        </p:nvSpPr>
        <p:spPr>
          <a:xfrm>
            <a:off x="548640" y="1325880"/>
            <a:ext cx="3520440" cy="2331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3200400" cy="457200"/>
          </a:xfrm>
          <a:prstGeom prst="rect">
            <a:avLst/>
          </a:prstGeom>
          <a:noFill/>
        </p:spPr>
        <p:txBody>
          <a:bodyPr wrap="square" anchor="t" lIns="45720" rIns="45720">
            <a:spAutoFit/>
          </a:bodyPr>
          <a:lstStyle/>
          <a:p>
            <a:pPr algn="l"/>
            <a:r>
              <a:rPr sz="2200" b="1">
                <a:solidFill>
                  <a:srgbClr val="172D3D"/>
                </a:solidFill>
                <a:latin typeface="Arial"/>
              </a:rPr>
              <a:t>Fixed zones</a:t>
            </a:r>
          </a:p>
        </p:txBody>
      </p:sp>
      <p:sp>
        <p:nvSpPr>
          <p:cNvPr id="6" name="TextBox 5"/>
          <p:cNvSpPr txBox="1"/>
          <p:nvPr/>
        </p:nvSpPr>
        <p:spPr>
          <a:xfrm>
            <a:off x="731520" y="1965960"/>
            <a:ext cx="3200400" cy="914400"/>
          </a:xfrm>
          <a:prstGeom prst="rect">
            <a:avLst/>
          </a:prstGeom>
          <a:noFill/>
        </p:spPr>
        <p:txBody>
          <a:bodyPr wrap="square" anchor="t" lIns="45720" rIns="45720">
            <a:spAutoFit/>
          </a:bodyPr>
          <a:lstStyle/>
          <a:p>
            <a:pPr algn="l"/>
            <a:r>
              <a:rPr sz="1800" b="0">
                <a:solidFill>
                  <a:srgbClr val="172D3D"/>
                </a:solidFill>
                <a:latin typeface="Arial"/>
              </a:rPr>
              <a:t>Distance only</a:t>
            </a:r>
          </a:p>
        </p:txBody>
      </p:sp>
      <p:sp>
        <p:nvSpPr>
          <p:cNvPr id="7" name="TextBox 6"/>
          <p:cNvSpPr txBox="1"/>
          <p:nvPr/>
        </p:nvSpPr>
        <p:spPr>
          <a:xfrm>
            <a:off x="731520" y="3017520"/>
            <a:ext cx="3200400" cy="548640"/>
          </a:xfrm>
          <a:prstGeom prst="rect">
            <a:avLst/>
          </a:prstGeom>
          <a:noFill/>
        </p:spPr>
        <p:txBody>
          <a:bodyPr wrap="square" anchor="t" lIns="45720" rIns="45720">
            <a:spAutoFit/>
          </a:bodyPr>
          <a:lstStyle/>
          <a:p>
            <a:pPr algn="l"/>
            <a:r>
              <a:rPr sz="1500" b="0">
                <a:solidFill>
                  <a:srgbClr val="536B79"/>
                </a:solidFill>
                <a:latin typeface="Arial"/>
              </a:rPr>
              <a:t>Today's practice: the baseline</a:t>
            </a:r>
          </a:p>
        </p:txBody>
      </p:sp>
      <p:sp>
        <p:nvSpPr>
          <p:cNvPr id="8" name="Right Arrow 7"/>
          <p:cNvSpPr/>
          <p:nvPr/>
        </p:nvSpPr>
        <p:spPr>
          <a:xfrm>
            <a:off x="4096511" y="2286000"/>
            <a:ext cx="274320" cy="36576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325880"/>
            <a:ext cx="3520440" cy="2331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417320"/>
            <a:ext cx="3200400" cy="457200"/>
          </a:xfrm>
          <a:prstGeom prst="rect">
            <a:avLst/>
          </a:prstGeom>
          <a:noFill/>
        </p:spPr>
        <p:txBody>
          <a:bodyPr wrap="square" anchor="t" lIns="45720" rIns="45720">
            <a:spAutoFit/>
          </a:bodyPr>
          <a:lstStyle/>
          <a:p>
            <a:pPr algn="l"/>
            <a:r>
              <a:rPr sz="2200" b="1">
                <a:solidFill>
                  <a:srgbClr val="172D3D"/>
                </a:solidFill>
                <a:latin typeface="Arial"/>
              </a:rPr>
              <a:t>Reactive</a:t>
            </a:r>
          </a:p>
        </p:txBody>
      </p:sp>
      <p:sp>
        <p:nvSpPr>
          <p:cNvPr id="11" name="TextBox 10"/>
          <p:cNvSpPr txBox="1"/>
          <p:nvPr/>
        </p:nvSpPr>
        <p:spPr>
          <a:xfrm>
            <a:off x="4572000" y="1965960"/>
            <a:ext cx="3200400" cy="914400"/>
          </a:xfrm>
          <a:prstGeom prst="rect">
            <a:avLst/>
          </a:prstGeom>
          <a:noFill/>
        </p:spPr>
        <p:txBody>
          <a:bodyPr wrap="square" anchor="t" lIns="45720" rIns="45720">
            <a:spAutoFit/>
          </a:bodyPr>
          <a:lstStyle/>
          <a:p>
            <a:pPr algn="l"/>
            <a:r>
              <a:rPr sz="1800" b="0">
                <a:solidFill>
                  <a:srgbClr val="172D3D"/>
                </a:solidFill>
                <a:latin typeface="Arial"/>
              </a:rPr>
              <a:t>Distance + how fast you approach</a:t>
            </a:r>
          </a:p>
        </p:txBody>
      </p:sp>
      <p:sp>
        <p:nvSpPr>
          <p:cNvPr id="12" name="TextBox 11"/>
          <p:cNvSpPr txBox="1"/>
          <p:nvPr/>
        </p:nvSpPr>
        <p:spPr>
          <a:xfrm>
            <a:off x="4572000" y="3017520"/>
            <a:ext cx="3200400" cy="548640"/>
          </a:xfrm>
          <a:prstGeom prst="rect">
            <a:avLst/>
          </a:prstGeom>
          <a:noFill/>
        </p:spPr>
        <p:txBody>
          <a:bodyPr wrap="square" anchor="t" lIns="45720" rIns="45720">
            <a:spAutoFit/>
          </a:bodyPr>
          <a:lstStyle/>
          <a:p>
            <a:pPr algn="l"/>
            <a:r>
              <a:rPr sz="1500" b="0">
                <a:solidFill>
                  <a:srgbClr val="536B79"/>
                </a:solidFill>
                <a:latin typeface="Arial"/>
              </a:rPr>
              <a:t>Shows what movement adds</a:t>
            </a:r>
          </a:p>
        </p:txBody>
      </p:sp>
      <p:sp>
        <p:nvSpPr>
          <p:cNvPr id="13" name="Right Arrow 12"/>
          <p:cNvSpPr/>
          <p:nvPr/>
        </p:nvSpPr>
        <p:spPr>
          <a:xfrm>
            <a:off x="7936992" y="2286000"/>
            <a:ext cx="274320" cy="36576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0" y="1325880"/>
            <a:ext cx="3520440" cy="2331720"/>
          </a:xfrm>
          <a:prstGeom prst="roundRect">
            <a:avLst>
              <a:gd name="adj" fmla="val 8000"/>
            </a:avLst>
          </a:prstGeom>
          <a:solidFill>
            <a:srgbClr val="E5EDF2"/>
          </a:solidFill>
          <a:ln w="19050">
            <a:solidFill>
              <a:srgbClr val="006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417320"/>
            <a:ext cx="3200400" cy="457200"/>
          </a:xfrm>
          <a:prstGeom prst="rect">
            <a:avLst/>
          </a:prstGeom>
          <a:noFill/>
        </p:spPr>
        <p:txBody>
          <a:bodyPr wrap="square" anchor="t" lIns="45720" rIns="45720">
            <a:spAutoFit/>
          </a:bodyPr>
          <a:lstStyle/>
          <a:p>
            <a:pPr algn="l"/>
            <a:r>
              <a:rPr sz="2200" b="1">
                <a:solidFill>
                  <a:srgbClr val="006DAE"/>
                </a:solidFill>
                <a:latin typeface="Arial"/>
              </a:rPr>
              <a:t>Predictive (ours)</a:t>
            </a:r>
          </a:p>
        </p:txBody>
      </p:sp>
      <p:sp>
        <p:nvSpPr>
          <p:cNvPr id="16" name="TextBox 15"/>
          <p:cNvSpPr txBox="1"/>
          <p:nvPr/>
        </p:nvSpPr>
        <p:spPr>
          <a:xfrm>
            <a:off x="8412480" y="1965960"/>
            <a:ext cx="3200400" cy="914400"/>
          </a:xfrm>
          <a:prstGeom prst="rect">
            <a:avLst/>
          </a:prstGeom>
          <a:noFill/>
        </p:spPr>
        <p:txBody>
          <a:bodyPr wrap="square" anchor="t" lIns="45720" rIns="45720">
            <a:spAutoFit/>
          </a:bodyPr>
          <a:lstStyle/>
          <a:p>
            <a:pPr algn="l"/>
            <a:r>
              <a:rPr sz="1800" b="0">
                <a:solidFill>
                  <a:srgbClr val="172D3D"/>
                </a:solidFill>
                <a:latin typeface="Arial"/>
              </a:rPr>
              <a:t>+ task phase
+ 'about to step in' predictor</a:t>
            </a:r>
          </a:p>
        </p:txBody>
      </p:sp>
      <p:sp>
        <p:nvSpPr>
          <p:cNvPr id="17" name="TextBox 16"/>
          <p:cNvSpPr txBox="1"/>
          <p:nvPr/>
        </p:nvSpPr>
        <p:spPr>
          <a:xfrm>
            <a:off x="8412480" y="3017520"/>
            <a:ext cx="3200400" cy="548640"/>
          </a:xfrm>
          <a:prstGeom prst="rect">
            <a:avLst/>
          </a:prstGeom>
          <a:noFill/>
        </p:spPr>
        <p:txBody>
          <a:bodyPr wrap="square" anchor="t" lIns="45720" rIns="45720">
            <a:spAutoFit/>
          </a:bodyPr>
          <a:lstStyle/>
          <a:p>
            <a:pPr algn="l"/>
            <a:r>
              <a:rPr sz="1500" b="0">
                <a:solidFill>
                  <a:srgbClr val="536B79"/>
                </a:solidFill>
                <a:latin typeface="Arial"/>
              </a:rPr>
              <a:t>Shows what context adds</a:t>
            </a:r>
          </a:p>
        </p:txBody>
      </p:sp>
      <p:sp>
        <p:nvSpPr>
          <p:cNvPr id="18" name="Rounded Rectangle 17"/>
          <p:cNvSpPr/>
          <p:nvPr/>
        </p:nvSpPr>
        <p:spPr>
          <a:xfrm>
            <a:off x="548640" y="3886200"/>
            <a:ext cx="11201400" cy="77724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931920"/>
            <a:ext cx="10881360" cy="685800"/>
          </a:xfrm>
          <a:prstGeom prst="rect">
            <a:avLst/>
          </a:prstGeom>
          <a:noFill/>
        </p:spPr>
        <p:txBody>
          <a:bodyPr wrap="square" anchor="ctr" lIns="45720" rIns="45720">
            <a:spAutoFit/>
          </a:bodyPr>
          <a:lstStyle/>
          <a:p>
            <a:pPr algn="l"/>
            <a:r>
              <a:rPr sz="2100" b="1">
                <a:solidFill>
                  <a:srgbClr val="FFFFFF"/>
                </a:solidFill>
                <a:latin typeface="Arial"/>
              </a:rPr>
              <a:t>Safety rule: the learned parts can only slow the robot, never speed it up</a:t>
            </a:r>
          </a:p>
        </p:txBody>
      </p:sp>
      <p:sp>
        <p:nvSpPr>
          <p:cNvPr id="20" name="TextBox 19"/>
          <p:cNvSpPr txBox="1"/>
          <p:nvPr/>
        </p:nvSpPr>
        <p:spPr>
          <a:xfrm>
            <a:off x="548640" y="4846320"/>
            <a:ext cx="3566160" cy="1371600"/>
          </a:xfrm>
          <a:prstGeom prst="rect">
            <a:avLst/>
          </a:prstGeom>
          <a:noFill/>
        </p:spPr>
        <p:txBody>
          <a:bodyPr wrap="square" anchor="t" lIns="45720" rIns="45720">
            <a:spAutoFit/>
          </a:bodyPr>
          <a:lstStyle/>
          <a:p>
            <a:pPr algn="l"/>
            <a:r>
              <a:rPr sz="1600" b="1">
                <a:solidFill>
                  <a:srgbClr val="006DAE"/>
                </a:solidFill>
                <a:latin typeface="Arial"/>
              </a:rPr>
              <a:t>Why speed and separation?</a:t>
            </a:r>
          </a:p>
          <a:p>
            <a:pPr algn="l">
              <a:spcBef>
                <a:spcPts val="720"/>
              </a:spcBef>
            </a:pPr>
            <a:r>
              <a:rPr sz="1600" b="0">
                <a:solidFill>
                  <a:srgbClr val="172D3D"/>
                </a:solidFill>
                <a:latin typeface="Arial"/>
              </a:rPr>
              <a:t>The robot carries a panel, so contact while moving is not acceptable</a:t>
            </a:r>
          </a:p>
        </p:txBody>
      </p:sp>
      <p:sp>
        <p:nvSpPr>
          <p:cNvPr id="21" name="TextBox 20"/>
          <p:cNvSpPr txBox="1"/>
          <p:nvPr/>
        </p:nvSpPr>
        <p:spPr>
          <a:xfrm>
            <a:off x="4389120" y="4846320"/>
            <a:ext cx="3566160" cy="1371600"/>
          </a:xfrm>
          <a:prstGeom prst="rect">
            <a:avLst/>
          </a:prstGeom>
          <a:noFill/>
        </p:spPr>
        <p:txBody>
          <a:bodyPr wrap="square" anchor="t" lIns="45720" rIns="45720">
            <a:spAutoFit/>
          </a:bodyPr>
          <a:lstStyle/>
          <a:p>
            <a:pPr algn="l"/>
            <a:r>
              <a:rPr sz="1600" b="1">
                <a:solidFill>
                  <a:srgbClr val="006DAE"/>
                </a:solidFill>
                <a:latin typeface="Arial"/>
              </a:rPr>
              <a:t>Why a hidden Markov model?</a:t>
            </a:r>
          </a:p>
          <a:p>
            <a:pPr algn="l">
              <a:spcBef>
                <a:spcPts val="720"/>
              </a:spcBef>
            </a:pPr>
            <a:r>
              <a:rPr sz="1600" b="0">
                <a:solidFill>
                  <a:srgbClr val="172D3D"/>
                </a:solidFill>
                <a:latin typeface="Arial"/>
              </a:rPr>
              <a:t>Explainable phases, little training data, runs in real time</a:t>
            </a:r>
          </a:p>
        </p:txBody>
      </p:sp>
      <p:sp>
        <p:nvSpPr>
          <p:cNvPr id="22" name="TextBox 21"/>
          <p:cNvSpPr txBox="1"/>
          <p:nvPr/>
        </p:nvSpPr>
        <p:spPr>
          <a:xfrm>
            <a:off x="8229600" y="4846320"/>
            <a:ext cx="3566160" cy="1371600"/>
          </a:xfrm>
          <a:prstGeom prst="rect">
            <a:avLst/>
          </a:prstGeom>
          <a:noFill/>
        </p:spPr>
        <p:txBody>
          <a:bodyPr wrap="square" anchor="t" lIns="45720" rIns="45720">
            <a:spAutoFit/>
          </a:bodyPr>
          <a:lstStyle/>
          <a:p>
            <a:pPr algn="l"/>
            <a:r>
              <a:rPr sz="1600" b="1">
                <a:solidFill>
                  <a:srgbClr val="006DAE"/>
                </a:solidFill>
                <a:latin typeface="Arial"/>
              </a:rPr>
              <a:t>Why the 'slow-only' rule?</a:t>
            </a:r>
          </a:p>
          <a:p>
            <a:pPr algn="l">
              <a:spcBef>
                <a:spcPts val="720"/>
              </a:spcBef>
            </a:pPr>
            <a:r>
              <a:rPr sz="1600" b="0">
                <a:solidFill>
                  <a:srgbClr val="172D3D"/>
                </a:solidFill>
                <a:latin typeface="Arial"/>
              </a:rPr>
              <a:t>Safety never depends on the machine-learning being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What we built: the console and the trained model</a:t>
            </a:r>
          </a:p>
        </p:txBody>
      </p:sp>
      <p:pic>
        <p:nvPicPr>
          <p:cNvPr id="3" name="Picture 2" descr="dashboard-participant.png"/>
          <p:cNvPicPr>
            <a:picLocks noChangeAspect="1"/>
          </p:cNvPicPr>
          <p:nvPr/>
        </p:nvPicPr>
        <p:blipFill>
          <a:blip r:embed="rId2"/>
          <a:srcRect l="10312" r="10312" b="23333"/>
          <a:stretch>
            <a:fillRect/>
          </a:stretch>
        </p:blipFill>
        <p:spPr>
          <a:xfrm>
            <a:off x="548640" y="1280160"/>
            <a:ext cx="5486400" cy="2980800"/>
          </a:xfrm>
          <a:prstGeom prst="rect">
            <a:avLst/>
          </a:prstGeom>
        </p:spPr>
      </p:pic>
      <p:pic>
        <p:nvPicPr>
          <p:cNvPr id="4" name="Picture 3" descr="held-out-trial.png"/>
          <p:cNvPicPr>
            <a:picLocks noChangeAspect="1"/>
          </p:cNvPicPr>
          <p:nvPr/>
        </p:nvPicPr>
        <p:blipFill>
          <a:blip r:embed="rId3"/>
          <a:srcRect l="909" r="909" t="2143" b="2976"/>
          <a:stretch>
            <a:fillRect/>
          </a:stretch>
        </p:blipFill>
        <p:spPr>
          <a:xfrm>
            <a:off x="6309360" y="1775240"/>
            <a:ext cx="5394960" cy="1990640"/>
          </a:xfrm>
          <a:prstGeom prst="rect">
            <a:avLst/>
          </a:prstGeom>
        </p:spPr>
      </p:pic>
      <p:sp>
        <p:nvSpPr>
          <p:cNvPr id="5" name="TextBox 4"/>
          <p:cNvSpPr txBox="1"/>
          <p:nvPr/>
        </p:nvSpPr>
        <p:spPr>
          <a:xfrm>
            <a:off x="548640" y="4343400"/>
            <a:ext cx="5486400" cy="1097280"/>
          </a:xfrm>
          <a:prstGeom prst="rect">
            <a:avLst/>
          </a:prstGeom>
          <a:noFill/>
        </p:spPr>
        <p:txBody>
          <a:bodyPr wrap="square" anchor="t" lIns="45720" rIns="45720">
            <a:spAutoFit/>
          </a:bodyPr>
          <a:lstStyle/>
          <a:p>
            <a:pPr algn="l"/>
            <a:r>
              <a:rPr sz="1600" b="1">
                <a:solidFill>
                  <a:srgbClr val="172D3D"/>
                </a:solidFill>
                <a:latin typeface="Arial"/>
              </a:rPr>
              <a:t>Our operator console</a:t>
            </a:r>
          </a:p>
          <a:p>
            <a:pPr algn="l">
              <a:spcBef>
                <a:spcPts val="720"/>
              </a:spcBef>
            </a:pPr>
            <a:r>
              <a:rPr sz="1600" b="0">
                <a:solidFill>
                  <a:srgbClr val="172D3D"/>
                </a:solidFill>
                <a:latin typeface="Arial"/>
              </a:rPr>
              <a:t>Runs every session: checks the sensors, assigns the controller, records everything.</a:t>
            </a:r>
          </a:p>
        </p:txBody>
      </p:sp>
      <p:sp>
        <p:nvSpPr>
          <p:cNvPr id="6" name="TextBox 5"/>
          <p:cNvSpPr txBox="1"/>
          <p:nvPr/>
        </p:nvSpPr>
        <p:spPr>
          <a:xfrm>
            <a:off x="6309360" y="4343400"/>
            <a:ext cx="5394960" cy="1097280"/>
          </a:xfrm>
          <a:prstGeom prst="rect">
            <a:avLst/>
          </a:prstGeom>
          <a:noFill/>
        </p:spPr>
        <p:txBody>
          <a:bodyPr wrap="square" anchor="t" lIns="45720" rIns="45720">
            <a:spAutoFit/>
          </a:bodyPr>
          <a:lstStyle/>
          <a:p>
            <a:pPr algn="l"/>
            <a:r>
              <a:rPr sz="1600" b="1">
                <a:solidFill>
                  <a:srgbClr val="172D3D"/>
                </a:solidFill>
                <a:latin typeface="Arial"/>
              </a:rPr>
              <a:t>Our trained phase model on a new person</a:t>
            </a:r>
          </a:p>
          <a:p>
            <a:pPr algn="l">
              <a:spcBef>
                <a:spcPts val="720"/>
              </a:spcBef>
            </a:pPr>
            <a:r>
              <a:rPr sz="1600" b="0">
                <a:solidFill>
                  <a:srgbClr val="172D3D"/>
                </a:solidFill>
                <a:latin typeface="Arial"/>
              </a:rPr>
              <a:t>Top: what they were doing. Bottom: what the model said, live.</a:t>
            </a:r>
          </a:p>
        </p:txBody>
      </p:sp>
      <p:sp>
        <p:nvSpPr>
          <p:cNvPr id="7" name="TextBox 6"/>
          <p:cNvSpPr txBox="1"/>
          <p:nvPr/>
        </p:nvSpPr>
        <p:spPr>
          <a:xfrm>
            <a:off x="548640" y="5440680"/>
            <a:ext cx="11064240" cy="457200"/>
          </a:xfrm>
          <a:prstGeom prst="rect">
            <a:avLst/>
          </a:prstGeom>
          <a:noFill/>
        </p:spPr>
        <p:txBody>
          <a:bodyPr wrap="square" anchor="t" lIns="45720" rIns="45720">
            <a:spAutoFit/>
          </a:bodyPr>
          <a:lstStyle/>
          <a:p>
            <a:pPr algn="l"/>
            <a:r>
              <a:rPr sz="1500" b="0">
                <a:solidFill>
                  <a:srgbClr val="536B79"/>
                </a:solidFill>
                <a:latin typeface="Arial"/>
              </a:rPr>
              <a:t>Built and trained by the team: 32 labelled trials, about 90,000 motion frames, open on GitHub.</a:t>
            </a:r>
          </a:p>
        </p:txBody>
      </p:sp>
      <p:sp>
        <p:nvSpPr>
          <p:cNvPr id="8" name="TextBox 7"/>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How we tested it</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05</a:t>
            </a:r>
          </a:p>
        </p:txBody>
      </p:sp>
      <p:sp>
        <p:nvSpPr>
          <p:cNvPr id="4" name="Rounded Rectangle 3"/>
          <p:cNvSpPr/>
          <p:nvPr/>
        </p:nvSpPr>
        <p:spPr>
          <a:xfrm>
            <a:off x="548640"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2514600" cy="822960"/>
          </a:xfrm>
          <a:prstGeom prst="rect">
            <a:avLst/>
          </a:prstGeom>
          <a:noFill/>
        </p:spPr>
        <p:txBody>
          <a:bodyPr wrap="square" anchor="t" lIns="45720" rIns="45720">
            <a:spAutoFit/>
          </a:bodyPr>
          <a:lstStyle/>
          <a:p>
            <a:pPr algn="ctr"/>
            <a:r>
              <a:rPr sz="4400" b="1">
                <a:solidFill>
                  <a:srgbClr val="006DAE"/>
                </a:solidFill>
                <a:latin typeface="Arial"/>
              </a:rPr>
              <a:t>12</a:t>
            </a:r>
          </a:p>
        </p:txBody>
      </p:sp>
      <p:sp>
        <p:nvSpPr>
          <p:cNvPr id="6" name="TextBox 5"/>
          <p:cNvSpPr txBox="1"/>
          <p:nvPr/>
        </p:nvSpPr>
        <p:spPr>
          <a:xfrm>
            <a:off x="640080" y="2194560"/>
            <a:ext cx="2331720" cy="1005840"/>
          </a:xfrm>
          <a:prstGeom prst="rect">
            <a:avLst/>
          </a:prstGeom>
          <a:noFill/>
        </p:spPr>
        <p:txBody>
          <a:bodyPr wrap="square" anchor="t" lIns="45720" rIns="45720">
            <a:spAutoFit/>
          </a:bodyPr>
          <a:lstStyle/>
          <a:p>
            <a:pPr algn="ctr"/>
            <a:r>
              <a:rPr sz="1600" b="0">
                <a:solidFill>
                  <a:srgbClr val="172D3D"/>
                </a:solidFill>
                <a:latin typeface="Arial"/>
              </a:rPr>
              <a:t>participants (ethics approved)</a:t>
            </a:r>
          </a:p>
        </p:txBody>
      </p:sp>
      <p:sp>
        <p:nvSpPr>
          <p:cNvPr id="7" name="Right Arrow 6"/>
          <p:cNvSpPr/>
          <p:nvPr/>
        </p:nvSpPr>
        <p:spPr>
          <a:xfrm>
            <a:off x="3090672" y="2103120"/>
            <a:ext cx="301752"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9000"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371600"/>
            <a:ext cx="2514600" cy="822960"/>
          </a:xfrm>
          <a:prstGeom prst="rect">
            <a:avLst/>
          </a:prstGeom>
          <a:noFill/>
        </p:spPr>
        <p:txBody>
          <a:bodyPr wrap="square" anchor="t" lIns="45720" rIns="45720">
            <a:spAutoFit/>
          </a:bodyPr>
          <a:lstStyle/>
          <a:p>
            <a:pPr algn="ctr"/>
            <a:r>
              <a:rPr sz="4400" b="1">
                <a:solidFill>
                  <a:srgbClr val="006DAE"/>
                </a:solidFill>
                <a:latin typeface="Arial"/>
              </a:rPr>
              <a:t>3</a:t>
            </a:r>
          </a:p>
        </p:txBody>
      </p:sp>
      <p:sp>
        <p:nvSpPr>
          <p:cNvPr id="10" name="TextBox 9"/>
          <p:cNvSpPr txBox="1"/>
          <p:nvPr/>
        </p:nvSpPr>
        <p:spPr>
          <a:xfrm>
            <a:off x="3520440" y="2194560"/>
            <a:ext cx="2331720" cy="1005840"/>
          </a:xfrm>
          <a:prstGeom prst="rect">
            <a:avLst/>
          </a:prstGeom>
          <a:noFill/>
        </p:spPr>
        <p:txBody>
          <a:bodyPr wrap="square" anchor="t" lIns="45720" rIns="45720">
            <a:spAutoFit/>
          </a:bodyPr>
          <a:lstStyle/>
          <a:p>
            <a:pPr algn="ctr"/>
            <a:r>
              <a:rPr sz="1600" b="0">
                <a:solidFill>
                  <a:srgbClr val="172D3D"/>
                </a:solidFill>
                <a:latin typeface="Arial"/>
              </a:rPr>
              <a:t>blocks, one controller each, order rotated</a:t>
            </a:r>
          </a:p>
        </p:txBody>
      </p:sp>
      <p:sp>
        <p:nvSpPr>
          <p:cNvPr id="11" name="Right Arrow 10"/>
          <p:cNvSpPr/>
          <p:nvPr/>
        </p:nvSpPr>
        <p:spPr>
          <a:xfrm>
            <a:off x="5971031" y="2103120"/>
            <a:ext cx="301752"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59"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1371600"/>
            <a:ext cx="2514600" cy="822960"/>
          </a:xfrm>
          <a:prstGeom prst="rect">
            <a:avLst/>
          </a:prstGeom>
          <a:noFill/>
        </p:spPr>
        <p:txBody>
          <a:bodyPr wrap="square" anchor="t" lIns="45720" rIns="45720">
            <a:spAutoFit/>
          </a:bodyPr>
          <a:lstStyle/>
          <a:p>
            <a:pPr algn="ctr"/>
            <a:r>
              <a:rPr sz="4400" b="1">
                <a:solidFill>
                  <a:srgbClr val="006DAE"/>
                </a:solidFill>
                <a:latin typeface="Arial"/>
              </a:rPr>
              <a:t>105</a:t>
            </a:r>
          </a:p>
        </p:txBody>
      </p:sp>
      <p:sp>
        <p:nvSpPr>
          <p:cNvPr id="14" name="TextBox 13"/>
          <p:cNvSpPr txBox="1"/>
          <p:nvPr/>
        </p:nvSpPr>
        <p:spPr>
          <a:xfrm>
            <a:off x="6400799" y="2194560"/>
            <a:ext cx="2331720" cy="1005840"/>
          </a:xfrm>
          <a:prstGeom prst="rect">
            <a:avLst/>
          </a:prstGeom>
          <a:noFill/>
        </p:spPr>
        <p:txBody>
          <a:bodyPr wrap="square" anchor="t" lIns="45720" rIns="45720">
            <a:spAutoFit/>
          </a:bodyPr>
          <a:lstStyle/>
          <a:p>
            <a:pPr algn="ctr"/>
            <a:r>
              <a:rPr sz="1600" b="0">
                <a:solidFill>
                  <a:srgbClr val="172D3D"/>
                </a:solidFill>
                <a:latin typeface="Arial"/>
              </a:rPr>
              <a:t>trials of the panel task, with cued moves</a:t>
            </a:r>
          </a:p>
        </p:txBody>
      </p:sp>
      <p:sp>
        <p:nvSpPr>
          <p:cNvPr id="15" name="Right Arrow 14"/>
          <p:cNvSpPr/>
          <p:nvPr/>
        </p:nvSpPr>
        <p:spPr>
          <a:xfrm>
            <a:off x="8851392" y="2103120"/>
            <a:ext cx="301752"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89719"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19" y="1371600"/>
            <a:ext cx="2514600" cy="822960"/>
          </a:xfrm>
          <a:prstGeom prst="rect">
            <a:avLst/>
          </a:prstGeom>
          <a:noFill/>
        </p:spPr>
        <p:txBody>
          <a:bodyPr wrap="square" anchor="t" lIns="45720" rIns="45720">
            <a:spAutoFit/>
          </a:bodyPr>
          <a:lstStyle/>
          <a:p>
            <a:pPr algn="ctr"/>
            <a:r>
              <a:rPr sz="4400" b="1">
                <a:solidFill>
                  <a:srgbClr val="006DAE"/>
                </a:solidFill>
                <a:latin typeface="Arial"/>
              </a:rPr>
              <a:t>31</a:t>
            </a:r>
          </a:p>
        </p:txBody>
      </p:sp>
      <p:sp>
        <p:nvSpPr>
          <p:cNvPr id="18" name="TextBox 17"/>
          <p:cNvSpPr txBox="1"/>
          <p:nvPr/>
        </p:nvSpPr>
        <p:spPr>
          <a:xfrm>
            <a:off x="9281159" y="2194560"/>
            <a:ext cx="2331720" cy="1005840"/>
          </a:xfrm>
          <a:prstGeom prst="rect">
            <a:avLst/>
          </a:prstGeom>
          <a:noFill/>
        </p:spPr>
        <p:txBody>
          <a:bodyPr wrap="square" anchor="t" lIns="45720" rIns="45720">
            <a:spAutoFit/>
          </a:bodyPr>
          <a:lstStyle/>
          <a:p>
            <a:pPr algn="ctr"/>
            <a:r>
              <a:rPr sz="1600" b="0">
                <a:solidFill>
                  <a:srgbClr val="172D3D"/>
                </a:solidFill>
                <a:latin typeface="Arial"/>
              </a:rPr>
              <a:t>questionnaires, one after each block</a:t>
            </a:r>
          </a:p>
        </p:txBody>
      </p:sp>
      <p:sp>
        <p:nvSpPr>
          <p:cNvPr id="19" name="Rounded Rectangle 18"/>
          <p:cNvSpPr/>
          <p:nvPr/>
        </p:nvSpPr>
        <p:spPr>
          <a:xfrm>
            <a:off x="548640" y="3337560"/>
            <a:ext cx="11201400" cy="2468880"/>
          </a:xfrm>
          <a:prstGeom prst="roundRect">
            <a:avLst>
              <a:gd name="adj" fmla="val 8000"/>
            </a:avLst>
          </a:prstGeom>
          <a:solidFill>
            <a:srgbClr val="FFFFFF"/>
          </a:solidFill>
          <a:ln w="19050">
            <a:solidFill>
              <a:srgbClr val="006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74720"/>
            <a:ext cx="10607040" cy="502920"/>
          </a:xfrm>
          <a:prstGeom prst="rect">
            <a:avLst/>
          </a:prstGeom>
          <a:noFill/>
        </p:spPr>
        <p:txBody>
          <a:bodyPr wrap="square" anchor="t" lIns="45720" rIns="45720">
            <a:spAutoFit/>
          </a:bodyPr>
          <a:lstStyle/>
          <a:p>
            <a:pPr algn="l"/>
            <a:r>
              <a:rPr sz="2200" b="1">
                <a:solidFill>
                  <a:srgbClr val="006DAE"/>
                </a:solidFill>
                <a:latin typeface="Arial"/>
              </a:rPr>
              <a:t>The key idea: same-input replay</a:t>
            </a:r>
          </a:p>
        </p:txBody>
      </p:sp>
      <p:sp>
        <p:nvSpPr>
          <p:cNvPr id="21" name="TextBox 20"/>
          <p:cNvSpPr txBox="1"/>
          <p:nvPr/>
        </p:nvSpPr>
        <p:spPr>
          <a:xfrm>
            <a:off x="822960" y="4023360"/>
            <a:ext cx="10698480" cy="1737360"/>
          </a:xfrm>
          <a:prstGeom prst="rect">
            <a:avLst/>
          </a:prstGeom>
          <a:noFill/>
        </p:spPr>
        <p:txBody>
          <a:bodyPr wrap="square" anchor="t" lIns="45720" rIns="45720">
            <a:spAutoFit/>
          </a:bodyPr>
          <a:lstStyle/>
          <a:p>
            <a:pPr algn="l"/>
            <a:r>
              <a:rPr sz="1800" b="0">
                <a:solidFill>
                  <a:srgbClr val="172D3D"/>
                </a:solidFill>
                <a:latin typeface="Arial"/>
              </a:rPr>
              <a:t>Every sensor input was logged, so we re-ran all three controllers on exactly the same human movement.</a:t>
            </a:r>
          </a:p>
          <a:p>
            <a:pPr algn="l">
              <a:spcBef>
                <a:spcPts val="810"/>
              </a:spcBef>
            </a:pPr>
            <a:r>
              <a:rPr sz="1800" b="1">
                <a:solidFill>
                  <a:srgbClr val="172D3D"/>
                </a:solidFill>
                <a:latin typeface="Arial"/>
              </a:rPr>
              <a:t>Like three referees judging the same match footage: </a:t>
            </a:r>
            <a:r>
              <a:rPr sz="1800" b="0">
                <a:solidFill>
                  <a:srgbClr val="172D3D"/>
                </a:solidFill>
                <a:latin typeface="Arial"/>
              </a:rPr>
              <a:t>differences come from the controller, not the person.</a:t>
            </a:r>
          </a:p>
          <a:p>
            <a:pPr algn="l">
              <a:spcBef>
                <a:spcPts val="810"/>
              </a:spcBef>
            </a:pPr>
            <a:r>
              <a:rPr sz="1800" b="0">
                <a:solidFill>
                  <a:srgbClr val="172D3D"/>
                </a:solidFill>
                <a:latin typeface="Arial"/>
              </a:rPr>
              <a:t>The replay matched every robot command the live system actually sent.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The test rig</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06</a:t>
            </a:r>
          </a:p>
        </p:txBody>
      </p:sp>
      <p:pic>
        <p:nvPicPr>
          <p:cNvPr id="4" name="Picture 3" descr="apparatus-a.jpg"/>
          <p:cNvPicPr>
            <a:picLocks noChangeAspect="1"/>
          </p:cNvPicPr>
          <p:nvPr/>
        </p:nvPicPr>
        <p:blipFill>
          <a:blip r:embed="rId2"/>
          <a:stretch>
            <a:fillRect/>
          </a:stretch>
        </p:blipFill>
        <p:spPr>
          <a:xfrm>
            <a:off x="7726679" y="3593592"/>
            <a:ext cx="4023360" cy="2263140"/>
          </a:xfrm>
          <a:prstGeom prst="rect">
            <a:avLst/>
          </a:prstGeom>
        </p:spPr>
      </p:pic>
      <p:pic>
        <p:nvPicPr>
          <p:cNvPr id="5" name="Picture 4" descr="apparatus-b.jpg"/>
          <p:cNvPicPr>
            <a:picLocks noChangeAspect="1"/>
          </p:cNvPicPr>
          <p:nvPr/>
        </p:nvPicPr>
        <p:blipFill>
          <a:blip r:embed="rId3"/>
          <a:stretch>
            <a:fillRect/>
          </a:stretch>
        </p:blipFill>
        <p:spPr>
          <a:xfrm>
            <a:off x="7726679" y="1234440"/>
            <a:ext cx="4023360" cy="2259787"/>
          </a:xfrm>
          <a:prstGeom prst="rect">
            <a:avLst/>
          </a:prstGeom>
        </p:spPr>
      </p:pic>
      <p:sp>
        <p:nvSpPr>
          <p:cNvPr id="7" name="TextBox 6"/>
          <p:cNvSpPr txBox="1"/>
          <p:nvPr/>
        </p:nvSpPr>
        <p:spPr>
          <a:xfrm>
            <a:off x="548640" y="5074920"/>
            <a:ext cx="2194560" cy="868680"/>
          </a:xfrm>
          <a:prstGeom prst="rect">
            <a:avLst/>
          </a:prstGeom>
          <a:noFill/>
        </p:spPr>
        <p:txBody>
          <a:bodyPr wrap="square" anchor="t" lIns="45720" rIns="45720">
            <a:spAutoFit/>
          </a:bodyPr>
          <a:lstStyle/>
          <a:p>
            <a:pPr algn="l"/>
            <a:r>
              <a:rPr sz="1500" b="1">
                <a:solidFill>
                  <a:srgbClr val="006DAE"/>
                </a:solidFill>
                <a:latin typeface="Arial"/>
              </a:rPr>
              <a:t>UR10 robot arm</a:t>
            </a:r>
          </a:p>
          <a:p>
            <a:pPr algn="l">
              <a:spcBef>
                <a:spcPts val="675"/>
              </a:spcBef>
            </a:pPr>
            <a:r>
              <a:rPr sz="1500" b="0">
                <a:solidFill>
                  <a:srgbClr val="172D3D"/>
                </a:solidFill>
                <a:latin typeface="Arial"/>
              </a:rPr>
              <a:t>holds a panel stand-in at ceiling height</a:t>
            </a:r>
          </a:p>
        </p:txBody>
      </p:sp>
      <p:sp>
        <p:nvSpPr>
          <p:cNvPr id="8" name="TextBox 7"/>
          <p:cNvSpPr txBox="1"/>
          <p:nvPr/>
        </p:nvSpPr>
        <p:spPr>
          <a:xfrm>
            <a:off x="2788920" y="5074920"/>
            <a:ext cx="2194560" cy="868680"/>
          </a:xfrm>
          <a:prstGeom prst="rect">
            <a:avLst/>
          </a:prstGeom>
          <a:noFill/>
        </p:spPr>
        <p:txBody>
          <a:bodyPr wrap="square" anchor="t" lIns="45720" rIns="45720">
            <a:spAutoFit/>
          </a:bodyPr>
          <a:lstStyle/>
          <a:p>
            <a:pPr algn="l"/>
            <a:r>
              <a:rPr sz="1500" b="1">
                <a:solidFill>
                  <a:srgbClr val="006DAE"/>
                </a:solidFill>
                <a:latin typeface="Arial"/>
              </a:rPr>
              <a:t>OptiTrack cameras</a:t>
            </a:r>
          </a:p>
          <a:p>
            <a:pPr algn="l">
              <a:spcBef>
                <a:spcPts val="675"/>
              </a:spcBef>
            </a:pPr>
            <a:r>
              <a:rPr sz="1500" b="0">
                <a:solidFill>
                  <a:srgbClr val="172D3D"/>
                </a:solidFill>
                <a:latin typeface="Arial"/>
              </a:rPr>
              <a:t>head position to about a millimetre</a:t>
            </a:r>
          </a:p>
        </p:txBody>
      </p:sp>
      <p:sp>
        <p:nvSpPr>
          <p:cNvPr id="9" name="TextBox 8"/>
          <p:cNvSpPr txBox="1"/>
          <p:nvPr/>
        </p:nvSpPr>
        <p:spPr>
          <a:xfrm>
            <a:off x="5029200" y="5074920"/>
            <a:ext cx="2194560" cy="868680"/>
          </a:xfrm>
          <a:prstGeom prst="rect">
            <a:avLst/>
          </a:prstGeom>
          <a:noFill/>
        </p:spPr>
        <p:txBody>
          <a:bodyPr wrap="square" anchor="t" lIns="45720" rIns="45720">
            <a:spAutoFit/>
          </a:bodyPr>
          <a:lstStyle/>
          <a:p>
            <a:pPr algn="l"/>
            <a:r>
              <a:rPr sz="1500" b="1">
                <a:solidFill>
                  <a:srgbClr val="006DAE"/>
                </a:solidFill>
                <a:latin typeface="Arial"/>
              </a:rPr>
              <a:t>Xsens suit</a:t>
            </a:r>
          </a:p>
          <a:p>
            <a:pPr algn="l">
              <a:spcBef>
                <a:spcPts val="675"/>
              </a:spcBef>
            </a:pPr>
            <a:r>
              <a:rPr sz="1500" b="0">
                <a:solidFill>
                  <a:srgbClr val="172D3D"/>
                </a:solidFill>
                <a:latin typeface="Arial"/>
              </a:rPr>
              <a:t>positions of 23 body segments</a:t>
            </a:r>
          </a:p>
        </p:txBody>
      </p:sp>
      <p:sp>
        <p:nvSpPr>
          <p:cNvPr id="10" name="TextBox 9"/>
          <p:cNvSpPr txBox="1"/>
          <p:nvPr/>
        </p:nvSpPr>
        <p:spPr>
          <a:xfrm>
            <a:off x="9921240" y="868680"/>
            <a:ext cx="1828800" cy="274320"/>
          </a:xfrm>
          <a:prstGeom prst="rect">
            <a:avLst/>
          </a:prstGeom>
          <a:noFill/>
        </p:spPr>
        <p:txBody>
          <a:bodyPr wrap="square" anchor="t" lIns="45720" rIns="45720">
            <a:spAutoFit/>
          </a:bodyPr>
          <a:lstStyle/>
          <a:p>
            <a:pPr algn="r"/>
            <a:r>
              <a:rPr sz="1100" b="0">
                <a:solidFill>
                  <a:srgbClr val="536B79"/>
                </a:solidFill>
                <a:latin typeface="Arial"/>
              </a:rPr>
              <a:t>Faces blurred</a:t>
            </a:r>
          </a:p>
        </p:txBody>
      </p:sp>
      <p:pic>
        <p:nvPicPr>
          <p:cNvPr id="11" name="clip-approach-xsens.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548640" y="1234440"/>
            <a:ext cx="6675120" cy="3754755"/>
          </a:xfrm>
          <a:prstGeom prst="rect">
            <a:avLst/>
          </a:prstGeom>
        </p:spPr>
      </p:pic>
      <p:sp>
        <p:nvSpPr>
          <p:cNvPr id="12" name="Rounded Rectangle 11"/>
          <p:cNvSpPr/>
          <p:nvPr/>
        </p:nvSpPr>
        <p:spPr>
          <a:xfrm>
            <a:off x="658368" y="1344168"/>
            <a:ext cx="2377440" cy="384048"/>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371600"/>
            <a:ext cx="2286000" cy="347472"/>
          </a:xfrm>
          <a:prstGeom prst="rect">
            <a:avLst/>
          </a:prstGeom>
          <a:noFill/>
        </p:spPr>
        <p:txBody>
          <a:bodyPr wrap="square" anchor="t" lIns="45720" rIns="45720">
            <a:spAutoFit/>
          </a:bodyPr>
          <a:lstStyle/>
          <a:p>
            <a:pPr algn="l"/>
            <a:r>
              <a:rPr sz="1300" b="1">
                <a:solidFill>
                  <a:srgbClr val="FFFFFF"/>
                </a:solidFill>
                <a:latin typeface="Arial"/>
              </a:rPr>
              <a:t>▶  Video: click to play (16 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Result 1: all three stopped in time; ours stopped earliest</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07</a:t>
            </a:r>
          </a:p>
        </p:txBody>
      </p:sp>
      <p:sp>
        <p:nvSpPr>
          <p:cNvPr id="4" name="TextBox 3"/>
          <p:cNvSpPr txBox="1"/>
          <p:nvPr/>
        </p:nvSpPr>
        <p:spPr>
          <a:xfrm>
            <a:off x="548640" y="1371600"/>
            <a:ext cx="4937760" cy="868680"/>
          </a:xfrm>
          <a:prstGeom prst="rect">
            <a:avLst/>
          </a:prstGeom>
          <a:noFill/>
        </p:spPr>
        <p:txBody>
          <a:bodyPr wrap="square" anchor="t" lIns="45720" rIns="45720">
            <a:spAutoFit/>
          </a:bodyPr>
          <a:lstStyle/>
          <a:p>
            <a:pPr algn="l"/>
            <a:r>
              <a:rPr sz="4800" b="1">
                <a:solidFill>
                  <a:srgbClr val="006DAE"/>
                </a:solidFill>
                <a:latin typeface="Arial"/>
              </a:rPr>
              <a:t>970 / 970</a:t>
            </a:r>
          </a:p>
        </p:txBody>
      </p:sp>
      <p:sp>
        <p:nvSpPr>
          <p:cNvPr id="5" name="TextBox 4"/>
          <p:cNvSpPr txBox="1"/>
          <p:nvPr/>
        </p:nvSpPr>
        <p:spPr>
          <a:xfrm>
            <a:off x="548640" y="2212848"/>
            <a:ext cx="4937760" cy="822960"/>
          </a:xfrm>
          <a:prstGeom prst="rect">
            <a:avLst/>
          </a:prstGeom>
          <a:noFill/>
        </p:spPr>
        <p:txBody>
          <a:bodyPr wrap="square" anchor="t" lIns="45720" rIns="45720">
            <a:spAutoFit/>
          </a:bodyPr>
          <a:lstStyle/>
          <a:p>
            <a:pPr algn="l"/>
            <a:r>
              <a:rPr sz="1700" b="0">
                <a:solidFill>
                  <a:srgbClr val="172D3D"/>
                </a:solidFill>
                <a:latin typeface="Arial"/>
              </a:rPr>
              <a:t>entries into the stop zone where a stop had already been requested, for all three controllers</a:t>
            </a:r>
          </a:p>
        </p:txBody>
      </p:sp>
      <p:sp>
        <p:nvSpPr>
          <p:cNvPr id="6" name="TextBox 5"/>
          <p:cNvSpPr txBox="1"/>
          <p:nvPr/>
        </p:nvSpPr>
        <p:spPr>
          <a:xfrm>
            <a:off x="548640" y="3429000"/>
            <a:ext cx="4937760" cy="868680"/>
          </a:xfrm>
          <a:prstGeom prst="rect">
            <a:avLst/>
          </a:prstGeom>
          <a:noFill/>
        </p:spPr>
        <p:txBody>
          <a:bodyPr wrap="square" anchor="t" lIns="45720" rIns="45720">
            <a:spAutoFit/>
          </a:bodyPr>
          <a:lstStyle/>
          <a:p>
            <a:pPr algn="l"/>
            <a:r>
              <a:rPr sz="4800" b="1">
                <a:solidFill>
                  <a:srgbClr val="006DAE"/>
                </a:solidFill>
                <a:latin typeface="Arial"/>
              </a:rPr>
              <a:t>+0.11 s</a:t>
            </a:r>
          </a:p>
        </p:txBody>
      </p:sp>
      <p:sp>
        <p:nvSpPr>
          <p:cNvPr id="7" name="TextBox 6"/>
          <p:cNvSpPr txBox="1"/>
          <p:nvPr/>
        </p:nvSpPr>
        <p:spPr>
          <a:xfrm>
            <a:off x="548640" y="4270248"/>
            <a:ext cx="4937760" cy="822960"/>
          </a:xfrm>
          <a:prstGeom prst="rect">
            <a:avLst/>
          </a:prstGeom>
          <a:noFill/>
        </p:spPr>
        <p:txBody>
          <a:bodyPr wrap="square" anchor="t" lIns="45720" rIns="45720">
            <a:spAutoFit/>
          </a:bodyPr>
          <a:lstStyle/>
          <a:p>
            <a:pPr algn="l"/>
            <a:r>
              <a:rPr sz="1700" b="0">
                <a:solidFill>
                  <a:srgbClr val="172D3D"/>
                </a:solidFill>
                <a:latin typeface="Arial"/>
              </a:rPr>
              <a:t>earlier stop request than fixed zones, for all 12 people</a:t>
            </a:r>
          </a:p>
        </p:txBody>
      </p:sp>
      <p:graphicFrame>
        <p:nvGraphicFramePr>
          <p:cNvPr id="8" name="Chart 7"/>
          <p:cNvGraphicFramePr>
            <a:graphicFrameLocks noGrp="1"/>
          </p:cNvGraphicFramePr>
          <p:nvPr/>
        </p:nvGraphicFramePr>
        <p:xfrm>
          <a:off x="5852160" y="1280160"/>
          <a:ext cx="5897880" cy="4297680"/>
        </p:xfrm>
        <a:graphic>
          <a:graphicData uri="http://schemas.openxmlformats.org/drawingml/2006/chart">
            <c:chart xmlns:c="http://schemas.openxmlformats.org/drawingml/2006/chart" r:id="rId2"/>
          </a:graphicData>
        </a:graphic>
      </p:graphicFrame>
      <p:sp>
        <p:nvSpPr>
          <p:cNvPr id="9" name="TextBox 8"/>
          <p:cNvSpPr txBox="1"/>
          <p:nvPr/>
        </p:nvSpPr>
        <p:spPr>
          <a:xfrm>
            <a:off x="5852160" y="5669280"/>
            <a:ext cx="5897880" cy="365760"/>
          </a:xfrm>
          <a:prstGeom prst="rect">
            <a:avLst/>
          </a:prstGeom>
          <a:noFill/>
        </p:spPr>
        <p:txBody>
          <a:bodyPr wrap="square" anchor="t" lIns="45720" rIns="45720">
            <a:spAutoFit/>
          </a:bodyPr>
          <a:lstStyle/>
          <a:p>
            <a:pPr algn="l"/>
            <a:r>
              <a:rPr sz="1300" b="0">
                <a:solidFill>
                  <a:srgbClr val="536B79"/>
                </a:solidFill>
                <a:latin typeface="Arial"/>
              </a:rPr>
              <a:t>Same-input replay, 12 people, 105 trials</a:t>
            </a:r>
          </a:p>
        </p:txBody>
      </p:sp>
      <p:sp>
        <p:nvSpPr>
          <p:cNvPr id="10" name="Rounded Rectangle 9"/>
          <p:cNvSpPr/>
          <p:nvPr/>
        </p:nvSpPr>
        <p:spPr>
          <a:xfrm>
            <a:off x="502920" y="91440"/>
            <a:ext cx="3291840" cy="329184"/>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00584"/>
            <a:ext cx="3200400" cy="310896"/>
          </a:xfrm>
          <a:prstGeom prst="rect">
            <a:avLst/>
          </a:prstGeom>
          <a:noFill/>
        </p:spPr>
        <p:txBody>
          <a:bodyPr wrap="square" anchor="t" lIns="45720" rIns="45720">
            <a:spAutoFit/>
          </a:bodyPr>
          <a:lstStyle/>
          <a:p>
            <a:pPr algn="l"/>
            <a:r>
              <a:rPr sz="1300" b="1">
                <a:solidFill>
                  <a:srgbClr val="FFFFFF"/>
                </a:solidFill>
                <a:latin typeface="Arial"/>
              </a:rPr>
              <a:t>Answers: is it as safe?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Result 2: the cost was brief, unnoticed extra stops</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08</a:t>
            </a:r>
          </a:p>
        </p:txBody>
      </p:sp>
      <p:graphicFrame>
        <p:nvGraphicFramePr>
          <p:cNvPr id="4" name="Chart 3"/>
          <p:cNvGraphicFramePr>
            <a:graphicFrameLocks noGrp="1"/>
          </p:cNvGraphicFramePr>
          <p:nvPr/>
        </p:nvGraphicFramePr>
        <p:xfrm>
          <a:off x="548640" y="1280160"/>
          <a:ext cx="5760720" cy="4297680"/>
        </p:xfrm>
        <a:graphic>
          <a:graphicData uri="http://schemas.openxmlformats.org/drawingml/2006/chart">
            <c:chart xmlns:c="http://schemas.openxmlformats.org/drawingml/2006/chart" r:id="rId2"/>
          </a:graphicData>
        </a:graphic>
      </p:graphicFrame>
      <p:sp>
        <p:nvSpPr>
          <p:cNvPr id="5" name="TextBox 4"/>
          <p:cNvSpPr txBox="1"/>
          <p:nvPr/>
        </p:nvSpPr>
        <p:spPr>
          <a:xfrm>
            <a:off x="6675120" y="1280160"/>
            <a:ext cx="5029200" cy="868680"/>
          </a:xfrm>
          <a:prstGeom prst="rect">
            <a:avLst/>
          </a:prstGeom>
          <a:noFill/>
        </p:spPr>
        <p:txBody>
          <a:bodyPr wrap="square" anchor="t" lIns="45720" rIns="45720">
            <a:spAutoFit/>
          </a:bodyPr>
          <a:lstStyle/>
          <a:p>
            <a:pPr algn="l"/>
            <a:r>
              <a:rPr sz="4400" b="1">
                <a:solidFill>
                  <a:srgbClr val="006DAE"/>
                </a:solidFill>
                <a:latin typeface="Arial"/>
              </a:rPr>
              <a:t>+0.9 s</a:t>
            </a:r>
          </a:p>
        </p:txBody>
      </p:sp>
      <p:sp>
        <p:nvSpPr>
          <p:cNvPr id="6" name="TextBox 5"/>
          <p:cNvSpPr txBox="1"/>
          <p:nvPr/>
        </p:nvSpPr>
        <p:spPr>
          <a:xfrm>
            <a:off x="6675120" y="2121408"/>
            <a:ext cx="5029200" cy="822960"/>
          </a:xfrm>
          <a:prstGeom prst="rect">
            <a:avLst/>
          </a:prstGeom>
          <a:noFill/>
        </p:spPr>
        <p:txBody>
          <a:bodyPr wrap="square" anchor="t" lIns="45720" rIns="45720">
            <a:spAutoFit/>
          </a:bodyPr>
          <a:lstStyle/>
          <a:p>
            <a:pPr algn="l"/>
            <a:r>
              <a:rPr sz="1700" b="0">
                <a:solidFill>
                  <a:srgbClr val="172D3D"/>
                </a:solidFill>
                <a:latin typeface="Arial"/>
              </a:rPr>
              <a:t>of unnecessary stopping per minute, compared with fixed zones</a:t>
            </a:r>
          </a:p>
        </p:txBody>
      </p:sp>
      <p:sp>
        <p:nvSpPr>
          <p:cNvPr id="7" name="TextBox 6"/>
          <p:cNvSpPr txBox="1"/>
          <p:nvPr/>
        </p:nvSpPr>
        <p:spPr>
          <a:xfrm>
            <a:off x="6675120" y="2788920"/>
            <a:ext cx="5029200" cy="868680"/>
          </a:xfrm>
          <a:prstGeom prst="rect">
            <a:avLst/>
          </a:prstGeom>
          <a:noFill/>
        </p:spPr>
        <p:txBody>
          <a:bodyPr wrap="square" anchor="t" lIns="45720" rIns="45720">
            <a:spAutoFit/>
          </a:bodyPr>
          <a:lstStyle/>
          <a:p>
            <a:pPr algn="l"/>
            <a:r>
              <a:rPr sz="4400" b="1">
                <a:solidFill>
                  <a:srgbClr val="006DAE"/>
                </a:solidFill>
                <a:latin typeface="Arial"/>
              </a:rPr>
              <a:t>3 · 5 · 3</a:t>
            </a:r>
          </a:p>
        </p:txBody>
      </p:sp>
      <p:sp>
        <p:nvSpPr>
          <p:cNvPr id="8" name="TextBox 7"/>
          <p:cNvSpPr txBox="1"/>
          <p:nvPr/>
        </p:nvSpPr>
        <p:spPr>
          <a:xfrm>
            <a:off x="6675120" y="3630168"/>
            <a:ext cx="5029200" cy="822960"/>
          </a:xfrm>
          <a:prstGeom prst="rect">
            <a:avLst/>
          </a:prstGeom>
          <a:noFill/>
        </p:spPr>
        <p:txBody>
          <a:bodyPr wrap="square" anchor="t" lIns="45720" rIns="45720">
            <a:spAutoFit/>
          </a:bodyPr>
          <a:lstStyle/>
          <a:p>
            <a:pPr algn="l"/>
            <a:r>
              <a:rPr sz="1700" b="0">
                <a:solidFill>
                  <a:srgbClr val="172D3D"/>
                </a:solidFill>
                <a:latin typeface="Arial"/>
              </a:rPr>
              <a:t>times each controller was picked as 'safest': perceived equally as safe</a:t>
            </a:r>
          </a:p>
        </p:txBody>
      </p:sp>
      <p:sp>
        <p:nvSpPr>
          <p:cNvPr id="9" name="TextBox 8"/>
          <p:cNvSpPr txBox="1"/>
          <p:nvPr/>
        </p:nvSpPr>
        <p:spPr>
          <a:xfrm>
            <a:off x="6675120" y="4297680"/>
            <a:ext cx="5029200" cy="868680"/>
          </a:xfrm>
          <a:prstGeom prst="rect">
            <a:avLst/>
          </a:prstGeom>
          <a:noFill/>
        </p:spPr>
        <p:txBody>
          <a:bodyPr wrap="square" anchor="t" lIns="45720" rIns="45720">
            <a:spAutoFit/>
          </a:bodyPr>
          <a:lstStyle/>
          <a:p>
            <a:pPr algn="l"/>
            <a:r>
              <a:rPr sz="4400" b="1">
                <a:solidFill>
                  <a:srgbClr val="006DAE"/>
                </a:solidFill>
                <a:latin typeface="Arial"/>
              </a:rPr>
              <a:t>0.16 s</a:t>
            </a:r>
          </a:p>
        </p:txBody>
      </p:sp>
      <p:sp>
        <p:nvSpPr>
          <p:cNvPr id="10" name="TextBox 9"/>
          <p:cNvSpPr txBox="1"/>
          <p:nvPr/>
        </p:nvSpPr>
        <p:spPr>
          <a:xfrm>
            <a:off x="6675120" y="5138928"/>
            <a:ext cx="5029200" cy="822960"/>
          </a:xfrm>
          <a:prstGeom prst="rect">
            <a:avLst/>
          </a:prstGeom>
          <a:noFill/>
        </p:spPr>
        <p:txBody>
          <a:bodyPr wrap="square" anchor="t" lIns="45720" rIns="45720">
            <a:spAutoFit/>
          </a:bodyPr>
          <a:lstStyle/>
          <a:p>
            <a:pPr algn="l"/>
            <a:r>
              <a:rPr sz="1700" b="0">
                <a:solidFill>
                  <a:srgbClr val="172D3D"/>
                </a:solidFill>
                <a:latin typeface="Arial"/>
              </a:rPr>
              <a:t>median time for the robot to actually stop (max 0.23 s)</a:t>
            </a:r>
          </a:p>
        </p:txBody>
      </p:sp>
      <p:sp>
        <p:nvSpPr>
          <p:cNvPr id="11" name="Rounded Rectangle 10"/>
          <p:cNvSpPr/>
          <p:nvPr/>
        </p:nvSpPr>
        <p:spPr>
          <a:xfrm>
            <a:off x="502920" y="91440"/>
            <a:ext cx="3291840" cy="329184"/>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00584"/>
            <a:ext cx="3200400" cy="310896"/>
          </a:xfrm>
          <a:prstGeom prst="rect">
            <a:avLst/>
          </a:prstGeom>
          <a:noFill/>
        </p:spPr>
        <p:txBody>
          <a:bodyPr wrap="square" anchor="t" lIns="45720" rIns="45720">
            <a:spAutoFit/>
          </a:bodyPr>
          <a:lstStyle/>
          <a:p>
            <a:pPr algn="l"/>
            <a:r>
              <a:rPr sz="1300" b="1">
                <a:solidFill>
                  <a:srgbClr val="FFFFFF"/>
                </a:solidFill>
                <a:latin typeface="Arial"/>
              </a:rPr>
              <a:t>Answers: is it still efficient?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The bigger limit is the task, not the controller</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09</a:t>
            </a:r>
          </a:p>
        </p:txBody>
      </p:sp>
      <p:graphicFrame>
        <p:nvGraphicFramePr>
          <p:cNvPr id="4" name="Chart 3"/>
          <p:cNvGraphicFramePr>
            <a:graphicFrameLocks noGrp="1"/>
          </p:cNvGraphicFramePr>
          <p:nvPr/>
        </p:nvGraphicFramePr>
        <p:xfrm>
          <a:off x="548640" y="1280160"/>
          <a:ext cx="5760720" cy="4297680"/>
        </p:xfrm>
        <a:graphic>
          <a:graphicData uri="http://schemas.openxmlformats.org/drawingml/2006/chart">
            <c:chart xmlns:c="http://schemas.openxmlformats.org/drawingml/2006/chart" r:id="rId2"/>
          </a:graphicData>
        </a:graphic>
      </p:graphicFrame>
      <p:sp>
        <p:nvSpPr>
          <p:cNvPr id="5" name="TextBox 4"/>
          <p:cNvSpPr txBox="1"/>
          <p:nvPr/>
        </p:nvSpPr>
        <p:spPr>
          <a:xfrm>
            <a:off x="6675120" y="1463040"/>
            <a:ext cx="5029200" cy="2377440"/>
          </a:xfrm>
          <a:prstGeom prst="rect">
            <a:avLst/>
          </a:prstGeom>
          <a:noFill/>
        </p:spPr>
        <p:txBody>
          <a:bodyPr wrap="square" anchor="t" lIns="45720" rIns="45720">
            <a:spAutoFit/>
          </a:bodyPr>
          <a:lstStyle/>
          <a:p>
            <a:pPr algn="l"/>
            <a:r>
              <a:rPr sz="1900" b="1">
                <a:solidFill>
                  <a:srgbClr val="172D3D"/>
                </a:solidFill>
                <a:latin typeface="Arial"/>
              </a:rPr>
              <a:t>About a third of every trial was stopped, </a:t>
            </a:r>
            <a:r>
              <a:rPr sz="1900" b="0">
                <a:solidFill>
                  <a:srgbClr val="172D3D"/>
                </a:solidFill>
                <a:latin typeface="Arial"/>
              </a:rPr>
              <a:t>whichever controller ran.</a:t>
            </a:r>
          </a:p>
          <a:p>
            <a:pPr algn="l">
              <a:spcBef>
                <a:spcPts val="855"/>
              </a:spcBef>
            </a:pPr>
            <a:r>
              <a:rPr sz="1900" b="0">
                <a:solidFill>
                  <a:srgbClr val="172D3D"/>
                </a:solidFill>
                <a:latin typeface="Arial"/>
              </a:rPr>
              <a:t>The worker has to be close to load, work under and unload the panel, so the stop zone is occupied by design.</a:t>
            </a:r>
          </a:p>
        </p:txBody>
      </p:sp>
      <p:sp>
        <p:nvSpPr>
          <p:cNvPr id="6" name="Rounded Rectangle 5"/>
          <p:cNvSpPr/>
          <p:nvPr/>
        </p:nvSpPr>
        <p:spPr>
          <a:xfrm>
            <a:off x="6675120" y="3977639"/>
            <a:ext cx="5074920" cy="160020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4069080"/>
            <a:ext cx="4754880" cy="1417320"/>
          </a:xfrm>
          <a:prstGeom prst="rect">
            <a:avLst/>
          </a:prstGeom>
          <a:noFill/>
        </p:spPr>
        <p:txBody>
          <a:bodyPr wrap="square" anchor="ctr" lIns="45720" rIns="45720">
            <a:spAutoFit/>
          </a:bodyPr>
          <a:lstStyle/>
          <a:p>
            <a:pPr algn="l"/>
            <a:r>
              <a:rPr sz="1900" b="1">
                <a:solidFill>
                  <a:srgbClr val="FFFFFF"/>
                </a:solidFill>
                <a:latin typeface="Arial"/>
              </a:rPr>
              <a:t>Next gain: </a:t>
            </a:r>
            <a:r>
              <a:rPr sz="1900" b="0">
                <a:solidFill>
                  <a:srgbClr val="FFFFFF"/>
                </a:solidFill>
                <a:latin typeface="Arial"/>
              </a:rPr>
              <a:t>switch to a contact-safe mode while the worker is under the panel</a:t>
            </a:r>
          </a:p>
        </p:txBody>
      </p:sp>
      <p:sp>
        <p:nvSpPr>
          <p:cNvPr id="8" name="Rounded Rectangle 7"/>
          <p:cNvSpPr/>
          <p:nvPr/>
        </p:nvSpPr>
        <p:spPr>
          <a:xfrm>
            <a:off x="502920" y="91440"/>
            <a:ext cx="3291840" cy="329184"/>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0584"/>
            <a:ext cx="3200400" cy="310896"/>
          </a:xfrm>
          <a:prstGeom prst="rect">
            <a:avLst/>
          </a:prstGeom>
          <a:noFill/>
        </p:spPr>
        <p:txBody>
          <a:bodyPr wrap="square" anchor="t" lIns="45720" rIns="45720">
            <a:spAutoFit/>
          </a:bodyPr>
          <a:lstStyle/>
          <a:p>
            <a:pPr algn="l"/>
            <a:r>
              <a:rPr sz="1300" b="1">
                <a:solidFill>
                  <a:srgbClr val="FFFFFF"/>
                </a:solidFill>
                <a:latin typeface="Arial"/>
              </a:rPr>
              <a:t>Answers: where is the real gain?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Project management: plan, setbacks and responses</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10</a:t>
            </a:r>
          </a:p>
        </p:txBody>
      </p:sp>
      <p:sp>
        <p:nvSpPr>
          <p:cNvPr id="4" name="Rounded Rectangle 3"/>
          <p:cNvSpPr/>
          <p:nvPr/>
        </p:nvSpPr>
        <p:spPr>
          <a:xfrm>
            <a:off x="548640" y="1280160"/>
            <a:ext cx="256032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2286000" cy="1097280"/>
          </a:xfrm>
          <a:prstGeom prst="rect">
            <a:avLst/>
          </a:prstGeom>
          <a:noFill/>
        </p:spPr>
        <p:txBody>
          <a:bodyPr wrap="square" anchor="t" lIns="45720" rIns="45720">
            <a:spAutoFit/>
          </a:bodyPr>
          <a:lstStyle/>
          <a:p>
            <a:pPr algn="l"/>
            <a:r>
              <a:rPr sz="2000" b="1">
                <a:solidFill>
                  <a:srgbClr val="172D3D"/>
                </a:solidFill>
                <a:latin typeface="Arial"/>
              </a:rPr>
              <a:t>Jul</a:t>
            </a:r>
          </a:p>
          <a:p>
            <a:pPr algn="l">
              <a:spcBef>
                <a:spcPts val="675"/>
              </a:spcBef>
            </a:pPr>
            <a:r>
              <a:rPr sz="1500" b="0">
                <a:solidFill>
                  <a:srgbClr val="172D3D"/>
                </a:solidFill>
                <a:latin typeface="Arial"/>
              </a:rPr>
              <a:t>Design and simulation</a:t>
            </a:r>
          </a:p>
        </p:txBody>
      </p:sp>
      <p:sp>
        <p:nvSpPr>
          <p:cNvPr id="6" name="Right Arrow 5"/>
          <p:cNvSpPr/>
          <p:nvPr/>
        </p:nvSpPr>
        <p:spPr>
          <a:xfrm>
            <a:off x="3127248" y="1691640"/>
            <a:ext cx="274320"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29000" y="1280160"/>
            <a:ext cx="256032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325880"/>
            <a:ext cx="2286000" cy="1097280"/>
          </a:xfrm>
          <a:prstGeom prst="rect">
            <a:avLst/>
          </a:prstGeom>
          <a:noFill/>
        </p:spPr>
        <p:txBody>
          <a:bodyPr wrap="square" anchor="t" lIns="45720" rIns="45720">
            <a:spAutoFit/>
          </a:bodyPr>
          <a:lstStyle/>
          <a:p>
            <a:pPr algn="l"/>
            <a:r>
              <a:rPr sz="2000" b="1">
                <a:solidFill>
                  <a:srgbClr val="172D3D"/>
                </a:solidFill>
                <a:latin typeface="Arial"/>
              </a:rPr>
              <a:t>Aug</a:t>
            </a:r>
          </a:p>
          <a:p>
            <a:pPr algn="l">
              <a:spcBef>
                <a:spcPts val="675"/>
              </a:spcBef>
            </a:pPr>
            <a:r>
              <a:rPr sz="1500" b="0">
                <a:solidFill>
                  <a:srgbClr val="172D3D"/>
                </a:solidFill>
                <a:latin typeface="Arial"/>
              </a:rPr>
              <a:t>Rig integration and pilot tests</a:t>
            </a:r>
          </a:p>
        </p:txBody>
      </p:sp>
      <p:sp>
        <p:nvSpPr>
          <p:cNvPr id="9" name="Right Arrow 8"/>
          <p:cNvSpPr/>
          <p:nvPr/>
        </p:nvSpPr>
        <p:spPr>
          <a:xfrm>
            <a:off x="6007608" y="1691640"/>
            <a:ext cx="274320"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59" y="1280160"/>
            <a:ext cx="2560320" cy="1188720"/>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325880"/>
            <a:ext cx="2286000" cy="1097280"/>
          </a:xfrm>
          <a:prstGeom prst="rect">
            <a:avLst/>
          </a:prstGeom>
          <a:noFill/>
        </p:spPr>
        <p:txBody>
          <a:bodyPr wrap="square" anchor="t" lIns="45720" rIns="45720">
            <a:spAutoFit/>
          </a:bodyPr>
          <a:lstStyle/>
          <a:p>
            <a:pPr algn="l"/>
            <a:r>
              <a:rPr sz="2000" b="1">
                <a:solidFill>
                  <a:srgbClr val="FFFFFF"/>
                </a:solidFill>
                <a:latin typeface="Arial"/>
              </a:rPr>
              <a:t>Sep</a:t>
            </a:r>
          </a:p>
          <a:p>
            <a:pPr algn="l">
              <a:spcBef>
                <a:spcPts val="675"/>
              </a:spcBef>
            </a:pPr>
            <a:r>
              <a:rPr sz="1500" b="0">
                <a:solidFill>
                  <a:srgbClr val="FFFFFF"/>
                </a:solidFill>
                <a:latin typeface="Arial"/>
              </a:rPr>
              <a:t>12 participant sessions</a:t>
            </a:r>
          </a:p>
        </p:txBody>
      </p:sp>
      <p:sp>
        <p:nvSpPr>
          <p:cNvPr id="12" name="Right Arrow 11"/>
          <p:cNvSpPr/>
          <p:nvPr/>
        </p:nvSpPr>
        <p:spPr>
          <a:xfrm>
            <a:off x="8887967" y="1691640"/>
            <a:ext cx="274320"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89719" y="1280160"/>
            <a:ext cx="256032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1325880"/>
            <a:ext cx="2286000" cy="1097280"/>
          </a:xfrm>
          <a:prstGeom prst="rect">
            <a:avLst/>
          </a:prstGeom>
          <a:noFill/>
        </p:spPr>
        <p:txBody>
          <a:bodyPr wrap="square" anchor="t" lIns="45720" rIns="45720">
            <a:spAutoFit/>
          </a:bodyPr>
          <a:lstStyle/>
          <a:p>
            <a:pPr algn="l"/>
            <a:r>
              <a:rPr sz="2000" b="1">
                <a:solidFill>
                  <a:srgbClr val="172D3D"/>
                </a:solidFill>
                <a:latin typeface="Arial"/>
              </a:rPr>
              <a:t>Oct</a:t>
            </a:r>
          </a:p>
          <a:p>
            <a:pPr algn="l">
              <a:spcBef>
                <a:spcPts val="675"/>
              </a:spcBef>
            </a:pPr>
            <a:r>
              <a:rPr sz="1500" b="0">
                <a:solidFill>
                  <a:srgbClr val="172D3D"/>
                </a:solidFill>
                <a:latin typeface="Arial"/>
              </a:rPr>
              <a:t>Analysis, reviews and paper</a:t>
            </a:r>
          </a:p>
        </p:txBody>
      </p:sp>
      <p:graphicFrame>
        <p:nvGraphicFramePr>
          <p:cNvPr id="15" name="Table 14"/>
          <p:cNvGraphicFramePr>
            <a:graphicFrameLocks noGrp="1"/>
          </p:cNvGraphicFramePr>
          <p:nvPr/>
        </p:nvGraphicFramePr>
        <p:xfrm>
          <a:off x="548640" y="2743200"/>
          <a:ext cx="11201400" cy="2852928"/>
        </p:xfrm>
        <a:graphic>
          <a:graphicData uri="http://schemas.openxmlformats.org/drawingml/2006/table">
            <a:tbl>
              <a:tblPr firstRow="0" bandRow="0"/>
              <a:tblGrid>
                <a:gridCol w="4206240"/>
                <a:gridCol w="6995160"/>
              </a:tblGrid>
              <a:tr h="713232">
                <a:tc>
                  <a:txBody>
                    <a:bodyPr wrap="square"/>
                    <a:lstStyle/>
                    <a:p>
                      <a:r>
                        <a:rPr sz="1600" b="1">
                          <a:solidFill>
                            <a:srgbClr val="172D3D"/>
                          </a:solidFill>
                          <a:latin typeface="Arial"/>
                        </a:rPr>
                        <a:t>Setback</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E5EDF2"/>
                    </a:solidFill>
                  </a:tcPr>
                </a:tc>
                <a:tc>
                  <a:txBody>
                    <a:bodyPr wrap="square"/>
                    <a:lstStyle/>
                    <a:p>
                      <a:r>
                        <a:rPr sz="1600" b="1">
                          <a:solidFill>
                            <a:srgbClr val="172D3D"/>
                          </a:solidFill>
                          <a:latin typeface="Arial"/>
                        </a:rPr>
                        <a:t>How we responded</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E5EDF2"/>
                    </a:solidFill>
                  </a:tcPr>
                </a:tc>
              </a:tr>
              <a:tr h="713232">
                <a:tc>
                  <a:txBody>
                    <a:bodyPr wrap="square"/>
                    <a:lstStyle/>
                    <a:p>
                      <a:r>
                        <a:rPr sz="1600" b="1">
                          <a:solidFill>
                            <a:srgbClr val="172D3D"/>
                          </a:solidFill>
                          <a:latin typeface="Arial"/>
                        </a:rPr>
                        <a:t>Some sessions restarted under new IDs</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c>
                  <a:txBody>
                    <a:bodyPr wrap="square"/>
                    <a:lstStyle/>
                    <a:p>
                      <a:r>
                        <a:rPr sz="1600" b="0">
                          <a:solidFill>
                            <a:srgbClr val="172D3D"/>
                          </a:solidFill>
                          <a:latin typeface="Arial"/>
                        </a:rPr>
                        <a:t>Checked identity from the data (helmet height, intake answers)</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r>
              <a:tr h="713232">
                <a:tc>
                  <a:txBody>
                    <a:bodyPr wrap="square"/>
                    <a:lstStyle/>
                    <a:p>
                      <a:r>
                        <a:rPr sz="1600" b="1">
                          <a:solidFill>
                            <a:srgbClr val="172D3D"/>
                          </a:solidFill>
                          <a:latin typeface="Arial"/>
                        </a:rPr>
                        <a:t>Distance reference changed mid-study</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c>
                  <a:txBody>
                    <a:bodyPr wrap="square"/>
                    <a:lstStyle/>
                    <a:p>
                      <a:r>
                        <a:rPr sz="1600" b="0">
                          <a:solidFill>
                            <a:srgbClr val="172D3D"/>
                          </a:solidFill>
                          <a:latin typeface="Arial"/>
                        </a:rPr>
                        <a:t>Analysed each version separately; replayed the exact code</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r>
              <a:tr h="713232">
                <a:tc>
                  <a:txBody>
                    <a:bodyPr wrap="square"/>
                    <a:lstStyle/>
                    <a:p>
                      <a:r>
                        <a:rPr sz="1600" b="1">
                          <a:solidFill>
                            <a:srgbClr val="172D3D"/>
                          </a:solidFill>
                          <a:latin typeface="Arial"/>
                        </a:rPr>
                        <a:t>Supervisors: paper too technical</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c>
                  <a:txBody>
                    <a:bodyPr wrap="square"/>
                    <a:lstStyle/>
                    <a:p>
                      <a:r>
                        <a:rPr sz="1600" b="0">
                          <a:solidFill>
                            <a:srgbClr val="172D3D"/>
                          </a:solidFill>
                          <a:latin typeface="Arial"/>
                        </a:rPr>
                        <a:t>Weekly meetings; plain-language rewrite for a civil audience</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What it would take to use this on site</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11</a:t>
            </a:r>
          </a:p>
        </p:txBody>
      </p:sp>
      <p:sp>
        <p:nvSpPr>
          <p:cNvPr id="4" name="Rounded Rectangle 3"/>
          <p:cNvSpPr/>
          <p:nvPr/>
        </p:nvSpPr>
        <p:spPr>
          <a:xfrm>
            <a:off x="548640" y="1280160"/>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19"/>
            <a:ext cx="3200400" cy="1965960"/>
          </a:xfrm>
          <a:prstGeom prst="rect">
            <a:avLst/>
          </a:prstGeom>
          <a:noFill/>
        </p:spPr>
        <p:txBody>
          <a:bodyPr wrap="square" anchor="t" lIns="45720" rIns="45720">
            <a:spAutoFit/>
          </a:bodyPr>
          <a:lstStyle/>
          <a:p>
            <a:pPr algn="l"/>
            <a:r>
              <a:rPr sz="2100" b="1">
                <a:solidFill>
                  <a:srgbClr val="006DAE"/>
                </a:solidFill>
                <a:latin typeface="Arial"/>
              </a:rPr>
              <a:t>Safety</a:t>
            </a:r>
          </a:p>
          <a:p>
            <a:pPr algn="l">
              <a:spcBef>
                <a:spcPts val="810"/>
              </a:spcBef>
            </a:pPr>
            <a:r>
              <a:rPr sz="1800" b="0">
                <a:solidFill>
                  <a:srgbClr val="172D3D"/>
                </a:solidFill>
                <a:latin typeface="Arial"/>
              </a:rPr>
              <a:t>A research prototype, not a certified safety function. Allow 0.5 s to react, not 0.4.</a:t>
            </a:r>
          </a:p>
        </p:txBody>
      </p:sp>
      <p:sp>
        <p:nvSpPr>
          <p:cNvPr id="6" name="Rounded Rectangle 5"/>
          <p:cNvSpPr/>
          <p:nvPr/>
        </p:nvSpPr>
        <p:spPr>
          <a:xfrm>
            <a:off x="4343400" y="1280160"/>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417319"/>
            <a:ext cx="3200400" cy="1965960"/>
          </a:xfrm>
          <a:prstGeom prst="rect">
            <a:avLst/>
          </a:prstGeom>
          <a:noFill/>
        </p:spPr>
        <p:txBody>
          <a:bodyPr wrap="square" anchor="t" lIns="45720" rIns="45720">
            <a:spAutoFit/>
          </a:bodyPr>
          <a:lstStyle/>
          <a:p>
            <a:pPr algn="l"/>
            <a:r>
              <a:rPr sz="2100" b="1">
                <a:solidFill>
                  <a:srgbClr val="006DAE"/>
                </a:solidFill>
                <a:latin typeface="Arial"/>
              </a:rPr>
              <a:t>Whole-life cost</a:t>
            </a:r>
          </a:p>
          <a:p>
            <a:pPr algn="l">
              <a:spcBef>
                <a:spcPts val="810"/>
              </a:spcBef>
            </a:pPr>
            <a:r>
              <a:rPr sz="1800" b="0">
                <a:solidFill>
                  <a:srgbClr val="172D3D"/>
                </a:solidFill>
                <a:latin typeface="Arial"/>
              </a:rPr>
              <a:t>Cameras, body suits, calibration, maintenance and training for every crew.</a:t>
            </a:r>
          </a:p>
        </p:txBody>
      </p:sp>
      <p:sp>
        <p:nvSpPr>
          <p:cNvPr id="8" name="Rounded Rectangle 7"/>
          <p:cNvSpPr/>
          <p:nvPr/>
        </p:nvSpPr>
        <p:spPr>
          <a:xfrm>
            <a:off x="8138160" y="1280160"/>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417319"/>
            <a:ext cx="3200400" cy="1965960"/>
          </a:xfrm>
          <a:prstGeom prst="rect">
            <a:avLst/>
          </a:prstGeom>
          <a:noFill/>
        </p:spPr>
        <p:txBody>
          <a:bodyPr wrap="square" anchor="t" lIns="45720" rIns="45720">
            <a:spAutoFit/>
          </a:bodyPr>
          <a:lstStyle/>
          <a:p>
            <a:pPr algn="l"/>
            <a:r>
              <a:rPr sz="2100" b="1">
                <a:solidFill>
                  <a:srgbClr val="006DAE"/>
                </a:solidFill>
                <a:latin typeface="Arial"/>
              </a:rPr>
              <a:t>Worker health</a:t>
            </a:r>
          </a:p>
          <a:p>
            <a:pPr algn="l">
              <a:spcBef>
                <a:spcPts val="810"/>
              </a:spcBef>
            </a:pPr>
            <a:r>
              <a:rPr sz="1800" b="0">
                <a:solidFill>
                  <a:srgbClr val="172D3D"/>
                </a:solidFill>
                <a:latin typeface="Arial"/>
              </a:rPr>
              <a:t>Removes overhead lifting strain; the suit itself was rated low restriction (2 of 5).</a:t>
            </a:r>
          </a:p>
        </p:txBody>
      </p:sp>
      <p:sp>
        <p:nvSpPr>
          <p:cNvPr id="10" name="Rounded Rectangle 9"/>
          <p:cNvSpPr/>
          <p:nvPr/>
        </p:nvSpPr>
        <p:spPr>
          <a:xfrm>
            <a:off x="548640" y="3611880"/>
            <a:ext cx="546354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49040"/>
            <a:ext cx="5097779" cy="1965960"/>
          </a:xfrm>
          <a:prstGeom prst="rect">
            <a:avLst/>
          </a:prstGeom>
          <a:noFill/>
        </p:spPr>
        <p:txBody>
          <a:bodyPr wrap="square" anchor="t" lIns="45720" rIns="45720">
            <a:spAutoFit/>
          </a:bodyPr>
          <a:lstStyle/>
          <a:p>
            <a:pPr algn="l"/>
            <a:r>
              <a:rPr sz="2100" b="1">
                <a:solidFill>
                  <a:srgbClr val="006DAE"/>
                </a:solidFill>
                <a:latin typeface="Arial"/>
              </a:rPr>
              <a:t>People and trust</a:t>
            </a:r>
          </a:p>
          <a:p>
            <a:pPr algn="l">
              <a:spcBef>
                <a:spcPts val="810"/>
              </a:spcBef>
            </a:pPr>
            <a:r>
              <a:rPr sz="1800" b="0">
                <a:solidFill>
                  <a:srgbClr val="172D3D"/>
                </a:solidFill>
                <a:latin typeface="Arial"/>
              </a:rPr>
              <a:t>Participants rated all three as safe. Crews must accept a robot as a co-worker.</a:t>
            </a:r>
          </a:p>
        </p:txBody>
      </p:sp>
      <p:sp>
        <p:nvSpPr>
          <p:cNvPr id="12" name="Rounded Rectangle 11"/>
          <p:cNvSpPr/>
          <p:nvPr/>
        </p:nvSpPr>
        <p:spPr>
          <a:xfrm>
            <a:off x="6240779" y="3611880"/>
            <a:ext cx="546354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3749040"/>
            <a:ext cx="5097779" cy="1965960"/>
          </a:xfrm>
          <a:prstGeom prst="rect">
            <a:avLst/>
          </a:prstGeom>
          <a:noFill/>
        </p:spPr>
        <p:txBody>
          <a:bodyPr wrap="square" anchor="t" lIns="45720" rIns="45720">
            <a:spAutoFit/>
          </a:bodyPr>
          <a:lstStyle/>
          <a:p>
            <a:pPr algn="l"/>
            <a:r>
              <a:rPr sz="2100" b="1">
                <a:solidFill>
                  <a:srgbClr val="006DAE"/>
                </a:solidFill>
                <a:latin typeface="Arial"/>
              </a:rPr>
              <a:t>Standards</a:t>
            </a:r>
          </a:p>
          <a:p>
            <a:pPr algn="l">
              <a:spcBef>
                <a:spcPts val="810"/>
              </a:spcBef>
            </a:pPr>
            <a:r>
              <a:rPr sz="1800" b="0">
                <a:solidFill>
                  <a:srgbClr val="172D3D"/>
                </a:solidFill>
                <a:latin typeface="Arial"/>
              </a:rPr>
              <a:t>ISO 10218 and ISO/TS 15066 set the bar any site system must meet.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Our answer, and what comes next</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12</a:t>
            </a:r>
          </a:p>
        </p:txBody>
      </p:sp>
      <p:sp>
        <p:nvSpPr>
          <p:cNvPr id="4" name="Rounded Rectangle 3"/>
          <p:cNvSpPr/>
          <p:nvPr/>
        </p:nvSpPr>
        <p:spPr>
          <a:xfrm>
            <a:off x="548640" y="1280160"/>
            <a:ext cx="5486400" cy="237744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71600"/>
            <a:ext cx="5120640" cy="2240280"/>
          </a:xfrm>
          <a:prstGeom prst="rect">
            <a:avLst/>
          </a:prstGeom>
          <a:noFill/>
        </p:spPr>
        <p:txBody>
          <a:bodyPr wrap="square" anchor="t" lIns="45720" rIns="45720">
            <a:spAutoFit/>
          </a:bodyPr>
          <a:lstStyle/>
          <a:p>
            <a:pPr algn="l"/>
            <a:r>
              <a:rPr sz="1800" b="1">
                <a:solidFill>
                  <a:srgbClr val="FFFFFF"/>
                </a:solidFill>
                <a:latin typeface="Arial"/>
              </a:rPr>
              <a:t>Can a task-aware robot be as safe as fixed zones and still efficient?</a:t>
            </a:r>
          </a:p>
          <a:p>
            <a:pPr algn="l">
              <a:spcBef>
                <a:spcPts val="810"/>
              </a:spcBef>
            </a:pPr>
            <a:r>
              <a:rPr sz="1800" b="1">
                <a:solidFill>
                  <a:srgbClr val="FFFFFF"/>
                </a:solidFill>
                <a:latin typeface="Arial"/>
              </a:rPr>
              <a:t>Safety: yes, </a:t>
            </a:r>
            <a:r>
              <a:rPr sz="1800" b="0">
                <a:solidFill>
                  <a:srgbClr val="FFFFFF"/>
                </a:solidFill>
                <a:latin typeface="Arial"/>
              </a:rPr>
              <a:t>with more margin against sensing error.</a:t>
            </a:r>
          </a:p>
          <a:p>
            <a:pPr algn="l">
              <a:spcBef>
                <a:spcPts val="810"/>
              </a:spcBef>
            </a:pPr>
            <a:r>
              <a:rPr sz="1800" b="1">
                <a:solidFill>
                  <a:srgbClr val="FFFFFF"/>
                </a:solidFill>
                <a:latin typeface="Arial"/>
              </a:rPr>
              <a:t>Efficiency: partly. </a:t>
            </a:r>
            <a:r>
              <a:rPr sz="1800" b="0">
                <a:solidFill>
                  <a:srgbClr val="FFFFFF"/>
                </a:solidFill>
                <a:latin typeface="Arial"/>
              </a:rPr>
              <a:t>Same trial time, slightly more stopping.</a:t>
            </a:r>
          </a:p>
        </p:txBody>
      </p:sp>
      <p:sp>
        <p:nvSpPr>
          <p:cNvPr id="6" name="TextBox 5"/>
          <p:cNvSpPr txBox="1"/>
          <p:nvPr/>
        </p:nvSpPr>
        <p:spPr>
          <a:xfrm>
            <a:off x="6400800" y="1280160"/>
            <a:ext cx="5303520" cy="2377440"/>
          </a:xfrm>
          <a:prstGeom prst="rect">
            <a:avLst/>
          </a:prstGeom>
          <a:noFill/>
        </p:spPr>
        <p:txBody>
          <a:bodyPr wrap="square" anchor="t" lIns="45720" rIns="45720">
            <a:spAutoFit/>
          </a:bodyPr>
          <a:lstStyle/>
          <a:p>
            <a:pPr algn="l"/>
            <a:r>
              <a:rPr sz="1800" b="1">
                <a:solidFill>
                  <a:srgbClr val="006DAE"/>
                </a:solidFill>
                <a:latin typeface="Arial"/>
              </a:rPr>
              <a:t>Next</a:t>
            </a:r>
          </a:p>
          <a:p>
            <a:pPr algn="l">
              <a:spcBef>
                <a:spcPts val="810"/>
              </a:spcBef>
            </a:pPr>
            <a:r>
              <a:rPr sz="1800" b="0">
                <a:solidFill>
                  <a:srgbClr val="172D3D"/>
                </a:solidFill>
                <a:latin typeface="Arial"/>
              </a:rPr>
              <a:t>Release delay on the predictor</a:t>
            </a:r>
          </a:p>
          <a:p>
            <a:pPr algn="l">
              <a:spcBef>
                <a:spcPts val="810"/>
              </a:spcBef>
            </a:pPr>
            <a:r>
              <a:rPr sz="1800" b="0">
                <a:solidFill>
                  <a:srgbClr val="172D3D"/>
                </a:solidFill>
                <a:latin typeface="Arial"/>
              </a:rPr>
              <a:t>Contact-safe mode under the panel</a:t>
            </a:r>
          </a:p>
          <a:p>
            <a:pPr algn="l">
              <a:spcBef>
                <a:spcPts val="810"/>
              </a:spcBef>
            </a:pPr>
            <a:r>
              <a:rPr sz="1800" b="0">
                <a:solidFill>
                  <a:srgbClr val="172D3D"/>
                </a:solidFill>
                <a:latin typeface="Arial"/>
              </a:rPr>
              <a:t>Trials with real crews on site</a:t>
            </a:r>
          </a:p>
        </p:txBody>
      </p:sp>
      <p:sp>
        <p:nvSpPr>
          <p:cNvPr id="7" name="Rounded Rectangle 6"/>
          <p:cNvSpPr/>
          <p:nvPr/>
        </p:nvSpPr>
        <p:spPr>
          <a:xfrm>
            <a:off x="548640" y="3977639"/>
            <a:ext cx="356616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041648"/>
            <a:ext cx="3200400" cy="1097280"/>
          </a:xfrm>
          <a:prstGeom prst="rect">
            <a:avLst/>
          </a:prstGeom>
          <a:noFill/>
        </p:spPr>
        <p:txBody>
          <a:bodyPr wrap="square" anchor="t" lIns="45720" rIns="45720">
            <a:spAutoFit/>
          </a:bodyPr>
          <a:lstStyle/>
          <a:p>
            <a:pPr algn="l"/>
            <a:r>
              <a:rPr sz="1600" b="1">
                <a:solidFill>
                  <a:srgbClr val="172D3D"/>
                </a:solidFill>
                <a:latin typeface="Arial"/>
              </a:rPr>
              <a:t>Zenan Wu</a:t>
            </a:r>
          </a:p>
          <a:p>
            <a:pPr algn="l">
              <a:spcBef>
                <a:spcPts val="720"/>
              </a:spcBef>
            </a:pPr>
            <a:r>
              <a:rPr sz="1600" b="0">
                <a:solidFill>
                  <a:srgbClr val="172D3D"/>
                </a:solidFill>
                <a:latin typeface="Arial"/>
              </a:rPr>
              <a:t>Software and technical integration</a:t>
            </a:r>
          </a:p>
        </p:txBody>
      </p:sp>
      <p:sp>
        <p:nvSpPr>
          <p:cNvPr id="9" name="Rounded Rectangle 8"/>
          <p:cNvSpPr/>
          <p:nvPr/>
        </p:nvSpPr>
        <p:spPr>
          <a:xfrm>
            <a:off x="4343400" y="3977639"/>
            <a:ext cx="356616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041648"/>
            <a:ext cx="3200400" cy="1097280"/>
          </a:xfrm>
          <a:prstGeom prst="rect">
            <a:avLst/>
          </a:prstGeom>
          <a:noFill/>
        </p:spPr>
        <p:txBody>
          <a:bodyPr wrap="square" anchor="t" lIns="45720" rIns="45720">
            <a:spAutoFit/>
          </a:bodyPr>
          <a:lstStyle/>
          <a:p>
            <a:pPr algn="l"/>
            <a:r>
              <a:rPr sz="1600" b="1">
                <a:solidFill>
                  <a:srgbClr val="172D3D"/>
                </a:solidFill>
                <a:latin typeface="Arial"/>
              </a:rPr>
              <a:t>Luke Siniakov</a:t>
            </a:r>
          </a:p>
          <a:p>
            <a:pPr algn="l">
              <a:spcBef>
                <a:spcPts val="720"/>
              </a:spcBef>
            </a:pPr>
            <a:r>
              <a:rPr sz="1600" b="0">
                <a:solidFill>
                  <a:srgbClr val="172D3D"/>
                </a:solidFill>
                <a:latin typeface="Arial"/>
              </a:rPr>
              <a:t>Coordination with lab staff and supervisors</a:t>
            </a:r>
          </a:p>
        </p:txBody>
      </p:sp>
      <p:sp>
        <p:nvSpPr>
          <p:cNvPr id="11" name="Rounded Rectangle 10"/>
          <p:cNvSpPr/>
          <p:nvPr/>
        </p:nvSpPr>
        <p:spPr>
          <a:xfrm>
            <a:off x="8138160" y="3977639"/>
            <a:ext cx="356616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4041648"/>
            <a:ext cx="3200400" cy="1097280"/>
          </a:xfrm>
          <a:prstGeom prst="rect">
            <a:avLst/>
          </a:prstGeom>
          <a:noFill/>
        </p:spPr>
        <p:txBody>
          <a:bodyPr wrap="square" anchor="t" lIns="45720" rIns="45720">
            <a:spAutoFit/>
          </a:bodyPr>
          <a:lstStyle/>
          <a:p>
            <a:pPr algn="l"/>
            <a:r>
              <a:rPr sz="1600" b="1">
                <a:solidFill>
                  <a:srgbClr val="172D3D"/>
                </a:solidFill>
                <a:latin typeface="Arial"/>
              </a:rPr>
              <a:t>Michael Magila</a:t>
            </a:r>
          </a:p>
          <a:p>
            <a:pPr algn="l">
              <a:spcBef>
                <a:spcPts val="720"/>
              </a:spcBef>
            </a:pPr>
            <a:r>
              <a:rPr sz="1600" b="0">
                <a:solidFill>
                  <a:srgbClr val="172D3D"/>
                </a:solidFill>
                <a:latin typeface="Arial"/>
              </a:rPr>
              <a:t>Physical setup and assembly</a:t>
            </a:r>
          </a:p>
        </p:txBody>
      </p:sp>
      <p:sp>
        <p:nvSpPr>
          <p:cNvPr id="13" name="TextBox 12"/>
          <p:cNvSpPr txBox="1"/>
          <p:nvPr/>
        </p:nvSpPr>
        <p:spPr>
          <a:xfrm>
            <a:off x="548640" y="5394960"/>
            <a:ext cx="11201400" cy="548640"/>
          </a:xfrm>
          <a:prstGeom prst="rect">
            <a:avLst/>
          </a:prstGeom>
          <a:noFill/>
        </p:spPr>
        <p:txBody>
          <a:bodyPr wrap="square" anchor="t" lIns="45720" rIns="45720">
            <a:spAutoFit/>
          </a:bodyPr>
          <a:lstStyle/>
          <a:p>
            <a:pPr algn="l"/>
            <a:r>
              <a:rPr sz="1800" b="1">
                <a:solidFill>
                  <a:srgbClr val="006DAE"/>
                </a:solidFill>
                <a:latin typeface="Arial"/>
              </a:rPr>
              <a:t>All three designed the experiment and wrote the paper. Thank you; we welcome your questions.</a:t>
            </a:r>
          </a:p>
        </p:txBody>
      </p:sp>
    </p:spTree>
  </p:cSld>
  <p:clrMapOvr>
    <a:masterClrMapping/>
  </p:clrMapOvr>
</p:sld>
</file>

<file path=ppt/theme/theme1.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2026-09-19T06:40:41.5790000Z</dcterms:created>
  <dcterms:modified xsi:type="dcterms:W3CDTF">2026-09-19T06:40:41.5790000Z</dcterms:modified>
</coreProperties>
</file>