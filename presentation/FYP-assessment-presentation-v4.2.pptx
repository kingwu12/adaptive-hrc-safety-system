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0718b674bb4430d" Type="http://schemas.openxmlformats.org/officeDocument/2006/relationships/extended-properties" Target="docProps/app.xml"/><Relationship Id="R43d2732ff6134f34" Type="http://schemas.openxmlformats.org/package/2006/relationships/metadata/core-properties" Target="docProps/core.xml"/><Relationship Id="Rfb1adf5d5f484505"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1b3804e82d8a4676"/>
  </p:sldMasterIdLst>
  <p:notesMasterIdLst>
    <p:notesMasterId xmlns:r="http://schemas.openxmlformats.org/officeDocument/2006/relationships" r:id="Rd5667a8528e84bc1"/>
  </p:notesMasterIdLst>
  <p:sldIdLst>
    <p:sldId xmlns:r="http://schemas.openxmlformats.org/officeDocument/2006/relationships" id="256" r:id="Ref2a4bf3706c4352"/>
    <p:sldId xmlns:ns0="http://schemas.openxmlformats.org/officeDocument/2006/relationships" id="257" ns0:id="rId8"/>
    <p:sldId xmlns:ns0="http://schemas.openxmlformats.org/officeDocument/2006/relationships" id="258" ns0:id="rId9"/>
    <p:sldId xmlns:ns0="http://schemas.openxmlformats.org/officeDocument/2006/relationships" id="267" ns0:id="rId18"/>
    <p:sldId xmlns:ns0="http://schemas.openxmlformats.org/officeDocument/2006/relationships" id="259" ns0:id="rId10"/>
    <p:sldId xmlns:ns0="http://schemas.openxmlformats.org/officeDocument/2006/relationships" id="260" ns0:id="rId11"/>
    <p:sldId xmlns:ns0="http://schemas.openxmlformats.org/officeDocument/2006/relationships" id="261" ns0:id="rId12"/>
    <p:sldId xmlns:ns0="http://schemas.openxmlformats.org/officeDocument/2006/relationships" id="262" ns0:id="rId13"/>
    <p:sldId xmlns:ns0="http://schemas.openxmlformats.org/officeDocument/2006/relationships" id="263" ns0:id="rId14"/>
    <p:sldId xmlns:ns0="http://schemas.openxmlformats.org/officeDocument/2006/relationships" id="264" ns0:id="rId15"/>
    <p:sldId xmlns:ns0="http://schemas.openxmlformats.org/officeDocument/2006/relationships" id="265" ns0:id="rId16"/>
    <p:sldId xmlns:ns0="http://schemas.openxmlformats.org/officeDocument/2006/relationships" id="266" ns0:id="rId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1b3804e82d8a4676" Type="http://schemas.openxmlformats.org/officeDocument/2006/relationships/slideMaster" Target="slideMasters/slideMaster1.xml"/><Relationship Id="R2aef5c3067004dd4" Type="http://schemas.openxmlformats.org/officeDocument/2006/relationships/tableStyles" Target="tableStyles.xml"/><Relationship Id="R62cd735ce6a94590" Type="http://schemas.openxmlformats.org/officeDocument/2006/relationships/viewProps" Target="viewProps.xml"/><Relationship Id="Ra6d426e1991e4c5d" Type="http://schemas.openxmlformats.org/officeDocument/2006/relationships/theme" Target="theme/theme1.xml"/><Relationship Id="Rbe14295336034ba3" Type="http://schemas.openxmlformats.org/officeDocument/2006/relationships/presProps" Target="presProps.xml"/><Relationship Id="Rd5667a8528e84bc1" Type="http://schemas.openxmlformats.org/officeDocument/2006/relationships/notesMaster" Target="notesMasters/notesMaster1.xml"/><Relationship Id="Ref2a4bf3706c4352"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If the distance is misread by 5 cm: entries still covered</a:t>
            </a:r>
          </a:p>
        </c:rich>
      </c:tx>
      <c:layout/>
      <c:overlay val="0"/>
    </c:title>
    <c:autoTitleDeleted val="0"/>
    <c:plotArea>
      <c:barChart>
        <c:barDir val="col"/>
        <c:grouping val="clustered"/>
        <c:ser>
          <c:idx val="0"/>
          <c:order val="0"/>
          <c:tx>
            <c:strRef>
              <c:f>Sheet1!$B$1</c:f>
              <c:strCache>
                <c:ptCount val="1"/>
                <c:pt idx="0">
                  <c:v>If the distance is misread by 5 cm: entries still covered</c:v>
                </c:pt>
              </c:strCache>
            </c:strRef>
          </c:tx>
          <c:dPt>
            <c:idx val="0"/>
            <c:spPr>
              <a:solidFill>
                <a:srgbClr val="9FB3C0"/>
              </a:solidFill>
            </c:spPr>
          </c:dPt>
          <c:dPt>
            <c:idx val="1"/>
            <c:spPr>
              <a:solidFill>
                <a:srgbClr val="9FB3C0"/>
              </a:solidFill>
            </c:spPr>
          </c:dPt>
          <c:dPt>
            <c:idx val="2"/>
            <c:spPr>
              <a:solidFill>
                <a:srgbClr val="006DAE"/>
              </a:solidFill>
            </c:spPr>
          </c:dPt>
          <c:cat>
            <c:strRef>
              <c:f>Sheet1!$A$2:$A$4</c:f>
              <c:strCache>
                <c:ptCount val="3"/>
                <c:pt idx="0">
                  <c:v>Fixed zones</c:v>
                </c:pt>
                <c:pt idx="1">
                  <c:v>Reactive</c:v>
                </c:pt>
                <c:pt idx="2">
                  <c:v>Predictive</c:v>
                </c:pt>
              </c:strCache>
            </c:strRef>
          </c:cat>
          <c:val>
            <c:numRef>
              <c:f>Sheet1!$B$2:$B$4</c:f>
              <c:numCache>
                <c:formatCode>General</c:formatCode>
                <c:ptCount val="3"/>
                <c:pt idx="0">
                  <c:v>31</c:v>
                </c:pt>
                <c:pt idx="1">
                  <c:v>42</c:v>
                </c:pt>
                <c:pt idx="2">
                  <c:v>67</c:v>
                </c:pt>
              </c:numCache>
            </c:numRef>
          </c:val>
        </c:ser>
        <c:dLbls>
          <c:numFmt formatCode="0&quot;%&quot;"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80.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Brief stop requests (under 0.5 s) per minute</a:t>
            </a:r>
          </a:p>
        </c:rich>
      </c:tx>
      <c:layout/>
      <c:overlay val="0"/>
    </c:title>
    <c:autoTitleDeleted val="0"/>
    <c:plotArea>
      <c:barChart>
        <c:barDir val="col"/>
        <c:grouping val="clustered"/>
        <c:ser>
          <c:idx val="0"/>
          <c:order val="0"/>
          <c:tx>
            <c:strRef>
              <c:f>Sheet1!$B$1</c:f>
              <c:strCache>
                <c:ptCount val="1"/>
                <c:pt idx="0">
                  <c:v>Brief stop requests (under 0.5 s) per minute</c:v>
                </c:pt>
              </c:strCache>
            </c:strRef>
          </c:tx>
          <c:dPt>
            <c:idx val="0"/>
            <c:spPr>
              <a:solidFill>
                <a:srgbClr val="9FB3C0"/>
              </a:solidFill>
            </c:spPr>
          </c:dPt>
          <c:dPt>
            <c:idx val="1"/>
            <c:spPr>
              <a:solidFill>
                <a:srgbClr val="9FB3C0"/>
              </a:solidFill>
            </c:spPr>
          </c:dPt>
          <c:dPt>
            <c:idx val="2"/>
            <c:spPr>
              <a:solidFill>
                <a:srgbClr val="006DAE"/>
              </a:solidFill>
            </c:spPr>
          </c:dPt>
          <c:cat>
            <c:strRef>
              <c:f>Sheet1!$A$2:$A$4</c:f>
              <c:strCache>
                <c:ptCount val="3"/>
                <c:pt idx="0">
                  <c:v>Fixed zones</c:v>
                </c:pt>
                <c:pt idx="1">
                  <c:v>Reactive</c:v>
                </c:pt>
                <c:pt idx="2">
                  <c:v>Predictive</c:v>
                </c:pt>
              </c:strCache>
            </c:strRef>
          </c:cat>
          <c:val>
            <c:numRef>
              <c:f>Sheet1!$B$2:$B$4</c:f>
              <c:numCache>
                <c:formatCode>General</c:formatCode>
                <c:ptCount val="3"/>
                <c:pt idx="0">
                  <c:v>2.2</c:v>
                </c:pt>
                <c:pt idx="1">
                  <c:v>6.7</c:v>
                </c:pt>
                <c:pt idx="2">
                  <c:v>15.3</c:v>
                </c:pt>
              </c:numCache>
            </c:numRef>
          </c:val>
        </c:ser>
        <c:dLbls>
          <c:numFmt formatCode="0.0"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18.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172D3D"/>
                </a:solidFill>
                <a:latin typeface="Arial"/>
              </a:rPr>
              <a:t>Share of each trial the robot was stopped (median, logged trials)</a:t>
            </a:r>
          </a:p>
        </c:rich>
      </c:tx>
      <c:layout/>
      <c:overlay val="0"/>
    </c:title>
    <c:autoTitleDeleted val="0"/>
    <c:plotArea>
      <c:barChart>
        <c:barDir val="col"/>
        <c:grouping val="clustered"/>
        <c:ser>
          <c:idx val="0"/>
          <c:order val="0"/>
          <c:tx>
            <c:strRef>
              <c:f>Sheet1!$B$1</c:f>
              <c:strCache>
                <c:ptCount val="1"/>
                <c:pt idx="0">
                  <c:v>Share of each trial the robot was stopped (median, logged trials)</c:v>
                </c:pt>
              </c:strCache>
            </c:strRef>
          </c:tx>
          <c:dPt>
            <c:idx val="0"/>
            <c:spPr>
              <a:solidFill>
                <a:srgbClr val="9FB3C0"/>
              </a:solidFill>
            </c:spPr>
          </c:dPt>
          <c:dPt>
            <c:idx val="1"/>
            <c:spPr>
              <a:solidFill>
                <a:srgbClr val="9FB3C0"/>
              </a:solidFill>
            </c:spPr>
          </c:dPt>
          <c:dPt>
            <c:idx val="2"/>
            <c:spPr>
              <a:solidFill>
                <a:srgbClr val="9FB3C0"/>
              </a:solidFill>
            </c:spPr>
          </c:dPt>
          <c:cat>
            <c:strRef>
              <c:f>Sheet1!$A$2:$A$4</c:f>
              <c:strCache>
                <c:ptCount val="3"/>
                <c:pt idx="0">
                  <c:v>Fixed zones</c:v>
                </c:pt>
                <c:pt idx="1">
                  <c:v>Reactive</c:v>
                </c:pt>
                <c:pt idx="2">
                  <c:v>Predictive</c:v>
                </c:pt>
              </c:strCache>
            </c:strRef>
          </c:cat>
          <c:val>
            <c:numRef>
              <c:f>Sheet1!$B$2:$B$4</c:f>
              <c:numCache>
                <c:formatCode>General</c:formatCode>
                <c:ptCount val="3"/>
                <c:pt idx="0">
                  <c:v>29.7</c:v>
                </c:pt>
                <c:pt idx="1">
                  <c:v>33.6</c:v>
                </c:pt>
                <c:pt idx="2">
                  <c:v>36.7</c:v>
                </c:pt>
              </c:numCache>
            </c:numRef>
          </c:val>
        </c:ser>
        <c:dLbls>
          <c:numFmt formatCode="0.0&quot;%&quot;" sourceLinked="0"/>
          <c:txPr>
            <a:bodyPr/>
            <a:lstStyle/>
            <a:p>
              <a:pPr>
                <a:defRPr sz="1800" b="1">
                  <a:solidFill>
                    <a:srgbClr val="172D3D"/>
                  </a:solidFill>
                  <a:latin typeface="Aria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9FB3C0"/>
            </a:solidFill>
          </a:ln>
        </c:spPr>
        <c:txPr>
          <a:bodyPr/>
          <a:lstStyle/>
          <a:p>
            <a:pPr>
              <a:defRPr sz="1600">
                <a:solidFill>
                  <a:srgbClr val="172D3D"/>
                </a:solidFill>
                <a:latin typeface="Arial"/>
              </a:defRPr>
            </a:pPr>
          </a:p>
        </c:txPr>
        <c:crossAx val="-2113994440"/>
        <c:crosses val="autoZero"/>
        <c:auto val="1"/>
        <c:lblAlgn val="ctr"/>
        <c:lblOffset val="100"/>
        <c:noMultiLvlLbl val="0"/>
      </c:catAx>
      <c:valAx>
        <c:axId val="-2113994440"/>
        <c:scaling>
          <c:max val="45.0"/>
          <c:min val="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78f5b71cffb54a8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834da4d420a42bf" Type="http://schemas.openxmlformats.org/officeDocument/2006/relationships/notesMaster" Target="../notesMasters/notesMaster1.xml"/><Relationship Id="R60ca0d92abc2463f"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ZENAN | 0:25</a:t>
            </a:r>
          </a:p>
          <a:p xmlns:a="http://schemas.openxmlformats.org/drawingml/2006/main"/>
          <a:p xmlns:a="http://schemas.openxmlformats.org/drawingml/2006/main">
            <a:r>
              <a:t>Good afternoon. I'm Zenan, and with Luke and Michael I'll show you how we taught a robot to understand what a construction worker is doing, so it keeps them safe without stopping all the time. I'll cover the problem and what we built, Michael the testing and results, and Luke the project and what it takes to use this on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0:45</a:t>
            </a:r>
          </a:p>
          <a:p/>
          <a:p>
            <a:r>
              <a:t>Installing ceiling panels means holding heavy boards above your head. A collaborative robot can take the weight while the worker aligns and fixes the panel.</a:t>
            </a:r>
          </a:p>
          <a:p/>
          <a:p>
            <a:r>
              <a:t>The catch: the worker now stands next to a moving robot. Today's standard draws fixed zones around the robot and stops it whenever someone is inside. It can't tell someone walking in to work from someone walking away. Stop too late and someone gets hurt; stop too often and crews switch the robot off. Getting it right helps installation crews, contractors and the engineers who certify these robots.</a:t>
            </a:r>
          </a:p>
          <a:p/>
          <a:p>
            <a:r>
              <a:t>So our question, in the dark box: can a robot that knows the task phase keep workers as safe as fixed zones, and still keep the work efficient?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0:55</a:t>
            </a:r>
          </a:p>
          <a:p/>
          <a:p>
            <a:r>
              <a:t>To answer it we compared three controllers, each adding one piece of information. Fixed zones use distance only; that's today's practice, so it's our baseline. Reactive control also looks at how fast you're approaching. Ours, the predictive controller, adds the task phase, whether you're approaching, working or walking away, plus a predictor that flags when you're about to step into the stop zone.</a:t>
            </a:r>
          </a:p>
          <a:p/>
          <a:p>
            <a:r>
              <a:t>The key rule is the dark bar: the learned parts can only slow the robot, never speed it up. So a wrong guess can never make it less safe, and safety never depends on the machine learning being right.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0:40</a:t>
            </a:r>
          </a:p>
          <a:p/>
          <a:p>
            <a:r>
              <a:t>Thanks Zenan. Twelve people took part under Monash ethics approval. Each did three blocks of the panel task, one controller per block in rotated order, with cued movements like a quick step toward the robot, and a short questionnaire after each block.</a:t>
            </a:r>
          </a:p>
          <a:p/>
          <a:p>
            <a:r>
              <a:t>Our key method decision was logging every sensor input. That let us replay all three controllers on exactly the same movement, like three referees judging the same match footage, so any difference comes from the controller, not the person.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0:40</a:t>
            </a:r>
          </a:p>
          <a:p/>
          <a:p>
            <a:r>
              <a:t>My main contribution was this physical setup: I positioned the robot and built the PVC pipe structure you can see.</a:t>
            </a:r>
          </a:p>
          <a:p/>
          <a:p>
            <a:r>
              <a:t>The UR10 arm lifts a panel stand-in to ceiling height and holds it while the participant works underneath. Cameras on the frame track the head to about a millimetre, and the suit gives 23 body segments. [Click the video.] Here is a participant walking in while the suit streams every body segment to the controller. The controller reads all of this about sixty times a second and decides how fast the robot may move.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0:50</a:t>
            </a:r>
          </a:p>
          <a:p/>
          <a:p>
            <a:r>
              <a:t>This answers the first half of our question: is it as safe? Each time someone stepped into the stop zone, 970 times in total, all three controllers had already asked the robot to stop. On the measured distance, none of them failed.</a:t>
            </a:r>
          </a:p>
          <a:p/>
          <a:p>
            <a:r>
              <a:t>The difference is timing. Ours asked for the stop about a tenth of a second earlier, for every one of the twelve people. That matters because the distance is always measured a little wrong: if it was five centimetres off, fixed zones would still have covered 31 percent of entries and ours 67. So yes, it is as safe, with more margin.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MICHAEL | 0:50</a:t>
            </a:r>
          </a:p>
          <a:p/>
          <a:p>
            <a:r>
              <a:t>The second half: is it still efficient? Partly. Ours flicked between stop and go more often, because it releases the stop as soon as the risk dips, so a noisy speed estimate makes it flicker. A short release delay should fix most of that.</a:t>
            </a:r>
          </a:p>
          <a:p/>
          <a:p>
            <a:r>
              <a:t>Overall it added under a second of unnecessary stopping per minute, and participants didn't notice: their picks for the safest block were spread three, five and three, which is chance. And once asked, the robot stopped within a quarter of a second.</a:t>
            </a:r>
          </a:p>
          <a:p/>
          <a:p>
            <a:r>
              <a:t>Luke will now take us through what this means and how we ran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0:40</a:t>
            </a:r>
          </a:p>
          <a:p/>
          <a:p>
            <a:r>
              <a:t>Thanks Michael. The biggest lesson was not which controller is best. Under all three, the robot was stopped for about a third of every trial, because the task itself puts the worker in the stop zone: you have to be close to load the panel, work under it and unload it.</a:t>
            </a:r>
          </a:p>
          <a:p/>
          <a:p>
            <a:r>
              <a:t>So the next real gain is switching to a contact-safe mode, like hand guiding, while the worker is under the panel. Our system already knows the phase, so it can make that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0:50</a:t>
            </a:r>
          </a:p>
          <a:p/>
          <a:p>
            <a:r>
              <a:t>My role was coordinating with the lab staff and our supervisors, Yihai and Will. We planned four stages: design and simulation in July, building and pilot-testing the rig in August, twelve participant sessions in September, and analysis and writing in October.</a:t>
            </a:r>
          </a:p>
          <a:p/>
          <a:p>
            <a:r>
              <a:t>Three setbacks shaped the project. Some sessions restarted under a new ID, so we worked out from the data who was who. Midway, the distance reference changed, so we analysed the two versions separately and replayed the exact code that ran. And the paper was too technical, so we rewrote it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0:50</a:t>
            </a:r>
          </a:p>
          <a:p/>
          <a:p>
            <a:r>
              <a:t>Moving from the lab to a site brings real constraints. Safety: this is a research prototype on the robot's ordinary speed controls, not a certified safety function, and we'd allow half a second to react. Cost: cameras and suits need calibration, maintenance and training for every crew, weighed against the labour saved. Health: it takes overhead lifting off workers, and the suit was rated only mildly restrictive. Carbon: we didn't measure energy, so we make no claim. People and standards: crews have to accept a robot co-worker, and any site system must meet the robot safety standards.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LUKE | 0:40</a:t>
            </a:r>
          </a:p>
          <a:p/>
          <a:p>
            <a:r>
              <a:t>So, back to our question. Can a task-aware robot be as safe as fixed zones and still efficient? On safety, yes: as safe on every measure, with more margin when the sensors are wrong. On efficiency, partly: same trial time, slightly more stopping. For industry, that means task awareness can sit on top of a standard safety limit without weakening it.</a:t>
            </a:r>
          </a:p>
          <a:p/>
          <a:p>
            <a:r>
              <a:t>Next: a release delay, a contact-safe mode under the panel, and trials with real crews. If you're choosing an FYP, this mixes robotics, sensing, people and construction, and there's plenty left to do. Thank you, we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ZENAN | 0:55</a:t>
            </a:r>
          </a:p>
          <a:p/>
          <a:p>
            <a:r>
              <a:t>My part was the software, and this is what it looks like. On the left is the console we built to run every session: it checks every sensor before a trial, assigns the controller, and records everything the robot and the person did.</a:t>
            </a:r>
          </a:p>
          <a:p/>
          <a:p>
            <a:r>
              <a:t>On the right is our trained model on a person it never saw during training. The top bar is what they were actually doing, the bottom bar is what the model said live. It follows the long working phase well and only hesitates at the changeovers.</a:t>
            </a:r>
          </a:p>
          <a:p/>
          <a:p>
            <a:r>
              <a:t>Michael will now show you how we tested it and what we found.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bd78081893954c3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c21d838408c46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fa87548a7f7941e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41559b8a073b478e"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32fd7869cf1403b"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096e0c9343d446b"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148740cb099245e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2cad81473d534a95"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6d196350af4f481d"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786ca8dd05164a50"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aac1b3982b6b456e"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4af0695dad56425c"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c6ab5c07a7fe480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4feb6f4d589f4498" Type="http://schemas.openxmlformats.org/officeDocument/2006/relationships/slideMaster" Target="../slideMasters/slideMaster1.xml"/></Relationships>
</file>

<file path=ppt/slideLayouts/slideLayout1.xml><?xml version="1.0" encoding="utf-8"?>
<p:sldLayout xmlns:p="http://schemas.openxmlformats.org/presentationml/2006/main" preserve="1" userDrawn="1">
  <p:cSld name="Title slide_image option 1">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9959E34-7D5A-4BD7-8251-3B069FE78CA1}"/>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D5275896-2C72-498D-B653-414BBE17557D}"/>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F16C37D6-C2E2-49C2-8CCA-00F002D0D28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890999CC-DE80-4843-A760-7D43FDD36995}"/>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2.xml><?xml version="1.0" encoding="utf-8"?>
<p:sldLayout xmlns:p="http://schemas.openxmlformats.org/presentationml/2006/main" preserve="1" userDrawn="1">
  <p:cSld name="Title slide_image option 2">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5A8440E5-1D3D-467C-9331-C80E53D74DF9}"/>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8A02B849-B130-40B4-8741-8B68F7172123}"/>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175D9F5F-88F1-4E36-9CB2-B54ADEE31DFD}"/>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5BDD50A3-E67B-4774-84EE-10ABC7E22B69}"/>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3.xml><?xml version="1.0" encoding="utf-8"?>
<p:sldLayout xmlns:p="http://schemas.openxmlformats.org/presentationml/2006/main" preserve="1" userDrawn="1">
  <p:cSld name="Title slide_image option 3">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18C18B34-15C1-4501-A171-E4A379C18BE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0D890E79-75EE-455E-BC7C-FE9972AC9C25}"/>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E6CC4F13-DD70-4E24-BB60-54CBB58584F4}"/>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65C29C93-3E71-46BC-8193-E32D10C3E3D3}"/>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Tree>
  </p:cSld>
</p:sldLayout>
</file>

<file path=ppt/slideLayouts/slideLayout4.xml><?xml version="1.0" encoding="utf-8"?>
<p:sldLayout xmlns:p="http://schemas.openxmlformats.org/presentationml/2006/main" preserve="1" userDrawn="1">
  <p:cSld name="Title slide_image option 4">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3C596B7D-0569-427C-9D0A-20EC6B25FF87}"/>
              </a:ext>
            </a:extLst>
          </p:cNvPr>
          <p:cNvSpPr>
            <a:spLocks xmlns:a="http://schemas.openxmlformats.org/drawingml/2006/main" noGrp="1"/>
          </p:cNvSpPr>
          <p:nvPr>
            <p:ph type="body" idx="11" hasCustomPrompt="1"/>
          </p:nvPr>
        </p:nvSpPr>
        <p:spPr>
          <a:xfrm xmlns:a="http://schemas.openxmlformats.org/drawingml/2006/main">
            <a:off x="379112" y="2765699"/>
            <a:ext cx="6012163" cy="678126"/>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defRPr>
            </a:lvl1pPr>
          </a:lstStyle>
          <a:p xmlns:a="http://schemas.openxmlformats.org/drawingml/2006/main">
            <a:r>
              <a:t>SUB HEADLINE / PRESENTER (28PT ARIAL NARROW, UPPER CASE)</a:t>
            </a:r>
            <a:endParaRPr/>
          </a:p>
        </p:txBody>
      </p:sp>
      <p:sp>
        <p:nvSpPr>
          <p:cNvPr id="19" name="Text Placeholder 17">
            <a:extLst xmlns:a="http://schemas.openxmlformats.org/drawingml/2006/main">
              <a:ext uri="{FF2B5EF4-FFF2-40B4-BE49-F238E27FC236}">
                <a16:creationId xmlns:a16="http://schemas.microsoft.com/office/drawing/2014/main" id="{713619B6-C40D-42CA-950C-2BE9B668EB98}"/>
              </a:ext>
            </a:extLst>
          </p:cNvPr>
          <p:cNvSpPr>
            <a:spLocks xmlns:a="http://schemas.openxmlformats.org/drawingml/2006/main" noGrp="1"/>
          </p:cNvSpPr>
          <p:nvPr>
            <p:ph type="body" idx="12" hasCustomPrompt="1"/>
          </p:nvPr>
        </p:nvSpPr>
        <p:spPr>
          <a:xfrm xmlns:a="http://schemas.openxmlformats.org/drawingml/2006/main">
            <a:off x="370485" y="4463086"/>
            <a:ext cx="5649316"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DATE (20PT ARIAL NARROW, UPPER CASE)</a:t>
            </a:r>
            <a:br/>
            <a:endParaRPr/>
          </a:p>
        </p:txBody>
      </p:sp>
      <p:sp>
        <p:nvSpPr>
          <p:cNvPr id="23" name="Text Placeholder 22">
            <a:extLst xmlns:a="http://schemas.openxmlformats.org/drawingml/2006/main">
              <a:ext uri="{FF2B5EF4-FFF2-40B4-BE49-F238E27FC236}">
                <a16:creationId xmlns:a16="http://schemas.microsoft.com/office/drawing/2014/main" id="{05014D11-E9D0-4F5C-B088-03C35C98B651}"/>
              </a:ext>
            </a:extLst>
          </p:cNvPr>
          <p:cNvSpPr>
            <a:spLocks xmlns:a="http://schemas.openxmlformats.org/drawingml/2006/main" noGrp="1"/>
          </p:cNvSpPr>
          <p:nvPr>
            <p:ph type="body" idx="13" hasCustomPrompt="1"/>
          </p:nvPr>
        </p:nvSpPr>
        <p:spPr>
          <a:xfrm xmlns:a="http://schemas.openxmlformats.org/drawingml/2006/main">
            <a:off x="378808" y="1959605"/>
            <a:ext cx="6012467" cy="1180231"/>
          </a:xfrm>
          <a:prstGeom xmlns:a="http://schemas.openxmlformats.org/drawingml/2006/main" prst="rect">
            <a:avLst/>
          </a:prstGeom>
        </p:spPr>
        <p:txBody>
          <a:bodyPr xmlns:a="http://schemas.openxmlformats.org/drawingml/2006/main"/>
          <a:lstStyle xmlns:a="http://schemas.openxmlformats.org/drawingml/2006/main">
            <a:lvl1pPr>
              <a:buNone/>
              <a:defRPr sz="4500" b="1" baseline="0">
                <a:solidFill>
                  <a:srgbClr val="006CAB"/>
                </a:solidFill>
              </a:defRPr>
            </a:lvl1pPr>
          </a:lstStyle>
          <a:p xmlns:a="http://schemas.openxmlformats.org/drawingml/2006/main">
            <a:pPr lvl="0">
              <a:buNone/>
            </a:pPr>
            <a:r>
              <a:t>TITLE (UPPER CASE)</a:t>
            </a:r>
          </a:p>
        </p:txBody>
      </p:sp>
      <p:sp>
        <p:nvSpPr>
          <p:cNvPr id="25" name="Text Placeholder 17">
            <a:extLst xmlns:a="http://schemas.openxmlformats.org/drawingml/2006/main">
              <a:ext uri="{FF2B5EF4-FFF2-40B4-BE49-F238E27FC236}">
                <a16:creationId xmlns:a16="http://schemas.microsoft.com/office/drawing/2014/main" id="{11CD9A49-9F7E-4D7D-8A8E-8517C81558AD}"/>
              </a:ext>
            </a:extLst>
          </p:cNvPr>
          <p:cNvSpPr>
            <a:spLocks xmlns:a="http://schemas.openxmlformats.org/drawingml/2006/main" noGrp="1"/>
          </p:cNvSpPr>
          <p:nvPr>
            <p:ph type="body" idx="14" hasCustomPrompt="1"/>
          </p:nvPr>
        </p:nvSpPr>
        <p:spPr>
          <a:xfrm xmlns:a="http://schemas.openxmlformats.org/drawingml/2006/main">
            <a:off x="370183" y="4872811"/>
            <a:ext cx="5649617" cy="409725"/>
          </a:xfrm>
          <a:prstGeom xmlns:a="http://schemas.openxmlformats.org/drawingml/2006/main" prst="rect">
            <a:avLst/>
          </a:prstGeom>
        </p:spPr>
        <p:txBody>
          <a:bodyPr xmlns:a="http://schemas.openxmlformats.org/drawingml/2006/main"/>
          <a:lstStyle xmlns:a="http://schemas.openxmlformats.org/drawingml/2006/main">
            <a:lvl1pPr>
              <a:buNone/>
              <a:defRPr sz="2000" baseline="0">
                <a:solidFill>
                  <a:schemeClr val="tx1"/>
                </a:solidFill>
              </a:defRPr>
            </a:lvl1pPr>
          </a:lstStyle>
          <a:p xmlns:a="http://schemas.openxmlformats.org/drawingml/2006/main">
            <a:r>
              <a:t>LOCATION/ EXTRA LINE (20PT ARIAL NARROW, UPPER CASE)</a:t>
            </a:r>
            <a:br/>
            <a:endParaRPr/>
          </a:p>
        </p:txBody>
      </p:sp>
      <p:sp>
        <p:nvSpPr>
          <p:cNvPr id="9" name="Freeform 8">
            <a:extLst xmlns:a="http://schemas.openxmlformats.org/drawingml/2006/main">
              <a:ext uri="{FF2B5EF4-FFF2-40B4-BE49-F238E27FC236}">
                <a16:creationId xmlns:a16="http://schemas.microsoft.com/office/drawing/2014/main" id="{D3A273D6-276C-4B9E-A311-A28B57A20E48}"/>
              </a:ext>
            </a:extLst>
          </p:cNvPr>
          <p:cNvSpPr>
            <a:spLocks xmlns:a="http://schemas.openxmlformats.org/drawingml/2006/main" noGrp="1"/>
          </p:cNvSpPr>
          <p:nvPr/>
        </p:nvSpPr>
        <p:spPr>
          <a:xfrm xmlns:a="http://schemas.openxmlformats.org/drawingml/2006/main">
            <a:off x="8652398" y="2502"/>
            <a:ext cx="2926807" cy="6882646"/>
          </a:xfrm>
          <a:custGeom xmlns:a="http://schemas.openxmlformats.org/drawingml/2006/main">
            <a:gdLst>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71800 w 2971800"/>
              <a:gd name="connsiteY8" fmla="*/ 6916782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2097"/>
              <a:gd name="connsiteX1" fmla="*/ 0 w 2971800"/>
              <a:gd name="connsiteY1" fmla="*/ 6982097 h 6982097"/>
              <a:gd name="connsiteX2" fmla="*/ 796834 w 2971800"/>
              <a:gd name="connsiteY2" fmla="*/ 6982097 h 6982097"/>
              <a:gd name="connsiteX3" fmla="*/ 796834 w 2971800"/>
              <a:gd name="connsiteY3" fmla="*/ 3997234 h 6982097"/>
              <a:gd name="connsiteX4" fmla="*/ 1051560 w 2971800"/>
              <a:gd name="connsiteY4" fmla="*/ 6969034 h 6982097"/>
              <a:gd name="connsiteX5" fmla="*/ 1939834 w 2971800"/>
              <a:gd name="connsiteY5" fmla="*/ 6969034 h 6982097"/>
              <a:gd name="connsiteX6" fmla="*/ 2168434 w 2971800"/>
              <a:gd name="connsiteY6" fmla="*/ 4023360 h 6982097"/>
              <a:gd name="connsiteX7" fmla="*/ 2168434 w 2971800"/>
              <a:gd name="connsiteY7" fmla="*/ 6949440 h 6982097"/>
              <a:gd name="connsiteX8" fmla="*/ 2961790 w 2971800"/>
              <a:gd name="connsiteY8" fmla="*/ 6976844 h 6982097"/>
              <a:gd name="connsiteX9" fmla="*/ 2971800 w 2971800"/>
              <a:gd name="connsiteY9" fmla="*/ 0 h 6982097"/>
              <a:gd name="connsiteX10" fmla="*/ 1691640 w 2971800"/>
              <a:gd name="connsiteY10" fmla="*/ 0 h 6982097"/>
              <a:gd name="connsiteX11" fmla="*/ 1489166 w 2971800"/>
              <a:gd name="connsiteY11" fmla="*/ 2331720 h 6982097"/>
              <a:gd name="connsiteX12" fmla="*/ 1293223 w 2971800"/>
              <a:gd name="connsiteY12" fmla="*/ 6531 h 6982097"/>
              <a:gd name="connsiteX13" fmla="*/ 0 w 2971800"/>
              <a:gd name="connsiteY13" fmla="*/ 6531 h 6982097"/>
              <a:gd name="connsiteX0" fmla="*/ 0 w 2971800"/>
              <a:gd name="connsiteY0" fmla="*/ 6531 h 6986383"/>
              <a:gd name="connsiteX1" fmla="*/ 0 w 2971800"/>
              <a:gd name="connsiteY1" fmla="*/ 6982097 h 6986383"/>
              <a:gd name="connsiteX2" fmla="*/ 796834 w 2971800"/>
              <a:gd name="connsiteY2" fmla="*/ 6982097 h 6986383"/>
              <a:gd name="connsiteX3" fmla="*/ 796834 w 2971800"/>
              <a:gd name="connsiteY3" fmla="*/ 3997234 h 6986383"/>
              <a:gd name="connsiteX4" fmla="*/ 1051560 w 2971800"/>
              <a:gd name="connsiteY4" fmla="*/ 6969034 h 6986383"/>
              <a:gd name="connsiteX5" fmla="*/ 1939834 w 2971800"/>
              <a:gd name="connsiteY5" fmla="*/ 6969034 h 6986383"/>
              <a:gd name="connsiteX6" fmla="*/ 2168434 w 2971800"/>
              <a:gd name="connsiteY6" fmla="*/ 4023360 h 6986383"/>
              <a:gd name="connsiteX7" fmla="*/ 2175823 w 2971800"/>
              <a:gd name="connsiteY7" fmla="*/ 6986383 h 6986383"/>
              <a:gd name="connsiteX8" fmla="*/ 2961790 w 2971800"/>
              <a:gd name="connsiteY8" fmla="*/ 6976844 h 6986383"/>
              <a:gd name="connsiteX9" fmla="*/ 2971800 w 2971800"/>
              <a:gd name="connsiteY9" fmla="*/ 0 h 6986383"/>
              <a:gd name="connsiteX10" fmla="*/ 1691640 w 2971800"/>
              <a:gd name="connsiteY10" fmla="*/ 0 h 6986383"/>
              <a:gd name="connsiteX11" fmla="*/ 1489166 w 2971800"/>
              <a:gd name="connsiteY11" fmla="*/ 2331720 h 6986383"/>
              <a:gd name="connsiteX12" fmla="*/ 1293223 w 2971800"/>
              <a:gd name="connsiteY12" fmla="*/ 6531 h 6986383"/>
              <a:gd name="connsiteX13" fmla="*/ 0 w 2971800"/>
              <a:gd name="connsiteY13" fmla="*/ 6531 h 6986383"/>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6999737"/>
              <a:gd name="connsiteX1" fmla="*/ 0 w 2971800"/>
              <a:gd name="connsiteY1" fmla="*/ 6982097 h 6999737"/>
              <a:gd name="connsiteX2" fmla="*/ 796834 w 2971800"/>
              <a:gd name="connsiteY2" fmla="*/ 6982097 h 6999737"/>
              <a:gd name="connsiteX3" fmla="*/ 796834 w 2971800"/>
              <a:gd name="connsiteY3" fmla="*/ 3997234 h 6999737"/>
              <a:gd name="connsiteX4" fmla="*/ 1051560 w 2971800"/>
              <a:gd name="connsiteY4" fmla="*/ 6969034 h 6999737"/>
              <a:gd name="connsiteX5" fmla="*/ 1939834 w 2971800"/>
              <a:gd name="connsiteY5" fmla="*/ 6969034 h 6999737"/>
              <a:gd name="connsiteX6" fmla="*/ 2168434 w 2971800"/>
              <a:gd name="connsiteY6" fmla="*/ 4023360 h 6999737"/>
              <a:gd name="connsiteX7" fmla="*/ 2175823 w 2971800"/>
              <a:gd name="connsiteY7" fmla="*/ 6986383 h 6999737"/>
              <a:gd name="connsiteX8" fmla="*/ 2961790 w 2971800"/>
              <a:gd name="connsiteY8" fmla="*/ 6999737 h 6999737"/>
              <a:gd name="connsiteX9" fmla="*/ 2971800 w 2971800"/>
              <a:gd name="connsiteY9" fmla="*/ 0 h 6999737"/>
              <a:gd name="connsiteX10" fmla="*/ 1691640 w 2971800"/>
              <a:gd name="connsiteY10" fmla="*/ 0 h 6999737"/>
              <a:gd name="connsiteX11" fmla="*/ 1489166 w 2971800"/>
              <a:gd name="connsiteY11" fmla="*/ 2331720 h 6999737"/>
              <a:gd name="connsiteX12" fmla="*/ 1293223 w 2971800"/>
              <a:gd name="connsiteY12" fmla="*/ 6531 h 6999737"/>
              <a:gd name="connsiteX13" fmla="*/ 0 w 2971800"/>
              <a:gd name="connsiteY13" fmla="*/ 6531 h 6999737"/>
              <a:gd name="connsiteX0" fmla="*/ 0 w 2971800"/>
              <a:gd name="connsiteY0" fmla="*/ 6531 h 7001646"/>
              <a:gd name="connsiteX1" fmla="*/ 0 w 2971800"/>
              <a:gd name="connsiteY1" fmla="*/ 6982097 h 7001646"/>
              <a:gd name="connsiteX2" fmla="*/ 796834 w 2971800"/>
              <a:gd name="connsiteY2" fmla="*/ 6982097 h 7001646"/>
              <a:gd name="connsiteX3" fmla="*/ 796834 w 2971800"/>
              <a:gd name="connsiteY3" fmla="*/ 3997234 h 7001646"/>
              <a:gd name="connsiteX4" fmla="*/ 1051560 w 2971800"/>
              <a:gd name="connsiteY4" fmla="*/ 6969034 h 7001646"/>
              <a:gd name="connsiteX5" fmla="*/ 1939834 w 2971800"/>
              <a:gd name="connsiteY5" fmla="*/ 6969034 h 7001646"/>
              <a:gd name="connsiteX6" fmla="*/ 2168434 w 2971800"/>
              <a:gd name="connsiteY6" fmla="*/ 4023360 h 7001646"/>
              <a:gd name="connsiteX7" fmla="*/ 2175824 w 2971800"/>
              <a:gd name="connsiteY7" fmla="*/ 7001646 h 7001646"/>
              <a:gd name="connsiteX8" fmla="*/ 2961790 w 2971800"/>
              <a:gd name="connsiteY8" fmla="*/ 6999737 h 7001646"/>
              <a:gd name="connsiteX9" fmla="*/ 2971800 w 2971800"/>
              <a:gd name="connsiteY9" fmla="*/ 0 h 7001646"/>
              <a:gd name="connsiteX10" fmla="*/ 1691640 w 2971800"/>
              <a:gd name="connsiteY10" fmla="*/ 0 h 7001646"/>
              <a:gd name="connsiteX11" fmla="*/ 1489166 w 2971800"/>
              <a:gd name="connsiteY11" fmla="*/ 2331720 h 7001646"/>
              <a:gd name="connsiteX12" fmla="*/ 1293223 w 2971800"/>
              <a:gd name="connsiteY12" fmla="*/ 6531 h 7001646"/>
              <a:gd name="connsiteX13" fmla="*/ 0 w 2971800"/>
              <a:gd name="connsiteY13" fmla="*/ 6531 h 7001646"/>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1560 w 2971800"/>
              <a:gd name="connsiteY4" fmla="*/ 6969034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6982097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0 w 2971800"/>
              <a:gd name="connsiteY1" fmla="*/ 6982097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0 w 2971800"/>
              <a:gd name="connsiteY0" fmla="*/ 6531 h 7007189"/>
              <a:gd name="connsiteX1" fmla="*/ 7631 w 2971800"/>
              <a:gd name="connsiteY1" fmla="*/ 6989729 h 7007189"/>
              <a:gd name="connsiteX2" fmla="*/ 796834 w 2971800"/>
              <a:gd name="connsiteY2" fmla="*/ 7004990 h 7007189"/>
              <a:gd name="connsiteX3" fmla="*/ 796834 w 2971800"/>
              <a:gd name="connsiteY3" fmla="*/ 3997234 h 7007189"/>
              <a:gd name="connsiteX4" fmla="*/ 1059191 w 2971800"/>
              <a:gd name="connsiteY4" fmla="*/ 6991927 h 7007189"/>
              <a:gd name="connsiteX5" fmla="*/ 1939834 w 2971800"/>
              <a:gd name="connsiteY5" fmla="*/ 7007189 h 7007189"/>
              <a:gd name="connsiteX6" fmla="*/ 2168434 w 2971800"/>
              <a:gd name="connsiteY6" fmla="*/ 4023360 h 7007189"/>
              <a:gd name="connsiteX7" fmla="*/ 2175824 w 2971800"/>
              <a:gd name="connsiteY7" fmla="*/ 7001646 h 7007189"/>
              <a:gd name="connsiteX8" fmla="*/ 2961790 w 2971800"/>
              <a:gd name="connsiteY8" fmla="*/ 6999737 h 7007189"/>
              <a:gd name="connsiteX9" fmla="*/ 2971800 w 2971800"/>
              <a:gd name="connsiteY9" fmla="*/ 0 h 7007189"/>
              <a:gd name="connsiteX10" fmla="*/ 1691640 w 2971800"/>
              <a:gd name="connsiteY10" fmla="*/ 0 h 7007189"/>
              <a:gd name="connsiteX11" fmla="*/ 1489166 w 2971800"/>
              <a:gd name="connsiteY11" fmla="*/ 2331720 h 7007189"/>
              <a:gd name="connsiteX12" fmla="*/ 1293223 w 2971800"/>
              <a:gd name="connsiteY12" fmla="*/ 6531 h 7007189"/>
              <a:gd name="connsiteX13" fmla="*/ 0 w 2971800"/>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67160 w 2979769"/>
              <a:gd name="connsiteY4" fmla="*/ 6991927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 name="connsiteX0" fmla="*/ 7969 w 2979769"/>
              <a:gd name="connsiteY0" fmla="*/ 6531 h 7007189"/>
              <a:gd name="connsiteX1" fmla="*/ 338 w 2979769"/>
              <a:gd name="connsiteY1" fmla="*/ 6997361 h 7007189"/>
              <a:gd name="connsiteX2" fmla="*/ 804803 w 2979769"/>
              <a:gd name="connsiteY2" fmla="*/ 7004990 h 7007189"/>
              <a:gd name="connsiteX3" fmla="*/ 804803 w 2979769"/>
              <a:gd name="connsiteY3" fmla="*/ 3997234 h 7007189"/>
              <a:gd name="connsiteX4" fmla="*/ 1074790 w 2979769"/>
              <a:gd name="connsiteY4" fmla="*/ 6999558 h 7007189"/>
              <a:gd name="connsiteX5" fmla="*/ 1947803 w 2979769"/>
              <a:gd name="connsiteY5" fmla="*/ 7007189 h 7007189"/>
              <a:gd name="connsiteX6" fmla="*/ 2176403 w 2979769"/>
              <a:gd name="connsiteY6" fmla="*/ 4023360 h 7007189"/>
              <a:gd name="connsiteX7" fmla="*/ 2183793 w 2979769"/>
              <a:gd name="connsiteY7" fmla="*/ 7001646 h 7007189"/>
              <a:gd name="connsiteX8" fmla="*/ 2969759 w 2979769"/>
              <a:gd name="connsiteY8" fmla="*/ 6999737 h 7007189"/>
              <a:gd name="connsiteX9" fmla="*/ 2979769 w 2979769"/>
              <a:gd name="connsiteY9" fmla="*/ 0 h 7007189"/>
              <a:gd name="connsiteX10" fmla="*/ 1699609 w 2979769"/>
              <a:gd name="connsiteY10" fmla="*/ 0 h 7007189"/>
              <a:gd name="connsiteX11" fmla="*/ 1497135 w 2979769"/>
              <a:gd name="connsiteY11" fmla="*/ 2331720 h 7007189"/>
              <a:gd name="connsiteX12" fmla="*/ 1301192 w 2979769"/>
              <a:gd name="connsiteY12" fmla="*/ 6531 h 7007189"/>
              <a:gd name="connsiteX13" fmla="*/ 7969 w 2979769"/>
              <a:gd name="connsiteY13" fmla="*/ 6531 h 7007189"/>
            </a:gdLst>
            <a:rect l="l" t="t" r="r" b="b"/>
            <a:pathLst>
              <a:path w="2979769" h="7007189">
                <a:moveTo>
                  <a:pt x="7969" y="6531"/>
                </a:moveTo>
                <a:cubicBezTo>
                  <a:pt x="10513" y="2334264"/>
                  <a:pt x="-2206" y="4669628"/>
                  <a:pt x="338" y="6997361"/>
                </a:cubicBezTo>
                <a:lnTo>
                  <a:pt x="804803" y="7004990"/>
                </a:lnTo>
                <a:lnTo>
                  <a:pt x="804803" y="3997234"/>
                </a:lnTo>
                <a:lnTo>
                  <a:pt x="1074790" y="6999558"/>
                </a:lnTo>
                <a:lnTo>
                  <a:pt x="1947803" y="7007189"/>
                </a:lnTo>
                <a:lnTo>
                  <a:pt x="2176403" y="4023360"/>
                </a:lnTo>
                <a:cubicBezTo>
                  <a:pt x="2178866" y="5016122"/>
                  <a:pt x="2181330" y="6008884"/>
                  <a:pt x="2183793" y="7001646"/>
                </a:cubicBezTo>
                <a:lnTo>
                  <a:pt x="2969759" y="6999737"/>
                </a:lnTo>
                <a:cubicBezTo>
                  <a:pt x="2973096" y="4674122"/>
                  <a:pt x="2976432" y="2325615"/>
                  <a:pt x="2979769" y="0"/>
                </a:cubicBezTo>
                <a:lnTo>
                  <a:pt x="1699609" y="0"/>
                </a:lnTo>
                <a:lnTo>
                  <a:pt x="1497135" y="2331720"/>
                </a:lnTo>
                <a:lnTo>
                  <a:pt x="1301192" y="6531"/>
                </a:lnTo>
                <a:lnTo>
                  <a:pt x="7969" y="6531"/>
                </a:lnTo>
                <a:close/>
              </a:path>
            </a:pathLst>
          </a:custGeom>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preserve="1" userDrawn="1">
  <p:cSld name="Copy with subheadings_grey">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84CE05A7-6415-4224-8099-BD7EAE31C5D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435EAB2A-BE35-48CB-AAD6-859040DC75E9}"/>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0D9F5A9-7F8A-4AE2-8B4C-704C44886080}"/>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DDF9E08A-D944-47D4-B39B-FCF57408EFA8}"/>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2" name="Text Placeholder 17">
            <a:extLst xmlns:a="http://schemas.openxmlformats.org/drawingml/2006/main">
              <a:ext uri="{FF2B5EF4-FFF2-40B4-BE49-F238E27FC236}">
                <a16:creationId xmlns:a16="http://schemas.microsoft.com/office/drawing/2014/main" id="{A773E9C9-FB34-442E-B4ED-B5293CC0B78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43" name="Text Placeholder 17">
            <a:extLst xmlns:a="http://schemas.openxmlformats.org/drawingml/2006/main">
              <a:ext uri="{FF2B5EF4-FFF2-40B4-BE49-F238E27FC236}">
                <a16:creationId xmlns:a16="http://schemas.microsoft.com/office/drawing/2014/main" id="{40EF88CF-6144-4D04-865C-B5DB53277F89}"/>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0" name="Text Placeholder 17">
            <a:extLst xmlns:a="http://schemas.openxmlformats.org/drawingml/2006/main">
              <a:ext uri="{FF2B5EF4-FFF2-40B4-BE49-F238E27FC236}">
                <a16:creationId xmlns:a16="http://schemas.microsoft.com/office/drawing/2014/main" id="{466839EE-A660-4E54-AD29-483FC9EA9A24}"/>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6.xml><?xml version="1.0" encoding="utf-8"?>
<p:sldLayout xmlns:p="http://schemas.openxmlformats.org/presentationml/2006/main" preserve="1" userDrawn="1">
  <p:cSld name="Copy with subheadings_blue">
    <p:spTree>
      <p:nvGrpSpPr>
        <p:cNvPr id="1" name=""/>
        <p:cNvGrpSpPr/>
        <p:nvPr/>
      </p:nvGrpSpPr>
      <p:grpSpPr>
        <a:xfrm xmlns:a="http://schemas.openxmlformats.org/drawingml/2006/main"/>
      </p:grpSpPr>
      <p:sp>
        <p:nvSpPr>
          <p:cNvPr id="17" name="Freeform 16">
            <a:extLst xmlns:a="http://schemas.openxmlformats.org/drawingml/2006/main">
              <a:ext uri="{FF2B5EF4-FFF2-40B4-BE49-F238E27FC236}">
                <a16:creationId xmlns:a16="http://schemas.microsoft.com/office/drawing/2014/main" id="{6EEE7214-2952-44DB-A3C6-C505C832EF7A}"/>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solidFill xmlns:a="http://schemas.openxmlformats.org/drawingml/2006/main">
            <a:srgbClr val="006DA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D280CD4B-221B-4766-B1FD-F59FC5358362}"/>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2B870B4A-5659-431F-9C52-5FFF9310E6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10" name="Text Placeholder 17">
            <a:extLst xmlns:a="http://schemas.openxmlformats.org/drawingml/2006/main">
              <a:ext uri="{FF2B5EF4-FFF2-40B4-BE49-F238E27FC236}">
                <a16:creationId xmlns:a16="http://schemas.microsoft.com/office/drawing/2014/main" id="{119DE6AA-0BCF-43ED-9B93-485A1E6DA675}"/>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1" name="Text Placeholder 17">
            <a:extLst xmlns:a="http://schemas.openxmlformats.org/drawingml/2006/main">
              <a:ext uri="{FF2B5EF4-FFF2-40B4-BE49-F238E27FC236}">
                <a16:creationId xmlns:a16="http://schemas.microsoft.com/office/drawing/2014/main" id="{A7184EA4-0CE3-477E-BCBE-1058D62AB5F7}"/>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2 (20PT, ARIAL NARROW, UPPER CASE)</a:t>
            </a:r>
          </a:p>
        </p:txBody>
      </p:sp>
      <p:sp>
        <p:nvSpPr>
          <p:cNvPr id="13" name="Text Placeholder 17">
            <a:extLst xmlns:a="http://schemas.openxmlformats.org/drawingml/2006/main">
              <a:ext uri="{FF2B5EF4-FFF2-40B4-BE49-F238E27FC236}">
                <a16:creationId xmlns:a16="http://schemas.microsoft.com/office/drawing/2014/main" id="{9D07E0DE-CCF8-4C7E-83F9-601B50B1CF7E}"/>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Level 1 bullet list (20pt, Arial) &gt; use ‘enter’, then ‘tab’ to create level 2 and 3 sub-bullet lists.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14" name="Text Placeholder 17">
            <a:extLst xmlns:a="http://schemas.openxmlformats.org/drawingml/2006/main">
              <a:ext uri="{FF2B5EF4-FFF2-40B4-BE49-F238E27FC236}">
                <a16:creationId xmlns:a16="http://schemas.microsoft.com/office/drawing/2014/main" id="{7017B2EC-6CC6-46B0-A700-31BC918FDD36}"/>
              </a:ext>
            </a:extLst>
          </p:cNvPr>
          <p:cNvSpPr>
            <a:spLocks xmlns:a="http://schemas.openxmlformats.org/drawingml/2006/main" noGrp="1"/>
          </p:cNvSpPr>
          <p:nvPr>
            <p:ph type="body" idx="19" hasCustomPrompt="1"/>
          </p:nvPr>
        </p:nvSpPr>
        <p:spPr>
          <a:xfrm xmlns:a="http://schemas.openxmlformats.org/drawingml/2006/main">
            <a:off x="306361" y="2131370"/>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atin typeface="Arial"/>
                <a:ea typeface="Arial"/>
                <a:cs typeface="Arial"/>
              </a:defRPr>
            </a:lvl2pPr>
            <a:lvl3pPr marL="1143000" indent="-228600">
              <a:buFont typeface="Wingdings"/>
              <a:buChar char="§"/>
              <a:defRPr sz="1400">
                <a:latin typeface="Arial"/>
                <a:ea typeface="Arial"/>
                <a:cs typeface="Arial"/>
              </a:defRPr>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p:txBody>
      </p:sp>
    </p:spTree>
  </p:cSld>
</p:sldLayout>
</file>

<file path=ppt/slideLayouts/slideLayout7.xml><?xml version="1.0" encoding="utf-8"?>
<p:sldLayout xmlns:p="http://schemas.openxmlformats.org/presentationml/2006/main" preserve="1" userDrawn="1">
  <p:cSld name="Bulleted list with 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7445E1A-58B1-4A2E-9C8B-81FEEFB29B18}"/>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7FE20C2D-3F5B-4F70-ACC0-A43A693819BA}"/>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37E586F7-ACAF-46BA-9016-3EE4934EFFF3}"/>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25" name="Text Placeholder 17">
            <a:extLst xmlns:a="http://schemas.openxmlformats.org/drawingml/2006/main">
              <a:ext uri="{FF2B5EF4-FFF2-40B4-BE49-F238E27FC236}">
                <a16:creationId xmlns:a16="http://schemas.microsoft.com/office/drawing/2014/main" id="{4079832C-F1D0-4BDF-95EE-6F177A1F4B1B}"/>
              </a:ext>
            </a:extLst>
          </p:cNvPr>
          <p:cNvSpPr>
            <a:spLocks xmlns:a="http://schemas.openxmlformats.org/drawingml/2006/main" noGrp="1"/>
          </p:cNvSpPr>
          <p:nvPr>
            <p:ph type="body" idx="14" hasCustomPrompt="1"/>
          </p:nvPr>
        </p:nvSpPr>
        <p:spPr>
          <a:xfrm xmlns:a="http://schemas.openxmlformats.org/drawingml/2006/main">
            <a:off x="306060" y="1729723"/>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1 (20PT, ARIAL NARROW, UPPER CASE)</a:t>
            </a:r>
          </a:p>
        </p:txBody>
      </p:sp>
      <p:sp>
        <p:nvSpPr>
          <p:cNvPr id="26" name="Text Placeholder 17">
            <a:extLst xmlns:a="http://schemas.openxmlformats.org/drawingml/2006/main">
              <a:ext uri="{FF2B5EF4-FFF2-40B4-BE49-F238E27FC236}">
                <a16:creationId xmlns:a16="http://schemas.microsoft.com/office/drawing/2014/main" id="{6F2D5B67-BB1A-48F0-ACC1-7BFF3B19DF82}"/>
              </a:ext>
            </a:extLst>
          </p:cNvPr>
          <p:cNvSpPr>
            <a:spLocks xmlns:a="http://schemas.openxmlformats.org/drawingml/2006/main" noGrp="1"/>
          </p:cNvSpPr>
          <p:nvPr>
            <p:ph type="body" idx="16" hasCustomPrompt="1"/>
          </p:nvPr>
        </p:nvSpPr>
        <p:spPr>
          <a:xfrm xmlns:a="http://schemas.openxmlformats.org/drawingml/2006/main">
            <a:off x="300211" y="2131371"/>
            <a:ext cx="7451725" cy="1729430"/>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one column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a:p xmlns:a="http://schemas.openxmlformats.org/drawingml/2006/main">
            <a:endParaRPr/>
          </a:p>
        </p:txBody>
      </p:sp>
      <p:sp>
        <p:nvSpPr>
          <p:cNvPr id="27" name="Text Placeholder 17">
            <a:extLst xmlns:a="http://schemas.openxmlformats.org/drawingml/2006/main">
              <a:ext uri="{FF2B5EF4-FFF2-40B4-BE49-F238E27FC236}">
                <a16:creationId xmlns:a16="http://schemas.microsoft.com/office/drawing/2014/main" id="{30CDAF4D-0CE9-426B-94B4-B1E0C5A23F22}"/>
              </a:ext>
            </a:extLst>
          </p:cNvPr>
          <p:cNvSpPr>
            <a:spLocks xmlns:a="http://schemas.openxmlformats.org/drawingml/2006/main" noGrp="1"/>
          </p:cNvSpPr>
          <p:nvPr>
            <p:ph type="body" idx="17" hasCustomPrompt="1"/>
          </p:nvPr>
        </p:nvSpPr>
        <p:spPr>
          <a:xfrm xmlns:a="http://schemas.openxmlformats.org/drawingml/2006/main">
            <a:off x="300211" y="4111606"/>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 (20PT, ARIAL NARROW, UPPER CASE)</a:t>
            </a:r>
          </a:p>
        </p:txBody>
      </p:sp>
      <p:sp>
        <p:nvSpPr>
          <p:cNvPr id="28" name="Text Placeholder 17">
            <a:extLst xmlns:a="http://schemas.openxmlformats.org/drawingml/2006/main">
              <a:ext uri="{FF2B5EF4-FFF2-40B4-BE49-F238E27FC236}">
                <a16:creationId xmlns:a16="http://schemas.microsoft.com/office/drawing/2014/main" id="{7415D1DC-1E04-4B04-86DC-6692F58340CA}"/>
              </a:ext>
            </a:extLst>
          </p:cNvPr>
          <p:cNvSpPr>
            <a:spLocks xmlns:a="http://schemas.openxmlformats.org/drawingml/2006/main" noGrp="1"/>
          </p:cNvSpPr>
          <p:nvPr>
            <p:ph type="body" idx="18" hasCustomPrompt="1"/>
          </p:nvPr>
        </p:nvSpPr>
        <p:spPr>
          <a:xfrm xmlns:a="http://schemas.openxmlformats.org/drawingml/2006/main">
            <a:off x="294362" y="4513254"/>
            <a:ext cx="7451725" cy="1729430"/>
          </a:xfrm>
          <a:prstGeom xmlns:a="http://schemas.openxmlformats.org/drawingml/2006/main" prst="rect">
            <a:avLst/>
          </a:prstGeom>
        </p:spPr>
        <p:txBody>
          <a:bodyPr xmlns:a="http://schemas.openxmlformats.org/drawingml/2006/main"/>
          <a:lstStyle xmlns:a="http://schemas.openxmlformats.org/drawingml/2006/main">
            <a:lvl1pPr marL="342900" marR="0" indent="-342900" algn="l" defTabSz="914400">
              <a:lnSpc>
                <a:spcPct val="90000"/>
              </a:lnSpc>
              <a:spcBef>
                <a:spcPts val="1000"/>
              </a:spcBef>
              <a:spcAft>
                <a:spcPts val="0"/>
              </a:spcAft>
              <a:buClrTx/>
              <a:buSzTx/>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Bullet list, two column (20pt, Arial) </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pPr marL="342900" marR="0" lvl="0" indent="-342900" algn="l" defTabSz="914400">
              <a:lnSpc>
                <a:spcPct val="90000"/>
              </a:lnSpc>
              <a:spcBef>
                <a:spcPts val="1000"/>
              </a:spcBef>
              <a:spcAft>
                <a:spcPts val="0"/>
              </a:spcAft>
              <a:buClrTx/>
              <a:buSzTx/>
              <a:buFont typeface="Arial"/>
              <a:buChar char="•"/>
            </a:pPr>
            <a:r>
              <a:t>Bullet list, two column (20pt, Arial) </a:t>
            </a:r>
          </a:p>
          <a:p xmlns:a="http://schemas.openxmlformats.org/drawingml/2006/main">
            <a:endParaRPr/>
          </a:p>
        </p:txBody>
      </p:sp>
      <p:sp>
        <p:nvSpPr>
          <p:cNvPr id="29" name="Freeform 28">
            <a:extLst xmlns:a="http://schemas.openxmlformats.org/drawingml/2006/main">
              <a:ext uri="{FF2B5EF4-FFF2-40B4-BE49-F238E27FC236}">
                <a16:creationId xmlns:a16="http://schemas.microsoft.com/office/drawing/2014/main" id="{058D2D07-A5B3-4538-800D-BACEC3B23477}"/>
              </a:ext>
            </a:extLst>
          </p:cNvPr>
          <p:cNvSpPr>
            <a:spLocks xmlns:a="http://schemas.openxmlformats.org/drawingml/2006/main" noGrp="1"/>
          </p:cNvSpPr>
          <p:nvPr/>
        </p:nvSpPr>
        <p:spPr>
          <a:xfrm xmlns:a="http://schemas.openxmlformats.org/drawingml/2006/main">
            <a:off x="9253537" y="0"/>
            <a:ext cx="2947172" cy="6853646"/>
          </a:xfrm>
          <a:custGeom xmlns:a="http://schemas.openxmlformats.org/drawingml/2006/main">
            <a:gdLst>
              <a:gd name="connsiteX0" fmla="*/ 0 w 3753395"/>
              <a:gd name="connsiteY0" fmla="*/ 0 h 6853646"/>
              <a:gd name="connsiteX1" fmla="*/ 0 w 3753395"/>
              <a:gd name="connsiteY1" fmla="*/ 69669 h 6853646"/>
              <a:gd name="connsiteX2" fmla="*/ 1463040 w 3753395"/>
              <a:gd name="connsiteY2" fmla="*/ 6853646 h 6853646"/>
              <a:gd name="connsiteX3" fmla="*/ 3744686 w 3753395"/>
              <a:gd name="connsiteY3" fmla="*/ 6844937 h 6853646"/>
              <a:gd name="connsiteX4" fmla="*/ 3753395 w 3753395"/>
              <a:gd name="connsiteY4" fmla="*/ 0 h 6853646"/>
              <a:gd name="connsiteX5" fmla="*/ 0 w 3753395"/>
              <a:gd name="connsiteY5" fmla="*/ 0 h 6853646"/>
              <a:gd name="connsiteX0" fmla="*/ 0 w 3772445"/>
              <a:gd name="connsiteY0" fmla="*/ 0 h 6853646"/>
              <a:gd name="connsiteX1" fmla="*/ 19050 w 3772445"/>
              <a:gd name="connsiteY1" fmla="*/ 69669 h 6853646"/>
              <a:gd name="connsiteX2" fmla="*/ 1482090 w 3772445"/>
              <a:gd name="connsiteY2" fmla="*/ 6853646 h 6853646"/>
              <a:gd name="connsiteX3" fmla="*/ 3763736 w 3772445"/>
              <a:gd name="connsiteY3" fmla="*/ 6844937 h 6853646"/>
              <a:gd name="connsiteX4" fmla="*/ 3772445 w 3772445"/>
              <a:gd name="connsiteY4" fmla="*/ 0 h 6853646"/>
              <a:gd name="connsiteX5" fmla="*/ 0 w 3772445"/>
              <a:gd name="connsiteY5" fmla="*/ 0 h 6853646"/>
            </a:gdLst>
            <a:rect l="l" t="t" r="r" b="b"/>
            <a:pathLst>
              <a:path w="3772445" h="6853646">
                <a:moveTo>
                  <a:pt x="0" y="0"/>
                </a:moveTo>
                <a:lnTo>
                  <a:pt x="19050" y="69669"/>
                </a:lnTo>
                <a:lnTo>
                  <a:pt x="1482090" y="6853646"/>
                </a:lnTo>
                <a:lnTo>
                  <a:pt x="3763736" y="6844937"/>
                </a:lnTo>
                <a:lnTo>
                  <a:pt x="3772445" y="0"/>
                </a:lnTo>
                <a:lnTo>
                  <a:pt x="0" y="0"/>
                </a:lnTo>
                <a:close/>
              </a:path>
            </a:pathLst>
          </a:cu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preserve="1" userDrawn="1">
  <p:cSld name="Copy with two images">
    <p:spTree>
      <p:nvGrpSpPr>
        <p:cNvPr id="1" name=""/>
        <p:cNvGrpSpPr/>
        <p:nvPr/>
      </p:nvGrpSpPr>
      <p:grpSpPr>
        <a:xfrm xmlns:a="http://schemas.openxmlformats.org/drawingml/2006/main"/>
      </p:grpSpPr>
      <p:sp>
        <p:nvSpPr>
          <p:cNvPr id="18" name="Text Placeholder 17">
            <a:extLst xmlns:a="http://schemas.openxmlformats.org/drawingml/2006/main">
              <a:ext uri="{FF2B5EF4-FFF2-40B4-BE49-F238E27FC236}">
                <a16:creationId xmlns:a16="http://schemas.microsoft.com/office/drawing/2014/main" id="{8599A87E-2CE9-4FFB-A5FA-16FC7F80B973}"/>
              </a:ext>
            </a:extLst>
          </p:cNvPr>
          <p:cNvSpPr>
            <a:spLocks xmlns:a="http://schemas.openxmlformats.org/drawingml/2006/main" noGrp="1"/>
          </p:cNvSpPr>
          <p:nvPr>
            <p:ph type="body" idx="11" hasCustomPrompt="1"/>
          </p:nvPr>
        </p:nvSpPr>
        <p:spPr>
          <a:xfrm xmlns:a="http://schemas.openxmlformats.org/drawingml/2006/main">
            <a:off x="306060" y="1046138"/>
            <a:ext cx="7451725" cy="466468"/>
          </a:xfrm>
          <a:prstGeom xmlns:a="http://schemas.openxmlformats.org/drawingml/2006/main" prst="rect">
            <a:avLst/>
          </a:prstGeo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SUB HEADING (24PT, UPPER CASE)</a:t>
            </a:r>
            <a:endParaRPr/>
          </a:p>
        </p:txBody>
      </p:sp>
      <p:sp>
        <p:nvSpPr>
          <p:cNvPr id="19" name="Text Placeholder 22">
            <a:extLst xmlns:a="http://schemas.openxmlformats.org/drawingml/2006/main">
              <a:ext uri="{FF2B5EF4-FFF2-40B4-BE49-F238E27FC236}">
                <a16:creationId xmlns:a16="http://schemas.microsoft.com/office/drawing/2014/main" id="{54C78CB8-E688-43B0-9DF8-E35BBE492586}"/>
              </a:ext>
            </a:extLst>
          </p:cNvPr>
          <p:cNvSpPr>
            <a:spLocks xmlns:a="http://schemas.openxmlformats.org/drawingml/2006/main" noGrp="1"/>
          </p:cNvSpPr>
          <p:nvPr>
            <p:ph type="body" idx="13" hasCustomPrompt="1"/>
          </p:nvPr>
        </p:nvSpPr>
        <p:spPr>
          <a:xfrm xmlns:a="http://schemas.openxmlformats.org/drawingml/2006/main">
            <a:off x="306060" y="359998"/>
            <a:ext cx="7452026" cy="736956"/>
          </a:xfrm>
          <a:prstGeom xmlns:a="http://schemas.openxmlformats.org/drawingml/2006/main" prst="rect">
            <a:avLst/>
          </a:prstGeom>
        </p:spPr>
        <p:txBody>
          <a:bodyPr xmlns:a="http://schemas.openxmlformats.org/drawingml/2006/main"/>
          <a:lstStyle xmlns:a="http://schemas.openxmlformats.org/drawingml/2006/main">
            <a:lvl1pPr>
              <a:buNone/>
              <a:defRPr sz="4200" b="1" baseline="0">
                <a:solidFill>
                  <a:schemeClr val="tx1"/>
                </a:solidFill>
              </a:defRPr>
            </a:lvl1pPr>
          </a:lstStyle>
          <a:p xmlns:a="http://schemas.openxmlformats.org/drawingml/2006/main">
            <a:pPr lvl="0">
              <a:buNone/>
            </a:pPr>
            <a:r>
              <a:t>HEADING (42PT, UPPER CASE)</a:t>
            </a:r>
          </a:p>
        </p:txBody>
      </p:sp>
      <p:sp>
        <p:nvSpPr>
          <p:cNvPr id="23" name="Text Placeholder 17">
            <a:extLst xmlns:a="http://schemas.openxmlformats.org/drawingml/2006/main">
              <a:ext uri="{FF2B5EF4-FFF2-40B4-BE49-F238E27FC236}">
                <a16:creationId xmlns:a16="http://schemas.microsoft.com/office/drawing/2014/main" id="{E4565448-45EF-490B-BE61-7AE0E03A2481}"/>
              </a:ext>
            </a:extLst>
          </p:cNvPr>
          <p:cNvSpPr>
            <a:spLocks xmlns:a="http://schemas.openxmlformats.org/drawingml/2006/main" noGrp="1"/>
          </p:cNvSpPr>
          <p:nvPr>
            <p:ph type="body" idx="14" hasCustomPrompt="1"/>
          </p:nvPr>
        </p:nvSpPr>
        <p:spPr>
          <a:xfrm xmlns:a="http://schemas.openxmlformats.org/drawingml/2006/main">
            <a:off x="306060" y="1763411"/>
            <a:ext cx="7451725" cy="401647"/>
          </a:xfrm>
          <a:prstGeom xmlns:a="http://schemas.openxmlformats.org/drawingml/2006/main" prst="rect">
            <a:avLst/>
          </a:prstGeom>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INTRO HEADING (20PT, ARIAL NARROW, UPPER CASE)</a:t>
            </a:r>
          </a:p>
        </p:txBody>
      </p:sp>
      <p:sp>
        <p:nvSpPr>
          <p:cNvPr id="24" name="Text Placeholder 17">
            <a:extLst xmlns:a="http://schemas.openxmlformats.org/drawingml/2006/main">
              <a:ext uri="{FF2B5EF4-FFF2-40B4-BE49-F238E27FC236}">
                <a16:creationId xmlns:a16="http://schemas.microsoft.com/office/drawing/2014/main" id="{9EBD0A08-9D48-4854-B1C1-3F5149C62175}"/>
              </a:ext>
            </a:extLst>
          </p:cNvPr>
          <p:cNvSpPr>
            <a:spLocks xmlns:a="http://schemas.openxmlformats.org/drawingml/2006/main" noGrp="1"/>
          </p:cNvSpPr>
          <p:nvPr>
            <p:ph type="body" idx="16" hasCustomPrompt="1"/>
          </p:nvPr>
        </p:nvSpPr>
        <p:spPr>
          <a:xfrm xmlns:a="http://schemas.openxmlformats.org/drawingml/2006/main">
            <a:off x="300212" y="2131371"/>
            <a:ext cx="4352700" cy="3976132"/>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25" name="Picture Placeholder 17">
            <a:extLst xmlns:a="http://schemas.openxmlformats.org/drawingml/2006/main">
              <a:ext uri="{FF2B5EF4-FFF2-40B4-BE49-F238E27FC236}">
                <a16:creationId xmlns:a16="http://schemas.microsoft.com/office/drawing/2014/main" id="{C1F8CC9E-1830-4D72-86E5-9C602E9F3D8D}"/>
              </a:ext>
            </a:extLst>
          </p:cNvPr>
          <p:cNvSpPr>
            <a:spLocks xmlns:a="http://schemas.openxmlformats.org/drawingml/2006/main" noGrp="1"/>
          </p:cNvSpPr>
          <p:nvPr>
            <p:ph type="pic" idx="17"/>
          </p:nvPr>
        </p:nvSpPr>
        <p:spPr>
          <a:xfrm xmlns:a="http://schemas.openxmlformats.org/drawingml/2006/main">
            <a:off x="7380288" y="2520000"/>
            <a:ext cx="4027879" cy="22679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26" name="Picture Placeholder 19">
            <a:extLst xmlns:a="http://schemas.openxmlformats.org/drawingml/2006/main">
              <a:ext uri="{FF2B5EF4-FFF2-40B4-BE49-F238E27FC236}">
                <a16:creationId xmlns:a16="http://schemas.microsoft.com/office/drawing/2014/main" id="{357364C1-864B-476B-B866-1199A8427FB8}"/>
              </a:ext>
            </a:extLst>
          </p:cNvPr>
          <p:cNvSpPr>
            <a:spLocks xmlns:a="http://schemas.openxmlformats.org/drawingml/2006/main" noGrp="1"/>
          </p:cNvSpPr>
          <p:nvPr>
            <p:ph type="pic" idx="18"/>
          </p:nvPr>
        </p:nvSpPr>
        <p:spPr>
          <a:xfrm xmlns:a="http://schemas.openxmlformats.org/drawingml/2006/main">
            <a:off x="4960507" y="2519363"/>
            <a:ext cx="2281237" cy="2268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preserve="1" userDrawn="1">
  <p:cSld name="Full slide image with caption">
    <p:spTree>
      <p:nvGrpSpPr>
        <p:cNvPr id="1" name=""/>
        <p:cNvGrpSpPr/>
        <p:nvPr/>
      </p:nvGrpSpPr>
      <p:grpSpPr>
        <a:xfrm xmlns:a="http://schemas.openxmlformats.org/drawingml/2006/main"/>
      </p:grpSpPr>
      <p:sp>
        <p:nvSpPr>
          <p:cNvPr id="5" name="Picture Placeholder 4">
            <a:extLst xmlns:a="http://schemas.openxmlformats.org/drawingml/2006/main">
              <a:ext uri="{FF2B5EF4-FFF2-40B4-BE49-F238E27FC236}">
                <a16:creationId xmlns:a16="http://schemas.microsoft.com/office/drawing/2014/main" id="{6061F949-74A9-4216-AC7C-A5C7AFD8C4C7}"/>
              </a:ext>
            </a:extLst>
          </p:cNvPr>
          <p:cNvSpPr>
            <a:spLocks xmlns:a="http://schemas.openxmlformats.org/drawingml/2006/main" noGrp="1"/>
          </p:cNvSpPr>
          <p:nvPr>
            <p:ph type="pic" idx="15"/>
          </p:nvPr>
        </p:nvSpPr>
        <p:spPr>
          <a:xfrm xmlns:a="http://schemas.openxmlformats.org/drawingml/2006/main">
            <a:off x="0" y="-8466"/>
            <a:ext cx="10371666" cy="6866466"/>
          </a:xfrm>
          <a:custGeom xmlns:a="http://schemas.openxmlformats.org/drawingml/2006/main">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9228667 w 12192000"/>
              <a:gd name="connsiteY1" fmla="*/ 8467 h 6858000"/>
              <a:gd name="connsiteX2" fmla="*/ 12192000 w 12192000"/>
              <a:gd name="connsiteY2" fmla="*/ 6858000 h 6858000"/>
              <a:gd name="connsiteX3" fmla="*/ 0 w 12192000"/>
              <a:gd name="connsiteY3" fmla="*/ 6858000 h 6858000"/>
              <a:gd name="connsiteX4" fmla="*/ 0 w 12192000"/>
              <a:gd name="connsiteY4" fmla="*/ 0 h 6858000"/>
              <a:gd name="connsiteX0" fmla="*/ 0 w 10498666"/>
              <a:gd name="connsiteY0" fmla="*/ 0 h 6858000"/>
              <a:gd name="connsiteX1" fmla="*/ 9228667 w 10498666"/>
              <a:gd name="connsiteY1" fmla="*/ 8467 h 6858000"/>
              <a:gd name="connsiteX2" fmla="*/ 10498666 w 10498666"/>
              <a:gd name="connsiteY2" fmla="*/ 6858000 h 6858000"/>
              <a:gd name="connsiteX3" fmla="*/ 0 w 10498666"/>
              <a:gd name="connsiteY3" fmla="*/ 6858000 h 6858000"/>
              <a:gd name="connsiteX4" fmla="*/ 0 w 10498666"/>
              <a:gd name="connsiteY4" fmla="*/ 0 h 6858000"/>
              <a:gd name="connsiteX0" fmla="*/ 0 w 10498666"/>
              <a:gd name="connsiteY0" fmla="*/ 8466 h 6866466"/>
              <a:gd name="connsiteX1" fmla="*/ 9245601 w 10498666"/>
              <a:gd name="connsiteY1" fmla="*/ 0 h 6866466"/>
              <a:gd name="connsiteX2" fmla="*/ 10498666 w 10498666"/>
              <a:gd name="connsiteY2" fmla="*/ 6866466 h 6866466"/>
              <a:gd name="connsiteX3" fmla="*/ 0 w 10498666"/>
              <a:gd name="connsiteY3" fmla="*/ 6866466 h 6866466"/>
              <a:gd name="connsiteX4" fmla="*/ 0 w 10498666"/>
              <a:gd name="connsiteY4" fmla="*/ 8466 h 6866466"/>
              <a:gd name="connsiteX0" fmla="*/ 0 w 10371666"/>
              <a:gd name="connsiteY0" fmla="*/ 8466 h 6866466"/>
              <a:gd name="connsiteX1" fmla="*/ 9245601 w 10371666"/>
              <a:gd name="connsiteY1" fmla="*/ 0 h 6866466"/>
              <a:gd name="connsiteX2" fmla="*/ 10371666 w 10371666"/>
              <a:gd name="connsiteY2" fmla="*/ 6849533 h 6866466"/>
              <a:gd name="connsiteX3" fmla="*/ 0 w 10371666"/>
              <a:gd name="connsiteY3" fmla="*/ 6866466 h 6866466"/>
              <a:gd name="connsiteX4" fmla="*/ 0 w 10371666"/>
              <a:gd name="connsiteY4" fmla="*/ 8466 h 6866466"/>
            </a:gdLst>
            <a:rect l="l" t="t" r="r" b="b"/>
            <a:pathLst>
              <a:path w="10371666" h="6866466">
                <a:moveTo>
                  <a:pt x="0" y="8466"/>
                </a:moveTo>
                <a:lnTo>
                  <a:pt x="9245601" y="0"/>
                </a:lnTo>
                <a:lnTo>
                  <a:pt x="10371666" y="6849533"/>
                </a:lnTo>
                <a:lnTo>
                  <a:pt x="0" y="6866466"/>
                </a:lnTo>
                <a:lnTo>
                  <a:pt x="0" y="8466"/>
                </a:lnTo>
                <a:close/>
              </a:path>
            </a:pathLst>
          </a:custGeom>
        </p:spPr>
        <p:txBody>
          <a:bodyPr xmlns:a="http://schemas.openxmlformats.org/drawingml/2006/main"/>
          <a:lstStyle xmlns:a="http://schemas.openxmlformats.org/drawingml/2006/main"/>
          <a:p xmlns:a="http://schemas.openxmlformats.org/drawingml/2006/main">
            <a:endParaRPr/>
          </a:p>
        </p:txBody>
      </p:sp>
      <p:sp>
        <p:nvSpPr>
          <p:cNvPr id="13" name="Text Placeholder 17">
            <a:extLst xmlns:a="http://schemas.openxmlformats.org/drawingml/2006/main">
              <a:ext uri="{FF2B5EF4-FFF2-40B4-BE49-F238E27FC236}">
                <a16:creationId xmlns:a16="http://schemas.microsoft.com/office/drawing/2014/main" id="{B0F437CF-4DF7-4CE5-ACC9-5B8FF6EE71EC}"/>
              </a:ext>
            </a:extLst>
          </p:cNvPr>
          <p:cNvSpPr>
            <a:spLocks xmlns:a="http://schemas.openxmlformats.org/drawingml/2006/main" noGrp="1"/>
          </p:cNvSpPr>
          <p:nvPr>
            <p:ph type="body" idx="14" hasCustomPrompt="1"/>
          </p:nvPr>
        </p:nvSpPr>
        <p:spPr>
          <a:xfrm xmlns:a="http://schemas.openxmlformats.org/drawingml/2006/main">
            <a:off x="9689170" y="332573"/>
            <a:ext cx="2309631" cy="130284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sz="2000" b="1" baseline="0">
                <a:solidFill>
                  <a:schemeClr val="tx1"/>
                </a:solidFill>
              </a:defRPr>
            </a:lvl1pPr>
          </a:lstStyle>
          <a:p xmlns:a="http://schemas.openxmlformats.org/drawingml/2006/main">
            <a:r>
              <a:t>Image caption (title case)</a:t>
            </a:r>
          </a:p>
        </p:txBody>
      </p:sp>
    </p:spTree>
  </p:cSld>
</p:sldLayout>
</file>

<file path=ppt/slideLayouts/slideLayout10.xml><?xml version="1.0" encoding="utf-8"?>
<p:sldLayout xmlns:p="http://schemas.openxmlformats.org/presentationml/2006/main" preserve="1" userDrawn="1">
  <p:cSld name="Section divider">
    <p:spTree>
      <p:nvGrpSpPr>
        <p:cNvPr id="1" name=""/>
        <p:cNvGrpSpPr/>
        <p:nvPr/>
      </p:nvGrpSpPr>
      <p:grpSpPr>
        <a:xfrm xmlns:a="http://schemas.openxmlformats.org/drawingml/2006/main"/>
      </p:grpSpPr>
      <p:sp>
        <p:nvSpPr>
          <p:cNvPr id="5" name="Freeform 4">
            <a:extLst xmlns:a="http://schemas.openxmlformats.org/drawingml/2006/main">
              <a:ext uri="{FF2B5EF4-FFF2-40B4-BE49-F238E27FC236}">
                <a16:creationId xmlns:a16="http://schemas.microsoft.com/office/drawing/2014/main" id="{446DC7FA-2DC5-4C50-B2B9-4DB3ED1B2C14}"/>
              </a:ext>
            </a:extLst>
          </p:cNvPr>
          <p:cNvSpPr>
            <a:spLocks xmlns:a="http://schemas.openxmlformats.org/drawingml/2006/main" noGrp="1"/>
          </p:cNvSpPr>
          <p:nvPr/>
        </p:nvSpPr>
        <p:spPr>
          <a:xfrm xmlns:a="http://schemas.openxmlformats.org/drawingml/2006/main">
            <a:off x="-19050" y="-9525"/>
            <a:ext cx="9420225" cy="6867525"/>
          </a:xfrm>
          <a:custGeom xmlns:a="http://schemas.openxmlformats.org/drawingml/2006/main">
            <a:gdLst>
              <a:gd name="connsiteX0" fmla="*/ 9525 w 8905875"/>
              <a:gd name="connsiteY0" fmla="*/ 0 h 6896100"/>
              <a:gd name="connsiteX1" fmla="*/ 4724400 w 8905875"/>
              <a:gd name="connsiteY1" fmla="*/ 0 h 6896100"/>
              <a:gd name="connsiteX2" fmla="*/ 8905875 w 8905875"/>
              <a:gd name="connsiteY2" fmla="*/ 6896100 h 6896100"/>
              <a:gd name="connsiteX3" fmla="*/ 0 w 8905875"/>
              <a:gd name="connsiteY3" fmla="*/ 6896100 h 6896100"/>
              <a:gd name="connsiteX4" fmla="*/ 9525 w 8905875"/>
              <a:gd name="connsiteY4" fmla="*/ 0 h 6896100"/>
            </a:gdLst>
            <a:rect l="l" t="t" r="r" b="b"/>
            <a:pathLst>
              <a:path w="8905875" h="6896100">
                <a:moveTo>
                  <a:pt x="9525" y="0"/>
                </a:moveTo>
                <a:lnTo>
                  <a:pt x="4724400" y="0"/>
                </a:lnTo>
                <a:lnTo>
                  <a:pt x="8905875" y="6896100"/>
                </a:lnTo>
                <a:lnTo>
                  <a:pt x="0" y="6896100"/>
                </a:lnTo>
                <a:lnTo>
                  <a:pt x="9525" y="0"/>
                </a:lnTo>
                <a:close/>
              </a:path>
            </a:pathLst>
          </a:custGeom>
          <a:solidFill xmlns:a="http://schemas.openxmlformats.org/drawingml/2006/main">
            <a:srgbClr val="006DAE"/>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 Placeholder 22">
            <a:extLst xmlns:a="http://schemas.openxmlformats.org/drawingml/2006/main">
              <a:ext uri="{FF2B5EF4-FFF2-40B4-BE49-F238E27FC236}">
                <a16:creationId xmlns:a16="http://schemas.microsoft.com/office/drawing/2014/main" id="{E3619149-78E1-4EF5-9904-0118824ABE09}"/>
              </a:ext>
            </a:extLst>
          </p:cNvPr>
          <p:cNvSpPr>
            <a:spLocks xmlns:a="http://schemas.openxmlformats.org/drawingml/2006/main" noGrp="1"/>
          </p:cNvSpPr>
          <p:nvPr>
            <p:ph type="body" idx="13" hasCustomPrompt="1"/>
          </p:nvPr>
        </p:nvSpPr>
        <p:spPr>
          <a:xfrm xmlns:a="http://schemas.openxmlformats.org/drawingml/2006/main">
            <a:off x="138368" y="1741593"/>
            <a:ext cx="5757606" cy="3435594"/>
          </a:xfrm>
          <a:prstGeom xmlns:a="http://schemas.openxmlformats.org/drawingml/2006/main" prst="rect">
            <a:avLst/>
          </a:prstGeom>
        </p:spPr>
        <p:txBody>
          <a:bodyPr xmlns:a="http://schemas.openxmlformats.org/drawingml/2006/main" wrap="square"/>
          <a:lstStyle xmlns:a="http://schemas.openxmlformats.org/drawingml/2006/main">
            <a:lvl1pPr algn="r">
              <a:buNone/>
              <a:defRPr sz="4400" b="1" baseline="0">
                <a:solidFill>
                  <a:schemeClr val="bg1"/>
                </a:solidFill>
              </a:defRPr>
            </a:lvl1pPr>
          </a:lstStyle>
          <a:p xmlns:a="http://schemas.openxmlformats.org/drawingml/2006/main">
            <a:pPr lvl="0">
              <a:buNone/>
            </a:pPr>
            <a:r>
              <a:t>SECTION DIVIDER OR PULL-OUT QUOTE (UPPER CASE)</a:t>
            </a:r>
          </a:p>
        </p:txBody>
      </p:sp>
      <p:sp>
        <p:nvSpPr>
          <p:cNvPr id="3" name="Picture Placeholder 2">
            <a:extLst xmlns:a="http://schemas.openxmlformats.org/drawingml/2006/main">
              <a:ext uri="{FF2B5EF4-FFF2-40B4-BE49-F238E27FC236}">
                <a16:creationId xmlns:a16="http://schemas.microsoft.com/office/drawing/2014/main" id="{BF47C82E-9673-4E62-9CF1-D73F08BECA4E}"/>
              </a:ext>
            </a:extLst>
          </p:cNvPr>
          <p:cNvSpPr>
            <a:spLocks xmlns:a="http://schemas.openxmlformats.org/drawingml/2006/main" noGrp="1"/>
          </p:cNvSpPr>
          <p:nvPr>
            <p:ph type="pic" idx="14"/>
          </p:nvPr>
        </p:nvSpPr>
        <p:spPr>
          <a:xfrm xmlns:a="http://schemas.openxmlformats.org/drawingml/2006/main">
            <a:off x="6091492" y="1733018"/>
            <a:ext cx="5438775" cy="3435350"/>
          </a:xfrm>
          <a:custGeom xmlns:a="http://schemas.openxmlformats.org/drawingml/2006/main">
            <a:gdLst>
              <a:gd name="connsiteX0" fmla="*/ 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0 w 5476875"/>
              <a:gd name="connsiteY4" fmla="*/ 0 h 3435350"/>
              <a:gd name="connsiteX0" fmla="*/ 19050 w 5476875"/>
              <a:gd name="connsiteY0" fmla="*/ 0 h 3435350"/>
              <a:gd name="connsiteX1" fmla="*/ 5476875 w 5476875"/>
              <a:gd name="connsiteY1" fmla="*/ 0 h 3435350"/>
              <a:gd name="connsiteX2" fmla="*/ 5476875 w 5476875"/>
              <a:gd name="connsiteY2" fmla="*/ 3435350 h 3435350"/>
              <a:gd name="connsiteX3" fmla="*/ 0 w 5476875"/>
              <a:gd name="connsiteY3" fmla="*/ 3435350 h 3435350"/>
              <a:gd name="connsiteX4" fmla="*/ 19050 w 5476875"/>
              <a:gd name="connsiteY4" fmla="*/ 0 h 3435350"/>
              <a:gd name="connsiteX0" fmla="*/ 0 w 5457825"/>
              <a:gd name="connsiteY0" fmla="*/ 0 h 3435350"/>
              <a:gd name="connsiteX1" fmla="*/ 5457825 w 5457825"/>
              <a:gd name="connsiteY1" fmla="*/ 0 h 3435350"/>
              <a:gd name="connsiteX2" fmla="*/ 5457825 w 5457825"/>
              <a:gd name="connsiteY2" fmla="*/ 3435350 h 3435350"/>
              <a:gd name="connsiteX3" fmla="*/ 2266950 w 5457825"/>
              <a:gd name="connsiteY3" fmla="*/ 3435350 h 3435350"/>
              <a:gd name="connsiteX4" fmla="*/ 0 w 5457825"/>
              <a:gd name="connsiteY4" fmla="*/ 0 h 3435350"/>
              <a:gd name="connsiteX0" fmla="*/ 0 w 5438775"/>
              <a:gd name="connsiteY0" fmla="*/ 0 h 3435350"/>
              <a:gd name="connsiteX1" fmla="*/ 5438775 w 5438775"/>
              <a:gd name="connsiteY1" fmla="*/ 0 h 3435350"/>
              <a:gd name="connsiteX2" fmla="*/ 5438775 w 5438775"/>
              <a:gd name="connsiteY2" fmla="*/ 3435350 h 3435350"/>
              <a:gd name="connsiteX3" fmla="*/ 2247900 w 5438775"/>
              <a:gd name="connsiteY3" fmla="*/ 3435350 h 3435350"/>
              <a:gd name="connsiteX4" fmla="*/ 0 w 5438775"/>
              <a:gd name="connsiteY4" fmla="*/ 0 h 3435350"/>
            </a:gdLst>
            <a:rect l="l" t="t" r="r" b="b"/>
            <a:pathLst>
              <a:path w="5438775" h="3435350">
                <a:moveTo>
                  <a:pt x="0" y="0"/>
                </a:moveTo>
                <a:lnTo>
                  <a:pt x="5438775" y="0"/>
                </a:lnTo>
                <a:lnTo>
                  <a:pt x="5438775" y="3435350"/>
                </a:lnTo>
                <a:lnTo>
                  <a:pt x="2247900" y="3435350"/>
                </a:lnTo>
                <a:lnTo>
                  <a:pt x="0" y="0"/>
                </a:lnTo>
                <a:close/>
              </a:path>
            </a:pathLst>
          </a:custGeo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preserve="1" userDrawn="1">
  <p:cSld name="Full slide copy_grey">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6C879FEF-DC91-4951-B0E5-43D3040EDF94}"/>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16E42D98-FCC5-42A8-A027-B4B5D7C4989B}"/>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0B60FA61-6103-4D75-BCE8-6696DD50E3E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FC321D5D-09E3-4855-A150-A1864A13D7C3}"/>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41" name="Text Placeholder 17">
            <a:extLst xmlns:a="http://schemas.openxmlformats.org/drawingml/2006/main">
              <a:ext uri="{FF2B5EF4-FFF2-40B4-BE49-F238E27FC236}">
                <a16:creationId xmlns:a16="http://schemas.microsoft.com/office/drawing/2014/main" id="{8C7804E7-0D2A-449B-8D68-48E74417A60F}"/>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1255507-862C-4540-B578-D31212BAA379}"/>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solidFill xmlns:a="http://schemas.openxmlformats.org/drawingml/2006/main">
            <a:srgbClr val="D2D2D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cSld>
</p:sldLayout>
</file>

<file path=ppt/slideLayouts/slideLayout12.xml><?xml version="1.0" encoding="utf-8"?>
<p:sldLayout xmlns:p="http://schemas.openxmlformats.org/presentationml/2006/main" preserve="1" userDrawn="1">
  <p:cSld name="Full slide copy_texture">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E8B06B49-0756-4552-B15F-70B193380F86}"/>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0F7056E6-5144-4734-8092-CF75883C21EF}"/>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24E110D-C152-4F5D-AD6E-1749796FB06F}"/>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99E00C5E-FC26-4EDB-8B70-852B3BF6453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5" name="Rectangle 4">
            <a:extLst xmlns:a="http://schemas.openxmlformats.org/drawingml/2006/main">
              <a:ext uri="{FF2B5EF4-FFF2-40B4-BE49-F238E27FC236}">
                <a16:creationId xmlns:a16="http://schemas.microsoft.com/office/drawing/2014/main" id="{777D9326-DCC8-4AC5-A964-BF81B5FC733B}"/>
              </a:ext>
            </a:extLst>
          </p:cNvPr>
          <p:cNvSpPr>
            <a:spLocks xmlns:a="http://schemas.openxmlformats.org/drawingml/2006/main" noGrp="1"/>
          </p:cNvSpPr>
          <p:nvPr/>
        </p:nvSpPr>
        <p:spPr>
          <a:xfrm xmlns:a="http://schemas.openxmlformats.org/drawingml/2006/main">
            <a:off x="0" y="6006108"/>
            <a:ext cx="12192000" cy="870942"/>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 Placeholder 17">
            <a:extLst xmlns:a="http://schemas.openxmlformats.org/drawingml/2006/main">
              <a:ext uri="{FF2B5EF4-FFF2-40B4-BE49-F238E27FC236}">
                <a16:creationId xmlns:a16="http://schemas.microsoft.com/office/drawing/2014/main" id="{3B205BC4-90F4-41C2-9740-8B9731D9D19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3.xml><?xml version="1.0" encoding="utf-8"?>
<p:sldLayout xmlns:p="http://schemas.openxmlformats.org/presentationml/2006/main" preserve="1" userDrawn="1">
  <p:cSld name="Full slide copy_texture option 2">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74E0E7A3-404F-47BF-AF25-CCD3ADBEF759}"/>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AE4CA6C5-B635-42B6-97C9-894A1BE8D5C0}"/>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122B80FA-A860-4FD5-B914-616C85F8B0FB}"/>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31F1573F-4B61-40CD-ABC6-11CAB0C717C4}"/>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19" name="Rectangle 18">
            <a:extLst xmlns:a="http://schemas.openxmlformats.org/drawingml/2006/main">
              <a:ext uri="{FF2B5EF4-FFF2-40B4-BE49-F238E27FC236}">
                <a16:creationId xmlns:a16="http://schemas.microsoft.com/office/drawing/2014/main" id="{E0B6C49D-6247-41F3-BDB2-A6294F8E0FA4}"/>
              </a:ext>
            </a:extLst>
          </p:cNvPr>
          <p:cNvSpPr>
            <a:spLocks xmlns:a="http://schemas.openxmlformats.org/drawingml/2006/main" noGrp="1"/>
          </p:cNvSpPr>
          <p:nvPr/>
        </p:nvSpPr>
        <p:spPr>
          <a:xfrm xmlns:a="http://schemas.openxmlformats.org/drawingml/2006/main">
            <a:off x="9993085" y="-19049"/>
            <a:ext cx="123825" cy="1190946"/>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Isosceles Triangle 20">
            <a:extLst xmlns:a="http://schemas.openxmlformats.org/drawingml/2006/main">
              <a:ext uri="{FF2B5EF4-FFF2-40B4-BE49-F238E27FC236}">
                <a16:creationId xmlns:a16="http://schemas.microsoft.com/office/drawing/2014/main" id="{CF19B229-16AC-4AAE-BA41-3AFED6786F7B}"/>
              </a:ext>
            </a:extLst>
          </p:cNvPr>
          <p:cNvSpPr>
            <a:spLocks xmlns:a="http://schemas.openxmlformats.org/drawingml/2006/main" noGrp="1"/>
          </p:cNvSpPr>
          <p:nvPr/>
        </p:nvSpPr>
        <p:spPr>
          <a:xfrm xmlns:a="http://schemas.openxmlformats.org/drawingml/2006/main" rot="16200000" flipH="1">
            <a:off x="8957587" y="-680357"/>
            <a:ext cx="2562223" cy="3884848"/>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C916FAF3-DF47-4D39-B6F1-D0B18A97188A}"/>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Layouts/slideLayout14.xml><?xml version="1.0" encoding="utf-8"?>
<p:sldLayout xmlns:p="http://schemas.openxmlformats.org/presentationml/2006/main" preserve="1" userDrawn="1">
  <p:cSld name="Full slide copy_texture option 3">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BA7C78F4-BAF0-437A-B890-C0D36CFC0671}"/>
              </a:ext>
            </a:extLst>
          </p:cNvPr>
          <p:cNvSpPr>
            <a:spLocks xmlns:a="http://schemas.openxmlformats.org/drawingml/2006/main" noGrp="1"/>
          </p:cNvSpPr>
          <p:nvPr/>
        </p:nvSpPr>
        <p:spPr>
          <a:xfrm xmlns:a="http://schemas.openxmlformats.org/drawingml/2006/main">
            <a:off x="219075" y="85725"/>
            <a:ext cx="2771775" cy="116205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 Placeholder 17">
            <a:extLst xmlns:a="http://schemas.openxmlformats.org/drawingml/2006/main">
              <a:ext uri="{FF2B5EF4-FFF2-40B4-BE49-F238E27FC236}">
                <a16:creationId xmlns:a16="http://schemas.microsoft.com/office/drawing/2014/main" id="{BCF51FF1-746E-439F-83FB-57971054F233}"/>
              </a:ext>
            </a:extLst>
          </p:cNvPr>
          <p:cNvSpPr>
            <a:spLocks xmlns:a="http://schemas.openxmlformats.org/drawingml/2006/main" noGrp="1"/>
          </p:cNvSpPr>
          <p:nvPr>
            <p:ph type="body" idx="11" hasCustomPrompt="1"/>
          </p:nvPr>
        </p:nvSpPr>
        <p:spPr>
          <a:xfrm xmlns:a="http://schemas.openxmlformats.org/drawingml/2006/main">
            <a:off x="306060" y="978761"/>
            <a:ext cx="7451725" cy="466468"/>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solidFill>
                <a:latin typeface="Arial Narrow"/>
                <a:ea typeface="Arial Narrow"/>
                <a:cs typeface="Arial Narrow"/>
              </a:defRPr>
            </a:lvl1pPr>
          </a:lstStyle>
          <a:p xmlns:a="http://schemas.openxmlformats.org/drawingml/2006/main">
            <a:r>
              <a:t>SUB HEADING (24PT, UPPER CASE)</a:t>
            </a:r>
            <a:endParaRPr/>
          </a:p>
        </p:txBody>
      </p:sp>
      <p:sp>
        <p:nvSpPr>
          <p:cNvPr id="39" name="Text Placeholder 22">
            <a:extLst xmlns:a="http://schemas.openxmlformats.org/drawingml/2006/main">
              <a:ext uri="{FF2B5EF4-FFF2-40B4-BE49-F238E27FC236}">
                <a16:creationId xmlns:a16="http://schemas.microsoft.com/office/drawing/2014/main" id="{C85908EF-E20C-4B94-9FB9-7887F5262661}"/>
              </a:ext>
            </a:extLst>
          </p:cNvPr>
          <p:cNvSpPr>
            <a:spLocks xmlns:a="http://schemas.openxmlformats.org/drawingml/2006/main" noGrp="1"/>
          </p:cNvSpPr>
          <p:nvPr>
            <p:ph type="body" idx="13" hasCustomPrompt="1"/>
          </p:nvPr>
        </p:nvSpPr>
        <p:spPr>
          <a:xfrm xmlns:a="http://schemas.openxmlformats.org/drawingml/2006/main">
            <a:off x="306060" y="326309"/>
            <a:ext cx="7452026" cy="736956"/>
          </a:xfrm>
          <a:prstGeom xmlns:a="http://schemas.openxmlformats.org/drawingml/2006/main" prst="rect">
            <a:avLst/>
          </a:prstGeom>
        </p:spPr>
        <p:txBody>
          <a:bodyPr xmlns:a="http://schemas.openxmlformats.org/drawingml/2006/main"/>
          <a:lstStyle xmlns:a="http://schemas.openxmlformats.org/drawingml/2006/main">
            <a:lvl1pPr marL="0" indent="0">
              <a:buNone/>
              <a:defRPr sz="4200" b="1" baseline="0">
                <a:solidFill>
                  <a:schemeClr val="tx1"/>
                </a:solidFill>
                <a:latin typeface="Arial Narrow"/>
                <a:ea typeface="Arial Narrow"/>
                <a:cs typeface="Arial Narrow"/>
              </a:defRPr>
            </a:lvl1pPr>
          </a:lstStyle>
          <a:p xmlns:a="http://schemas.openxmlformats.org/drawingml/2006/main">
            <a:pPr lvl="0">
              <a:buNone/>
            </a:pPr>
            <a:r>
              <a:t>HEADING (42PT, UPPER CASE)</a:t>
            </a:r>
          </a:p>
        </p:txBody>
      </p:sp>
      <p:sp>
        <p:nvSpPr>
          <p:cNvPr id="40" name="Text Placeholder 17">
            <a:extLst xmlns:a="http://schemas.openxmlformats.org/drawingml/2006/main">
              <a:ext uri="{FF2B5EF4-FFF2-40B4-BE49-F238E27FC236}">
                <a16:creationId xmlns:a16="http://schemas.microsoft.com/office/drawing/2014/main" id="{AF089010-26FF-4595-8B83-CF46E7A1D7AF}"/>
              </a:ext>
            </a:extLst>
          </p:cNvPr>
          <p:cNvSpPr>
            <a:spLocks xmlns:a="http://schemas.openxmlformats.org/drawingml/2006/main" noGrp="1"/>
          </p:cNvSpPr>
          <p:nvPr>
            <p:ph type="body" idx="14" hasCustomPrompt="1"/>
          </p:nvPr>
        </p:nvSpPr>
        <p:spPr>
          <a:xfrm xmlns:a="http://schemas.openxmlformats.org/drawingml/2006/main">
            <a:off x="306060" y="1729723"/>
            <a:ext cx="10809615" cy="40164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baseline="0">
                <a:solidFill>
                  <a:schemeClr val="tx1"/>
                </a:solidFill>
                <a:latin typeface="Arial Narrow"/>
                <a:ea typeface="Arial Narrow"/>
                <a:cs typeface="Arial Narrow"/>
              </a:defRPr>
            </a:lvl1pPr>
          </a:lstStyle>
          <a:p xmlns:a="http://schemas.openxmlformats.org/drawingml/2006/main">
            <a:r>
              <a:t>INTRO HEADING 1 (20PT, ARIAL NARROW, UPPER CASE)</a:t>
            </a:r>
          </a:p>
        </p:txBody>
      </p:sp>
      <p:sp>
        <p:nvSpPr>
          <p:cNvPr id="21" name="Isosceles Triangle 20">
            <a:extLst xmlns:a="http://schemas.openxmlformats.org/drawingml/2006/main">
              <a:ext uri="{FF2B5EF4-FFF2-40B4-BE49-F238E27FC236}">
                <a16:creationId xmlns:a16="http://schemas.microsoft.com/office/drawing/2014/main" id="{517F9D49-44C6-4893-997C-A982FABD18BC}"/>
              </a:ext>
            </a:extLst>
          </p:cNvPr>
          <p:cNvSpPr>
            <a:spLocks xmlns:a="http://schemas.openxmlformats.org/drawingml/2006/main" noGrp="1"/>
          </p:cNvSpPr>
          <p:nvPr/>
        </p:nvSpPr>
        <p:spPr>
          <a:xfrm xmlns:a="http://schemas.openxmlformats.org/drawingml/2006/main" rot="16200000" flipV="1">
            <a:off x="558815" y="4317983"/>
            <a:ext cx="2000250" cy="3117884"/>
          </a:xfrm>
          <a:prstGeom xmlns:a="http://schemas.openxmlformats.org/drawingml/2006/main" prst="triangle">
            <a:avLst>
              <a:gd name="adj" fmla="val 0"/>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Freeform 24">
            <a:extLst xmlns:a="http://schemas.openxmlformats.org/drawingml/2006/main">
              <a:ext uri="{FF2B5EF4-FFF2-40B4-BE49-F238E27FC236}">
                <a16:creationId xmlns:a16="http://schemas.microsoft.com/office/drawing/2014/main" id="{4E6DC48B-D6CC-419D-8282-6A48CD645964}"/>
              </a:ext>
            </a:extLst>
          </p:cNvPr>
          <p:cNvSpPr>
            <a:spLocks xmlns:a="http://schemas.openxmlformats.org/drawingml/2006/main" noGrp="1"/>
          </p:cNvSpPr>
          <p:nvPr/>
        </p:nvSpPr>
        <p:spPr>
          <a:xfrm xmlns:a="http://schemas.openxmlformats.org/drawingml/2006/main" flipH="1">
            <a:off x="-1" y="4876800"/>
            <a:ext cx="1176335" cy="1962472"/>
          </a:xfrm>
          <a:custGeom xmlns:a="http://schemas.openxmlformats.org/drawingml/2006/main">
            <a:gdLst>
              <a:gd name="connsiteX0" fmla="*/ 0 w 1485900"/>
              <a:gd name="connsiteY0" fmla="*/ 0 h 6877050"/>
              <a:gd name="connsiteX1" fmla="*/ 1485900 w 1485900"/>
              <a:gd name="connsiteY1" fmla="*/ 19050 h 6877050"/>
              <a:gd name="connsiteX2" fmla="*/ 1485900 w 1485900"/>
              <a:gd name="connsiteY2" fmla="*/ 6877050 h 6877050"/>
              <a:gd name="connsiteX3" fmla="*/ 1457325 w 1485900"/>
              <a:gd name="connsiteY3" fmla="*/ 6858000 h 6877050"/>
              <a:gd name="connsiteX4" fmla="*/ 0 w 1485900"/>
              <a:gd name="connsiteY4" fmla="*/ 0 h 6877050"/>
              <a:gd name="connsiteX0" fmla="*/ 0 w 1485900"/>
              <a:gd name="connsiteY0" fmla="*/ 0 h 6877050"/>
              <a:gd name="connsiteX1" fmla="*/ 1485900 w 1485900"/>
              <a:gd name="connsiteY1" fmla="*/ 19050 h 6877050"/>
              <a:gd name="connsiteX2" fmla="*/ 1485900 w 1485900"/>
              <a:gd name="connsiteY2" fmla="*/ 6877050 h 6877050"/>
              <a:gd name="connsiteX3" fmla="*/ 1438275 w 1485900"/>
              <a:gd name="connsiteY3" fmla="*/ 6858000 h 6877050"/>
              <a:gd name="connsiteX4" fmla="*/ 0 w 1485900"/>
              <a:gd name="connsiteY4" fmla="*/ 0 h 6877050"/>
              <a:gd name="connsiteX0" fmla="*/ 0 w 1485900"/>
              <a:gd name="connsiteY0" fmla="*/ 0 h 6886575"/>
              <a:gd name="connsiteX1" fmla="*/ 1485900 w 1485900"/>
              <a:gd name="connsiteY1" fmla="*/ 19050 h 6886575"/>
              <a:gd name="connsiteX2" fmla="*/ 1485900 w 1485900"/>
              <a:gd name="connsiteY2" fmla="*/ 6877050 h 6886575"/>
              <a:gd name="connsiteX3" fmla="*/ 1438275 w 1485900"/>
              <a:gd name="connsiteY3" fmla="*/ 6886575 h 6886575"/>
              <a:gd name="connsiteX4" fmla="*/ 0 w 1485900"/>
              <a:gd name="connsiteY4" fmla="*/ 0 h 6886575"/>
              <a:gd name="connsiteX0" fmla="*/ 0 w 1495425"/>
              <a:gd name="connsiteY0" fmla="*/ 1417188 h 8303763"/>
              <a:gd name="connsiteX1" fmla="*/ 1495425 w 1495425"/>
              <a:gd name="connsiteY1" fmla="*/ 0 h 8303763"/>
              <a:gd name="connsiteX2" fmla="*/ 1485900 w 1495425"/>
              <a:gd name="connsiteY2" fmla="*/ 8294238 h 8303763"/>
              <a:gd name="connsiteX3" fmla="*/ 1438275 w 1495425"/>
              <a:gd name="connsiteY3" fmla="*/ 8303763 h 8303763"/>
              <a:gd name="connsiteX4" fmla="*/ 0 w 1495425"/>
              <a:gd name="connsiteY4" fmla="*/ 1417188 h 8303763"/>
              <a:gd name="connsiteX0" fmla="*/ 0 w 1543050"/>
              <a:gd name="connsiteY0" fmla="*/ 1159402 h 8303763"/>
              <a:gd name="connsiteX1" fmla="*/ 1543050 w 1543050"/>
              <a:gd name="connsiteY1" fmla="*/ 0 h 8303763"/>
              <a:gd name="connsiteX2" fmla="*/ 1533525 w 1543050"/>
              <a:gd name="connsiteY2" fmla="*/ 8294238 h 8303763"/>
              <a:gd name="connsiteX3" fmla="*/ 1485900 w 1543050"/>
              <a:gd name="connsiteY3" fmla="*/ 8303763 h 8303763"/>
              <a:gd name="connsiteX4" fmla="*/ 0 w 1543050"/>
              <a:gd name="connsiteY4" fmla="*/ 1159402 h 8303763"/>
              <a:gd name="connsiteX0" fmla="*/ 0 w 1533525"/>
              <a:gd name="connsiteY0" fmla="*/ 2374680 h 9519041"/>
              <a:gd name="connsiteX1" fmla="*/ 1514475 w 1533525"/>
              <a:gd name="connsiteY1" fmla="*/ 0 h 9519041"/>
              <a:gd name="connsiteX2" fmla="*/ 1533525 w 1533525"/>
              <a:gd name="connsiteY2" fmla="*/ 9509516 h 9519041"/>
              <a:gd name="connsiteX3" fmla="*/ 1485900 w 1533525"/>
              <a:gd name="connsiteY3" fmla="*/ 9519041 h 9519041"/>
              <a:gd name="connsiteX4" fmla="*/ 0 w 1533525"/>
              <a:gd name="connsiteY4" fmla="*/ 2374680 h 9519041"/>
              <a:gd name="connsiteX0" fmla="*/ 0 w 1362075"/>
              <a:gd name="connsiteY0" fmla="*/ 54604 h 9519041"/>
              <a:gd name="connsiteX1" fmla="*/ 1343025 w 1362075"/>
              <a:gd name="connsiteY1" fmla="*/ 0 h 9519041"/>
              <a:gd name="connsiteX2" fmla="*/ 1362075 w 1362075"/>
              <a:gd name="connsiteY2" fmla="*/ 9509516 h 9519041"/>
              <a:gd name="connsiteX3" fmla="*/ 1314450 w 1362075"/>
              <a:gd name="connsiteY3" fmla="*/ 9519041 h 9519041"/>
              <a:gd name="connsiteX4" fmla="*/ 0 w 1362075"/>
              <a:gd name="connsiteY4" fmla="*/ 54604 h 9519041"/>
              <a:gd name="connsiteX0" fmla="*/ 0 w 2209800"/>
              <a:gd name="connsiteY0" fmla="*/ 17777 h 9519041"/>
              <a:gd name="connsiteX1" fmla="*/ 2190750 w 2209800"/>
              <a:gd name="connsiteY1" fmla="*/ 0 h 9519041"/>
              <a:gd name="connsiteX2" fmla="*/ 2209800 w 2209800"/>
              <a:gd name="connsiteY2" fmla="*/ 9509516 h 9519041"/>
              <a:gd name="connsiteX3" fmla="*/ 2162175 w 2209800"/>
              <a:gd name="connsiteY3" fmla="*/ 9519041 h 9519041"/>
              <a:gd name="connsiteX4" fmla="*/ 0 w 2209800"/>
              <a:gd name="connsiteY4" fmla="*/ 17777 h 9519041"/>
              <a:gd name="connsiteX0" fmla="*/ 0 w 2209800"/>
              <a:gd name="connsiteY0" fmla="*/ 17777 h 9519041"/>
              <a:gd name="connsiteX1" fmla="*/ 2190750 w 2209800"/>
              <a:gd name="connsiteY1" fmla="*/ 0 h 9519041"/>
              <a:gd name="connsiteX2" fmla="*/ 2209800 w 2209800"/>
              <a:gd name="connsiteY2" fmla="*/ 9509516 h 9519041"/>
              <a:gd name="connsiteX3" fmla="*/ 2200275 w 2209800"/>
              <a:gd name="connsiteY3" fmla="*/ 9519041 h 9519041"/>
              <a:gd name="connsiteX4" fmla="*/ 0 w 2209800"/>
              <a:gd name="connsiteY4" fmla="*/ 17777 h 9519041"/>
              <a:gd name="connsiteX0" fmla="*/ 0 w 2209800"/>
              <a:gd name="connsiteY0" fmla="*/ 17777 h 9592694"/>
              <a:gd name="connsiteX1" fmla="*/ 2190750 w 2209800"/>
              <a:gd name="connsiteY1" fmla="*/ 0 h 9592694"/>
              <a:gd name="connsiteX2" fmla="*/ 2209800 w 2209800"/>
              <a:gd name="connsiteY2" fmla="*/ 9509516 h 9592694"/>
              <a:gd name="connsiteX3" fmla="*/ 2200275 w 2209800"/>
              <a:gd name="connsiteY3" fmla="*/ 9592694 h 9592694"/>
              <a:gd name="connsiteX4" fmla="*/ 0 w 2209800"/>
              <a:gd name="connsiteY4" fmla="*/ 17777 h 9592694"/>
              <a:gd name="connsiteX0" fmla="*/ 0 w 2279073"/>
              <a:gd name="connsiteY0" fmla="*/ 4906456 h 9592694"/>
              <a:gd name="connsiteX1" fmla="*/ 2260023 w 2279073"/>
              <a:gd name="connsiteY1" fmla="*/ 0 h 9592694"/>
              <a:gd name="connsiteX2" fmla="*/ 2279073 w 2279073"/>
              <a:gd name="connsiteY2" fmla="*/ 9509516 h 9592694"/>
              <a:gd name="connsiteX3" fmla="*/ 2269548 w 2279073"/>
              <a:gd name="connsiteY3" fmla="*/ 9592694 h 9592694"/>
              <a:gd name="connsiteX4" fmla="*/ 0 w 2279073"/>
              <a:gd name="connsiteY4" fmla="*/ 4906456 h 9592694"/>
              <a:gd name="connsiteX0" fmla="*/ 0 w 1711036"/>
              <a:gd name="connsiteY0" fmla="*/ 3742485 h 9592694"/>
              <a:gd name="connsiteX1" fmla="*/ 1691986 w 1711036"/>
              <a:gd name="connsiteY1" fmla="*/ 0 h 9592694"/>
              <a:gd name="connsiteX2" fmla="*/ 1711036 w 1711036"/>
              <a:gd name="connsiteY2" fmla="*/ 9509516 h 9592694"/>
              <a:gd name="connsiteX3" fmla="*/ 1701511 w 1711036"/>
              <a:gd name="connsiteY3" fmla="*/ 9592694 h 9592694"/>
              <a:gd name="connsiteX4" fmla="*/ 0 w 1711036"/>
              <a:gd name="connsiteY4" fmla="*/ 3742485 h 9592694"/>
            </a:gdLst>
            <a:rect l="l" t="t" r="r" b="b"/>
            <a:pathLst>
              <a:path w="1711036" h="9592694">
                <a:moveTo>
                  <a:pt x="0" y="3742485"/>
                </a:moveTo>
                <a:lnTo>
                  <a:pt x="1691986" y="0"/>
                </a:lnTo>
                <a:lnTo>
                  <a:pt x="1711036" y="9509516"/>
                </a:lnTo>
                <a:lnTo>
                  <a:pt x="1701511" y="9592694"/>
                </a:lnTo>
                <a:lnTo>
                  <a:pt x="0" y="3742485"/>
                </a:lnTo>
                <a:close/>
              </a:path>
            </a:pathLst>
          </a:custGeom>
          <a:solidFill xmlns:a="http://schemas.openxmlformats.org/drawingml/2006/main">
            <a:srgbClr val="006CAB">
              <a:alpha val="50000"/>
            </a:srgb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 Placeholder 17">
            <a:extLst xmlns:a="http://schemas.openxmlformats.org/drawingml/2006/main">
              <a:ext uri="{FF2B5EF4-FFF2-40B4-BE49-F238E27FC236}">
                <a16:creationId xmlns:a16="http://schemas.microsoft.com/office/drawing/2014/main" id="{13C6D13E-CFCB-47C9-B8DB-2A2A8DC4D5A2}"/>
              </a:ext>
            </a:extLst>
          </p:cNvPr>
          <p:cNvSpPr>
            <a:spLocks xmlns:a="http://schemas.openxmlformats.org/drawingml/2006/main" noGrp="1"/>
          </p:cNvSpPr>
          <p:nvPr>
            <p:ph type="body" idx="16" hasCustomPrompt="1"/>
          </p:nvPr>
        </p:nvSpPr>
        <p:spPr>
          <a:xfrm xmlns:a="http://schemas.openxmlformats.org/drawingml/2006/main">
            <a:off x="300211" y="2097681"/>
            <a:ext cx="10815464" cy="3299167"/>
          </a:xfrm>
          <a:prstGeom xmlns:a="http://schemas.openxmlformats.org/drawingml/2006/main" prst="rect">
            <a:avLst/>
          </a:prstGeom>
        </p:spPr>
        <p:txBody>
          <a:bodyPr xmlns:a="http://schemas.openxmlformats.org/drawingml/2006/main"/>
          <a:lstStyle xmlns:a="http://schemas.openxmlformats.org/drawingml/2006/main">
            <a:lvl1pPr marL="342900" indent="-342900">
              <a:buFont typeface="Arial"/>
              <a:buChar char="•"/>
              <a:defRPr sz="2000" b="0" baseline="0">
                <a:solidFill>
                  <a:schemeClr val="tx1"/>
                </a:solidFill>
                <a:latin typeface="Arial"/>
                <a:ea typeface="Arial"/>
                <a:cs typeface="Arial"/>
              </a:defRPr>
            </a:lvl1pPr>
            <a:lvl2pPr marL="685800" indent="-228600">
              <a:buFont typeface="Courier New"/>
              <a:buChar char="o"/>
              <a:defRPr sz="1600"/>
            </a:lvl2pPr>
            <a:lvl3pPr marL="1143000" indent="-228600">
              <a:buFont typeface="Wingdings"/>
              <a:buChar char="§"/>
              <a:defRPr sz="1400"/>
            </a:lvl3pPr>
          </a:lstStyle>
          <a:p xmlns:a="http://schemas.openxmlformats.org/drawingml/2006/main">
            <a:r>
              <a:t>Body copy (20pt, Arial) </a:t>
            </a:r>
          </a:p>
          <a:p xmlns:a="http://schemas.openxmlformats.org/drawingml/2006/main">
            <a:r>
              <a:t>Level 1 bullet list (20pt, Arial)</a:t>
            </a:r>
          </a:p>
          <a:p xmlns:a="http://schemas.openxmlformats.org/drawingml/2006/main">
            <a:pPr lvl="1">
              <a:buNone/>
            </a:pPr>
            <a:r>
              <a:t>Level 2 bullet list (16pt, Arial)</a:t>
            </a:r>
          </a:p>
          <a:p xmlns:a="http://schemas.openxmlformats.org/drawingml/2006/main">
            <a:pPr lvl="2">
              <a:buNone/>
            </a:pPr>
            <a:r>
              <a:t>Level 3 bullet list (14pt, Arial)</a:t>
            </a:r>
          </a:p>
          <a:p xmlns:a="http://schemas.openxmlformats.org/drawingml/2006/main">
            <a:endParaRPr/>
          </a:p>
          <a:p xmlns:a="http://schemas.openxmlformats.org/drawingml/2006/main">
            <a:endParaRPr/>
          </a:p>
        </p:txBody>
      </p:sp>
    </p:spTree>
  </p:cSld>
</p:sldLayout>
</file>

<file path=ppt/slideMasters/_rels/slideMaster1.xml.rels><?xml version='1.0' encoding='UTF-8' standalone='yes'?>
<Relationships xmlns="http://schemas.openxmlformats.org/package/2006/relationships"><Relationship Id="R1b9328ccffe648b4" Type="http://schemas.openxmlformats.org/officeDocument/2006/relationships/slideLayout" Target="../slideLayouts/slideLayout8.xml"/><Relationship Id="R1dfc7f19fa704866" Type="http://schemas.openxmlformats.org/officeDocument/2006/relationships/slideLayout" Target="../slideLayouts/slideLayout14.xml"/><Relationship Id="R1ffa163bd37f414f" Type="http://schemas.openxmlformats.org/officeDocument/2006/relationships/slideLayout" Target="../slideLayouts/slideLayout3.xml"/><Relationship Id="R2a86f35e3c584ee9" Type="http://schemas.openxmlformats.org/officeDocument/2006/relationships/theme" Target="theme/theme2.xml"/><Relationship Id="R3a0dc306b4894c6d" Type="http://schemas.openxmlformats.org/officeDocument/2006/relationships/slideLayout" Target="../slideLayouts/slideLayout5.xml"/><Relationship Id="R42a1128e575d497b" Type="http://schemas.openxmlformats.org/officeDocument/2006/relationships/slideLayout" Target="../slideLayouts/slideLayout2.xml"/><Relationship Id="R589b750b09334bb5" Type="http://schemas.openxmlformats.org/officeDocument/2006/relationships/slideLayout" Target="../slideLayouts/slideLayout4.xml"/><Relationship Id="R5af9248e6aca4236" Type="http://schemas.openxmlformats.org/officeDocument/2006/relationships/slideLayout" Target="../slideLayouts/slideLayout6.xml"/><Relationship Id="R72188e8a28aa44ac" Type="http://schemas.openxmlformats.org/officeDocument/2006/relationships/slideLayout" Target="../slideLayouts/slideLayout1.xml"/><Relationship Id="R8c3a2de5b0f54fd2" Type="http://schemas.openxmlformats.org/officeDocument/2006/relationships/slideLayout" Target="../slideLayouts/slideLayout7.xml"/><Relationship Id="R9af3c20229a6487b" Type="http://schemas.openxmlformats.org/officeDocument/2006/relationships/slideLayout" Target="../slideLayouts/slideLayout12.xml"/><Relationship Id="Ra57d29800d784d02" Type="http://schemas.openxmlformats.org/officeDocument/2006/relationships/slideLayout" Target="../slideLayouts/slideLayout11.xml"/><Relationship Id="Rbb8cbd0f6d0046cf" Type="http://schemas.openxmlformats.org/officeDocument/2006/relationships/slideLayout" Target="../slideLayouts/slideLayout10.xml"/><Relationship Id="Rf1a9c5cd38834962" Type="http://schemas.openxmlformats.org/officeDocument/2006/relationships/slideLayout" Target="../slideLayouts/slideLayout13.xml"/><Relationship Id="Rfcaa18d8cdfa451f" Type="http://schemas.openxmlformats.org/officeDocument/2006/relationships/slideLayout" Target="../slideLayouts/slideLayout9.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188e8a28aa44ac"/>
    <p:sldLayoutId xmlns:r="http://schemas.openxmlformats.org/officeDocument/2006/relationships" id="2147483650" r:id="R42a1128e575d497b"/>
    <p:sldLayoutId xmlns:r="http://schemas.openxmlformats.org/officeDocument/2006/relationships" id="2147483651" r:id="R1ffa163bd37f414f"/>
    <p:sldLayoutId xmlns:r="http://schemas.openxmlformats.org/officeDocument/2006/relationships" id="2147483652" r:id="R589b750b09334bb5"/>
    <p:sldLayoutId xmlns:r="http://schemas.openxmlformats.org/officeDocument/2006/relationships" id="2147483653" r:id="R3a0dc306b4894c6d"/>
    <p:sldLayoutId xmlns:r="http://schemas.openxmlformats.org/officeDocument/2006/relationships" id="2147483654" r:id="R5af9248e6aca4236"/>
    <p:sldLayoutId xmlns:r="http://schemas.openxmlformats.org/officeDocument/2006/relationships" id="2147483655" r:id="R8c3a2de5b0f54fd2"/>
    <p:sldLayoutId xmlns:r="http://schemas.openxmlformats.org/officeDocument/2006/relationships" id="2147483656" r:id="R1b9328ccffe648b4"/>
    <p:sldLayoutId xmlns:r="http://schemas.openxmlformats.org/officeDocument/2006/relationships" id="2147483657" r:id="Rfcaa18d8cdfa451f"/>
    <p:sldLayoutId xmlns:r="http://schemas.openxmlformats.org/officeDocument/2006/relationships" id="2147483658" r:id="Rbb8cbd0f6d0046cf"/>
    <p:sldLayoutId xmlns:r="http://schemas.openxmlformats.org/officeDocument/2006/relationships" id="2147483659" r:id="Ra57d29800d784d02"/>
    <p:sldLayoutId xmlns:r="http://schemas.openxmlformats.org/officeDocument/2006/relationships" id="2147483660" r:id="R9af3c20229a6487b"/>
    <p:sldLayoutId xmlns:r="http://schemas.openxmlformats.org/officeDocument/2006/relationships" id="2147483661" r:id="Rf1a9c5cd38834962"/>
    <p:sldLayoutId xmlns:r="http://schemas.openxmlformats.org/officeDocument/2006/relationships" id="2147483662" r:id="R1dfc7f19fa704866"/>
  </p:sldLayoutIdLst>
  <p:hf hdr="0" ftr="0" dt="0"/>
  <p:txStyles>
    <p:titleStyle>
      <a:lvl1pPr xmlns:a="http://schemas.openxmlformats.org/drawingml/2006/main" algn="l" defTabSz="914400">
        <a:lnSpc>
          <a:spcPct val="90000"/>
        </a:lnSpc>
        <a:spcBef>
          <a:spcPct val="0"/>
        </a:spcBef>
        <a:buNone/>
        <a:defRPr sz="3400" b="1" i="0" kern="1200">
          <a:solidFill>
            <a:schemeClr val="bg1"/>
          </a:solidFill>
          <a:latin typeface="Arial Narrow"/>
          <a:ea typeface="Arial Narrow"/>
          <a:cs typeface="Arial Narrow"/>
        </a:defRPr>
      </a:lvl1pPr>
    </p:titleStyle>
    <p:bodyStyle>
      <a:lvl1pPr xmlns:a="http://schemas.openxmlformats.org/drawingml/2006/main" marL="0" indent="0" algn="l" defTabSz="914400">
        <a:lnSpc>
          <a:spcPct val="90000"/>
        </a:lnSpc>
        <a:spcBef>
          <a:spcPts val="1000"/>
        </a:spcBef>
        <a:buFont typeface="Arial"/>
        <a:buNone/>
        <a:defRPr sz="2200" kern="1200">
          <a:solidFill>
            <a:schemeClr val="bg1"/>
          </a:solidFill>
          <a:latin typeface="Arial Narrow"/>
          <a:ea typeface="Arial Narrow"/>
          <a:cs typeface="Arial Narrow"/>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257">
          <p15:clr>
            <a:srgbClr xmlns:a="http://schemas.openxmlformats.org/drawingml/2006/main" val="F26B43"/>
          </p15:clr>
        </p15:guide>
      </p15:sldGuideLst>
    </p:ext>
  </p:extLst>
</p:sldMaster>
</file>

<file path=ppt/slideMasters/theme/theme2.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9052ae64574d38" Type="http://schemas.openxmlformats.org/officeDocument/2006/relationships/slideLayout" Target="../slideLayouts/slideLayout3.xml"/><Relationship Id="Re4b7dc44a8c84b5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notesSlide" Target="../notesSlides/notesSlide5.xml"/><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2.xml"/></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CONTEXT-AWARE&#10;ROBOT SAFETY">
            <a:extLst xmlns:a="http://schemas.openxmlformats.org/drawingml/2006/main">
              <a:ext uri="{FF2B5EF4-FFF2-40B4-BE49-F238E27FC236}">
                <a16:creationId xmlns:a16="http://schemas.microsoft.com/office/drawing/2014/main" id="{A3317F18-32B7-44E5-8BC5-E14E9441CD69}"/>
              </a:ext>
            </a:extLst>
          </p:cNvPr>
          <p:cNvSpPr>
            <a:spLocks xmlns:a="http://schemas.openxmlformats.org/drawingml/2006/main" noGrp="1"/>
          </p:cNvSpPr>
          <p:nvPr/>
        </p:nvSpPr>
        <p:spPr>
          <a:xfrm xmlns:a="http://schemas.openxmlformats.org/drawingml/2006/main">
            <a:off x="514350" y="1714500"/>
            <a:ext cx="10382250"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CONTEXT-AWARE</a:t>
            </a:r>
          </a:p>
          <a:p xmlns:a="http://schemas.openxmlformats.org/drawingml/2006/main">
            <a:pPr>
              <a:defRPr sz="4425" b="1">
                <a:solidFill>
                  <a:srgbClr val="0B3551"/>
                </a:solidFill>
                <a:latin typeface="Arial"/>
                <a:ea typeface="Arial"/>
                <a:cs typeface="Arial"/>
              </a:defRPr>
            </a:pPr>
            <a:r>
              <a:rPr sz="4425" b="1">
                <a:solidFill>
                  <a:srgbClr val="0B3551"/>
                </a:solidFill>
                <a:latin typeface="Arial"/>
                <a:ea typeface="Arial"/>
                <a:cs typeface="Arial"/>
              </a:rPr>
              <a:t>ROBOT SAFETY</a:t>
            </a:r>
          </a:p>
        </p:txBody>
      </p:sp>
      <p:sp>
        <p:nvSpPr>
          <p:cNvPr id="2" name="Human–robot ceiling-panel installation">
            <a:extLst xmlns:a="http://schemas.openxmlformats.org/drawingml/2006/main">
              <a:ext uri="{FF2B5EF4-FFF2-40B4-BE49-F238E27FC236}">
                <a16:creationId xmlns:a16="http://schemas.microsoft.com/office/drawing/2014/main" id="{E152C5E9-2D23-4825-81A4-987AECF6E701}"/>
              </a:ext>
            </a:extLst>
          </p:cNvPr>
          <p:cNvSpPr>
            <a:spLocks xmlns:a="http://schemas.openxmlformats.org/drawingml/2006/main" noGrp="1"/>
          </p:cNvSpPr>
          <p:nvPr/>
        </p:nvSpPr>
        <p:spPr>
          <a:xfrm xmlns:a="http://schemas.openxmlformats.org/drawingml/2006/main">
            <a:off x="533400" y="3448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006DAE"/>
                </a:solidFill>
                <a:latin typeface="Arial"/>
                <a:ea typeface="Arial"/>
                <a:cs typeface="Arial"/>
              </a:defRPr>
            </a:pPr>
            <a:r>
              <a:rPr sz="2775" b="0">
                <a:solidFill>
                  <a:srgbClr val="006DAE"/>
                </a:solidFill>
                <a:latin typeface="Arial"/>
                <a:ea typeface="Arial"/>
                <a:cs typeface="Arial"/>
              </a:rPr>
              <a:t>Keeping workers safe without stopping the robot for no reason</a:t>
            </a:r>
          </a:p>
        </p:txBody>
      </p:sp>
      <p:sp>
        <p:nvSpPr>
          <p:cNvPr id="3" name="Zenan Wu · Luke Siniakov · Michael Magila">
            <a:extLst xmlns:a="http://schemas.openxmlformats.org/drawingml/2006/main">
              <a:ext uri="{FF2B5EF4-FFF2-40B4-BE49-F238E27FC236}">
                <a16:creationId xmlns:a16="http://schemas.microsoft.com/office/drawing/2014/main" id="{EF599501-92F0-4D29-8278-A8C45B8FD8D4}"/>
              </a:ext>
            </a:extLst>
          </p:cNvPr>
          <p:cNvSpPr>
            <a:spLocks xmlns:a="http://schemas.openxmlformats.org/drawingml/2006/main" noGrp="1"/>
          </p:cNvSpPr>
          <p:nvPr/>
        </p:nvSpPr>
        <p:spPr>
          <a:xfrm xmlns:a="http://schemas.openxmlformats.org/drawingml/2006/main">
            <a:off x="533400" y="43053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D3D"/>
                </a:solidFill>
                <a:latin typeface="Arial"/>
                <a:ea typeface="Arial"/>
                <a:cs typeface="Arial"/>
              </a:defRPr>
            </a:pPr>
            <a:r>
              <a:rPr sz="2025" b="0">
                <a:solidFill>
                  <a:srgbClr val="172D3D"/>
                </a:solidFill>
                <a:latin typeface="Arial"/>
                <a:ea typeface="Arial"/>
                <a:cs typeface="Arial"/>
              </a:rPr>
              <a:t>Zenan Wu · Luke Siniakov · Michael Magila</a:t>
            </a:r>
          </a:p>
        </p:txBody>
      </p:sp>
      <p:sp>
        <p:nvSpPr>
          <p:cNvPr id="4" name="Primary supervisor: Associate Professor Yihai Fang">
            <a:extLst xmlns:a="http://schemas.openxmlformats.org/drawingml/2006/main">
              <a:ext uri="{FF2B5EF4-FFF2-40B4-BE49-F238E27FC236}">
                <a16:creationId xmlns:a16="http://schemas.microsoft.com/office/drawing/2014/main" id="{189FF469-DE45-4D12-A788-3626CF454F4D}"/>
              </a:ext>
            </a:extLst>
          </p:cNvPr>
          <p:cNvSpPr>
            <a:spLocks xmlns:a="http://schemas.openxmlformats.org/drawingml/2006/main" noGrp="1"/>
          </p:cNvSpPr>
          <p:nvPr/>
        </p:nvSpPr>
        <p:spPr>
          <a:xfrm xmlns:a="http://schemas.openxmlformats.org/drawingml/2006/main">
            <a:off x="533400" y="50006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D3D"/>
                </a:solidFill>
                <a:latin typeface="Arial"/>
                <a:ea typeface="Arial"/>
                <a:cs typeface="Arial"/>
              </a:defRPr>
            </a:pPr>
            <a:r>
              <a:rPr sz="1875" b="0">
                <a:solidFill>
                  <a:srgbClr val="172D3D"/>
                </a:solidFill>
                <a:latin typeface="Arial"/>
                <a:ea typeface="Arial"/>
                <a:cs typeface="Arial"/>
              </a:rPr>
              <a:t>Primary supervisor: Associate Professor Yihai Fang</a:t>
            </a:r>
          </a:p>
        </p:txBody>
      </p:sp>
      <p:sp>
        <p:nvSpPr>
          <p:cNvPr id="5" name="Technical support: Yizhe (Will) Wang">
            <a:extLst xmlns:a="http://schemas.openxmlformats.org/drawingml/2006/main">
              <a:ext uri="{FF2B5EF4-FFF2-40B4-BE49-F238E27FC236}">
                <a16:creationId xmlns:a16="http://schemas.microsoft.com/office/drawing/2014/main" id="{C035169A-14F2-43F7-8797-C2C657DED983}"/>
              </a:ext>
            </a:extLst>
          </p:cNvPr>
          <p:cNvSpPr>
            <a:spLocks xmlns:a="http://schemas.openxmlformats.org/drawingml/2006/main" noGrp="1"/>
          </p:cNvSpPr>
          <p:nvPr/>
        </p:nvSpPr>
        <p:spPr>
          <a:xfrm xmlns:a="http://schemas.openxmlformats.org/drawingml/2006/main">
            <a:off x="533400" y="54102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79"/>
                </a:solidFill>
                <a:latin typeface="Arial"/>
                <a:ea typeface="Arial"/>
                <a:cs typeface="Arial"/>
              </a:defRPr>
            </a:pPr>
            <a:r>
              <a:rPr sz="1725" b="0">
                <a:solidFill>
                  <a:srgbClr val="536B79"/>
                </a:solidFill>
                <a:latin typeface="Arial"/>
                <a:ea typeface="Arial"/>
                <a:cs typeface="Arial"/>
              </a:rPr>
              <a:t>Technical support: Yizhe (Will) Wang</a:t>
            </a:r>
          </a:p>
        </p:txBody>
      </p:sp>
    </p:spTree>
    <p:extLst>
      <p:ext uri="{BB962C8B-B14F-4D97-AF65-F5344CB8AC3E}">
        <p14:creationId xmlns:p14="http://schemas.microsoft.com/office/powerpoint/2010/main" val="1822514080"/>
      </p:ext>
    </p:extLst>
  </p:cSl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Why this problem matters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02</a:t>
            </a:r>
          </a:p>
        </p:txBody>
      </p:sp>
      <p:pic>
        <p:nvPicPr>
          <p:cNvPr id="4" name="Picture 3" descr="task-frame.jpg"/>
          <p:cNvPicPr>
            <a:picLocks noChangeAspect="1"/>
          </p:cNvPicPr>
          <p:nvPr/>
        </p:nvPicPr>
        <p:blipFill>
          <a:blip r:embed="rId2"/>
          <a:stretch>
            <a:fillRect/>
          </a:stretch>
        </p:blipFill>
        <p:spPr>
          <a:xfrm>
            <a:off x="548640" y="1325880"/>
            <a:ext cx="4191000" cy="4526280"/>
          </a:xfrm>
          <a:prstGeom prst="rect">
            <a:avLst/>
          </a:prstGeom>
        </p:spPr>
      </p:pic>
      <p:sp>
        <p:nvSpPr>
          <p:cNvPr id="5" name="Oval 4"/>
          <p:cNvSpPr/>
          <p:nvPr/>
        </p:nvSpPr>
        <p:spPr>
          <a:xfrm>
            <a:off x="5349240" y="1371600"/>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6" name="TextBox 5"/>
          <p:cNvSpPr txBox="1"/>
          <p:nvPr/>
        </p:nvSpPr>
        <p:spPr>
          <a:xfrm>
            <a:off x="6035040" y="1325880"/>
            <a:ext cx="5669280" cy="1188720"/>
          </a:xfrm>
          <a:prstGeom prst="rect">
            <a:avLst/>
          </a:prstGeom>
          <a:noFill/>
        </p:spPr>
        <p:txBody>
          <a:bodyPr wrap="square" anchor="t" lIns="45720" rIns="45720">
            <a:spAutoFit/>
          </a:bodyPr>
          <a:lstStyle/>
          <a:p>
            <a:pPr algn="l"/>
            <a:r>
              <a:rPr sz="1900" b="1">
                <a:solidFill>
                  <a:srgbClr val="172D3D"/>
                </a:solidFill>
                <a:latin typeface="Arial"/>
              </a:rPr>
              <a:t>Overhead panel work is heavy and awkward</a:t>
            </a:r>
          </a:p>
          <a:p>
            <a:pPr algn="l">
              <a:spcBef>
                <a:spcPts val="855"/>
              </a:spcBef>
            </a:pPr>
            <a:r>
              <a:rPr sz="1900" b="0">
                <a:solidFill>
                  <a:srgbClr val="172D3D"/>
                </a:solidFill>
                <a:latin typeface="Arial"/>
              </a:rPr>
              <a:t>A robot can hold the panel while the worker does the skilled part.</a:t>
            </a:r>
          </a:p>
        </p:txBody>
      </p:sp>
      <p:sp>
        <p:nvSpPr>
          <p:cNvPr id="7" name="Oval 6"/>
          <p:cNvSpPr/>
          <p:nvPr/>
        </p:nvSpPr>
        <p:spPr>
          <a:xfrm>
            <a:off x="5349240" y="2606039"/>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8" name="TextBox 7"/>
          <p:cNvSpPr txBox="1"/>
          <p:nvPr/>
        </p:nvSpPr>
        <p:spPr>
          <a:xfrm>
            <a:off x="6035040" y="2560320"/>
            <a:ext cx="5669280" cy="1188720"/>
          </a:xfrm>
          <a:prstGeom prst="rect">
            <a:avLst/>
          </a:prstGeom>
          <a:noFill/>
        </p:spPr>
        <p:txBody>
          <a:bodyPr wrap="square" anchor="t" lIns="45720" rIns="45720">
            <a:spAutoFit/>
          </a:bodyPr>
          <a:lstStyle/>
          <a:p>
            <a:pPr algn="l"/>
            <a:r>
              <a:rPr sz="1900" b="1">
                <a:solidFill>
                  <a:srgbClr val="172D3D"/>
                </a:solidFill>
                <a:latin typeface="Arial"/>
              </a:rPr>
              <a:t>So the worker stands next to a moving robot</a:t>
            </a:r>
          </a:p>
          <a:p>
            <a:pPr algn="l">
              <a:spcBef>
                <a:spcPts val="855"/>
              </a:spcBef>
            </a:pPr>
            <a:r>
              <a:rPr sz="1900" b="0">
                <a:solidFill>
                  <a:srgbClr val="172D3D"/>
                </a:solidFill>
                <a:latin typeface="Arial"/>
              </a:rPr>
              <a:t>Safety zones stop the robot whenever someone is close.</a:t>
            </a:r>
          </a:p>
        </p:txBody>
      </p:sp>
      <p:sp>
        <p:nvSpPr>
          <p:cNvPr id="9" name="Oval 8"/>
          <p:cNvSpPr/>
          <p:nvPr/>
        </p:nvSpPr>
        <p:spPr>
          <a:xfrm>
            <a:off x="5349240" y="3840480"/>
            <a:ext cx="502920" cy="502920"/>
          </a:xfrm>
          <a:prstGeom prst="ellipse">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0" name="TextBox 9"/>
          <p:cNvSpPr txBox="1"/>
          <p:nvPr/>
        </p:nvSpPr>
        <p:spPr>
          <a:xfrm>
            <a:off x="6035040" y="3794760"/>
            <a:ext cx="5669280" cy="1188720"/>
          </a:xfrm>
          <a:prstGeom prst="rect">
            <a:avLst/>
          </a:prstGeom>
          <a:noFill/>
        </p:spPr>
        <p:txBody>
          <a:bodyPr wrap="square" anchor="t" lIns="45720" rIns="45720">
            <a:spAutoFit/>
          </a:bodyPr>
          <a:lstStyle/>
          <a:p>
            <a:pPr algn="l"/>
            <a:r>
              <a:rPr sz="1900" b="1">
                <a:solidFill>
                  <a:srgbClr val="172D3D"/>
                </a:solidFill>
                <a:latin typeface="Arial"/>
              </a:rPr>
              <a:t>Stop too late: injury.  Stop too often: no one uses it.</a:t>
            </a:r>
          </a:p>
          <a:p>
            <a:pPr algn="l">
              <a:spcBef>
                <a:spcPts val="855"/>
              </a:spcBef>
            </a:pPr>
            <a:r>
              <a:rPr sz="1900" b="0">
                <a:solidFill>
                  <a:srgbClr val="172D3D"/>
                </a:solidFill>
                <a:latin typeface="Arial"/>
              </a:rPr>
              <a:t>Crews and contractors need it right both ways.</a:t>
            </a:r>
          </a:p>
        </p:txBody>
      </p:sp>
      <p:sp>
        <p:nvSpPr>
          <p:cNvPr id="11" name="Rounded Rectangle 10"/>
          <p:cNvSpPr/>
          <p:nvPr/>
        </p:nvSpPr>
        <p:spPr>
          <a:xfrm>
            <a:off x="5349240" y="5120640"/>
            <a:ext cx="6355080" cy="73152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5148072"/>
            <a:ext cx="6126480" cy="685800"/>
          </a:xfrm>
          <a:prstGeom prst="rect">
            <a:avLst/>
          </a:prstGeom>
          <a:noFill/>
        </p:spPr>
        <p:txBody>
          <a:bodyPr wrap="square" anchor="ctr" lIns="45720" rIns="45720">
            <a:spAutoFit/>
          </a:bodyPr>
          <a:lstStyle/>
          <a:p>
            <a:pPr algn="l"/>
            <a:r>
              <a:rPr sz="1600" b="1">
                <a:solidFill>
                  <a:srgbClr val="FFFFFF"/>
                </a:solidFill>
                <a:latin typeface="Arial"/>
              </a:rPr>
              <a:t>Our question: </a:t>
            </a:r>
            <a:r>
              <a:rPr sz="1600" b="0">
                <a:solidFill>
                  <a:srgbClr val="FFFFFF"/>
                </a:solidFill>
                <a:latin typeface="Arial"/>
              </a:rPr>
              <a:t>can a robot that knows the task phase keep workers as safe as fixed zones, and still keep the work efficient?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Our solution: a robot that knows the task phase</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03</a:t>
            </a:r>
          </a:p>
        </p:txBody>
      </p:sp>
      <p:sp>
        <p:nvSpPr>
          <p:cNvPr id="4" name="Rounded Rectangle 3"/>
          <p:cNvSpPr/>
          <p:nvPr/>
        </p:nvSpPr>
        <p:spPr>
          <a:xfrm>
            <a:off x="548640" y="1325880"/>
            <a:ext cx="3520440" cy="2331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3200400" cy="457200"/>
          </a:xfrm>
          <a:prstGeom prst="rect">
            <a:avLst/>
          </a:prstGeom>
          <a:noFill/>
        </p:spPr>
        <p:txBody>
          <a:bodyPr wrap="square" anchor="t" lIns="45720" rIns="45720">
            <a:spAutoFit/>
          </a:bodyPr>
          <a:lstStyle/>
          <a:p>
            <a:pPr algn="l"/>
            <a:r>
              <a:rPr sz="2200" b="1">
                <a:solidFill>
                  <a:srgbClr val="172D3D"/>
                </a:solidFill>
                <a:latin typeface="Arial"/>
              </a:rPr>
              <a:t>Fixed zones</a:t>
            </a:r>
          </a:p>
        </p:txBody>
      </p:sp>
      <p:sp>
        <p:nvSpPr>
          <p:cNvPr id="6" name="TextBox 5"/>
          <p:cNvSpPr txBox="1"/>
          <p:nvPr/>
        </p:nvSpPr>
        <p:spPr>
          <a:xfrm>
            <a:off x="731520" y="1965960"/>
            <a:ext cx="3200400" cy="914400"/>
          </a:xfrm>
          <a:prstGeom prst="rect">
            <a:avLst/>
          </a:prstGeom>
          <a:noFill/>
        </p:spPr>
        <p:txBody>
          <a:bodyPr wrap="square" anchor="t" lIns="45720" rIns="45720">
            <a:spAutoFit/>
          </a:bodyPr>
          <a:lstStyle/>
          <a:p>
            <a:pPr algn="l"/>
            <a:r>
              <a:rPr sz="1800" b="0">
                <a:solidFill>
                  <a:srgbClr val="172D3D"/>
                </a:solidFill>
                <a:latin typeface="Arial"/>
              </a:rPr>
              <a:t>Distance only</a:t>
            </a:r>
          </a:p>
        </p:txBody>
      </p:sp>
      <p:sp>
        <p:nvSpPr>
          <p:cNvPr id="7" name="TextBox 6"/>
          <p:cNvSpPr txBox="1"/>
          <p:nvPr/>
        </p:nvSpPr>
        <p:spPr>
          <a:xfrm>
            <a:off x="731520" y="3017520"/>
            <a:ext cx="3200400" cy="548640"/>
          </a:xfrm>
          <a:prstGeom prst="rect">
            <a:avLst/>
          </a:prstGeom>
          <a:noFill/>
        </p:spPr>
        <p:txBody>
          <a:bodyPr wrap="square" anchor="t" lIns="45720" rIns="45720">
            <a:spAutoFit/>
          </a:bodyPr>
          <a:lstStyle/>
          <a:p>
            <a:pPr algn="l"/>
            <a:r>
              <a:rPr sz="1500" b="0">
                <a:solidFill>
                  <a:srgbClr val="536B79"/>
                </a:solidFill>
                <a:latin typeface="Arial"/>
              </a:rPr>
              <a:t>Today's practice: the baseline</a:t>
            </a:r>
          </a:p>
        </p:txBody>
      </p:sp>
      <p:sp>
        <p:nvSpPr>
          <p:cNvPr id="8" name="Right Arrow 7"/>
          <p:cNvSpPr/>
          <p:nvPr/>
        </p:nvSpPr>
        <p:spPr>
          <a:xfrm>
            <a:off x="4096511" y="2286000"/>
            <a:ext cx="274320" cy="36576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0" y="1325880"/>
            <a:ext cx="3520440" cy="2331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417320"/>
            <a:ext cx="3200400" cy="457200"/>
          </a:xfrm>
          <a:prstGeom prst="rect">
            <a:avLst/>
          </a:prstGeom>
          <a:noFill/>
        </p:spPr>
        <p:txBody>
          <a:bodyPr wrap="square" anchor="t" lIns="45720" rIns="45720">
            <a:spAutoFit/>
          </a:bodyPr>
          <a:lstStyle/>
          <a:p>
            <a:pPr algn="l"/>
            <a:r>
              <a:rPr sz="2200" b="1">
                <a:solidFill>
                  <a:srgbClr val="172D3D"/>
                </a:solidFill>
                <a:latin typeface="Arial"/>
              </a:rPr>
              <a:t>Reactive</a:t>
            </a:r>
          </a:p>
        </p:txBody>
      </p:sp>
      <p:sp>
        <p:nvSpPr>
          <p:cNvPr id="11" name="TextBox 10"/>
          <p:cNvSpPr txBox="1"/>
          <p:nvPr/>
        </p:nvSpPr>
        <p:spPr>
          <a:xfrm>
            <a:off x="4572000" y="1965960"/>
            <a:ext cx="3200400" cy="914400"/>
          </a:xfrm>
          <a:prstGeom prst="rect">
            <a:avLst/>
          </a:prstGeom>
          <a:noFill/>
        </p:spPr>
        <p:txBody>
          <a:bodyPr wrap="square" anchor="t" lIns="45720" rIns="45720">
            <a:spAutoFit/>
          </a:bodyPr>
          <a:lstStyle/>
          <a:p>
            <a:pPr algn="l"/>
            <a:r>
              <a:rPr sz="1800" b="0">
                <a:solidFill>
                  <a:srgbClr val="172D3D"/>
                </a:solidFill>
                <a:latin typeface="Arial"/>
              </a:rPr>
              <a:t>Distance + how fast you approach</a:t>
            </a:r>
          </a:p>
        </p:txBody>
      </p:sp>
      <p:sp>
        <p:nvSpPr>
          <p:cNvPr id="12" name="TextBox 11"/>
          <p:cNvSpPr txBox="1"/>
          <p:nvPr/>
        </p:nvSpPr>
        <p:spPr>
          <a:xfrm>
            <a:off x="4572000" y="3017520"/>
            <a:ext cx="3200400" cy="548640"/>
          </a:xfrm>
          <a:prstGeom prst="rect">
            <a:avLst/>
          </a:prstGeom>
          <a:noFill/>
        </p:spPr>
        <p:txBody>
          <a:bodyPr wrap="square" anchor="t" lIns="45720" rIns="45720">
            <a:spAutoFit/>
          </a:bodyPr>
          <a:lstStyle/>
          <a:p>
            <a:pPr algn="l"/>
            <a:r>
              <a:rPr sz="1500" b="0">
                <a:solidFill>
                  <a:srgbClr val="536B79"/>
                </a:solidFill>
                <a:latin typeface="Arial"/>
              </a:rPr>
              <a:t>Shows what movement adds</a:t>
            </a:r>
          </a:p>
        </p:txBody>
      </p:sp>
      <p:sp>
        <p:nvSpPr>
          <p:cNvPr id="13" name="Right Arrow 12"/>
          <p:cNvSpPr/>
          <p:nvPr/>
        </p:nvSpPr>
        <p:spPr>
          <a:xfrm>
            <a:off x="7936992" y="2286000"/>
            <a:ext cx="274320" cy="36576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1325880"/>
            <a:ext cx="3520440" cy="2331720"/>
          </a:xfrm>
          <a:prstGeom prst="roundRect">
            <a:avLst>
              <a:gd name="adj" fmla="val 8000"/>
            </a:avLst>
          </a:prstGeom>
          <a:solidFill>
            <a:srgbClr val="E5EDF2"/>
          </a:solidFill>
          <a:ln w="19050">
            <a:solidFill>
              <a:srgbClr val="006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417320"/>
            <a:ext cx="3200400" cy="457200"/>
          </a:xfrm>
          <a:prstGeom prst="rect">
            <a:avLst/>
          </a:prstGeom>
          <a:noFill/>
        </p:spPr>
        <p:txBody>
          <a:bodyPr wrap="square" anchor="t" lIns="45720" rIns="45720">
            <a:spAutoFit/>
          </a:bodyPr>
          <a:lstStyle/>
          <a:p>
            <a:pPr algn="l"/>
            <a:r>
              <a:rPr sz="2200" b="1">
                <a:solidFill>
                  <a:srgbClr val="006DAE"/>
                </a:solidFill>
                <a:latin typeface="Arial"/>
              </a:rPr>
              <a:t>Predictive (ours)</a:t>
            </a:r>
          </a:p>
        </p:txBody>
      </p:sp>
      <p:sp>
        <p:nvSpPr>
          <p:cNvPr id="16" name="TextBox 15"/>
          <p:cNvSpPr txBox="1"/>
          <p:nvPr/>
        </p:nvSpPr>
        <p:spPr>
          <a:xfrm>
            <a:off x="8412480" y="1965960"/>
            <a:ext cx="3200400" cy="914400"/>
          </a:xfrm>
          <a:prstGeom prst="rect">
            <a:avLst/>
          </a:prstGeom>
          <a:noFill/>
        </p:spPr>
        <p:txBody>
          <a:bodyPr wrap="square" anchor="t" lIns="45720" rIns="45720">
            <a:spAutoFit/>
          </a:bodyPr>
          <a:lstStyle/>
          <a:p>
            <a:pPr algn="l"/>
            <a:r>
              <a:rPr sz="1800" b="0">
                <a:solidFill>
                  <a:srgbClr val="172D3D"/>
                </a:solidFill>
                <a:latin typeface="Arial"/>
              </a:rPr>
              <a:t>+ task phase
+ 'about to step in' predictor</a:t>
            </a:r>
          </a:p>
        </p:txBody>
      </p:sp>
      <p:sp>
        <p:nvSpPr>
          <p:cNvPr id="17" name="TextBox 16"/>
          <p:cNvSpPr txBox="1"/>
          <p:nvPr/>
        </p:nvSpPr>
        <p:spPr>
          <a:xfrm>
            <a:off x="8412480" y="3017520"/>
            <a:ext cx="3200400" cy="548640"/>
          </a:xfrm>
          <a:prstGeom prst="rect">
            <a:avLst/>
          </a:prstGeom>
          <a:noFill/>
        </p:spPr>
        <p:txBody>
          <a:bodyPr wrap="square" anchor="t" lIns="45720" rIns="45720">
            <a:spAutoFit/>
          </a:bodyPr>
          <a:lstStyle/>
          <a:p>
            <a:pPr algn="l"/>
            <a:r>
              <a:rPr sz="1500" b="0">
                <a:solidFill>
                  <a:srgbClr val="536B79"/>
                </a:solidFill>
                <a:latin typeface="Arial"/>
              </a:rPr>
              <a:t>Shows what context adds</a:t>
            </a:r>
          </a:p>
        </p:txBody>
      </p:sp>
      <p:sp>
        <p:nvSpPr>
          <p:cNvPr id="18" name="Rounded Rectangle 17"/>
          <p:cNvSpPr/>
          <p:nvPr/>
        </p:nvSpPr>
        <p:spPr>
          <a:xfrm>
            <a:off x="548640" y="3886200"/>
            <a:ext cx="11201400" cy="77724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931920"/>
            <a:ext cx="10881360" cy="685800"/>
          </a:xfrm>
          <a:prstGeom prst="rect">
            <a:avLst/>
          </a:prstGeom>
          <a:noFill/>
        </p:spPr>
        <p:txBody>
          <a:bodyPr wrap="square" anchor="ctr" lIns="45720" rIns="45720">
            <a:spAutoFit/>
          </a:bodyPr>
          <a:lstStyle/>
          <a:p>
            <a:pPr algn="l"/>
            <a:r>
              <a:rPr sz="2100" b="1">
                <a:solidFill>
                  <a:srgbClr val="FFFFFF"/>
                </a:solidFill>
                <a:latin typeface="Arial"/>
              </a:rPr>
              <a:t>Safety rule: the learned parts can only slow the robot, never speed it up</a:t>
            </a:r>
          </a:p>
        </p:txBody>
      </p:sp>
      <p:sp>
        <p:nvSpPr>
          <p:cNvPr id="20" name="TextBox 19"/>
          <p:cNvSpPr txBox="1"/>
          <p:nvPr/>
        </p:nvSpPr>
        <p:spPr>
          <a:xfrm>
            <a:off x="54864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speed and separation?</a:t>
            </a:r>
          </a:p>
          <a:p>
            <a:pPr algn="l">
              <a:spcBef>
                <a:spcPts val="720"/>
              </a:spcBef>
            </a:pPr>
            <a:r>
              <a:rPr sz="1600" b="0">
                <a:solidFill>
                  <a:srgbClr val="172D3D"/>
                </a:solidFill>
                <a:latin typeface="Arial"/>
              </a:rPr>
              <a:t>The robot carries a panel, so contact while moving is not acceptable</a:t>
            </a:r>
          </a:p>
        </p:txBody>
      </p:sp>
      <p:sp>
        <p:nvSpPr>
          <p:cNvPr id="21" name="TextBox 20"/>
          <p:cNvSpPr txBox="1"/>
          <p:nvPr/>
        </p:nvSpPr>
        <p:spPr>
          <a:xfrm>
            <a:off x="438912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a hidden Markov model?</a:t>
            </a:r>
          </a:p>
          <a:p>
            <a:pPr algn="l">
              <a:spcBef>
                <a:spcPts val="720"/>
              </a:spcBef>
            </a:pPr>
            <a:r>
              <a:rPr sz="1600" b="0">
                <a:solidFill>
                  <a:srgbClr val="172D3D"/>
                </a:solidFill>
                <a:latin typeface="Arial"/>
              </a:rPr>
              <a:t>Explainable phases, little training data, runs in real time</a:t>
            </a:r>
          </a:p>
        </p:txBody>
      </p:sp>
      <p:sp>
        <p:nvSpPr>
          <p:cNvPr id="22" name="TextBox 21"/>
          <p:cNvSpPr txBox="1"/>
          <p:nvPr/>
        </p:nvSpPr>
        <p:spPr>
          <a:xfrm>
            <a:off x="8229600" y="4846320"/>
            <a:ext cx="3566160" cy="1371600"/>
          </a:xfrm>
          <a:prstGeom prst="rect">
            <a:avLst/>
          </a:prstGeom>
          <a:noFill/>
        </p:spPr>
        <p:txBody>
          <a:bodyPr wrap="square" anchor="t" lIns="45720" rIns="45720">
            <a:spAutoFit/>
          </a:bodyPr>
          <a:lstStyle/>
          <a:p>
            <a:pPr algn="l"/>
            <a:r>
              <a:rPr sz="1600" b="1">
                <a:solidFill>
                  <a:srgbClr val="006DAE"/>
                </a:solidFill>
                <a:latin typeface="Arial"/>
              </a:rPr>
              <a:t>Why the 'slow-only' rule?</a:t>
            </a:r>
          </a:p>
          <a:p>
            <a:pPr algn="l">
              <a:spcBef>
                <a:spcPts val="720"/>
              </a:spcBef>
            </a:pPr>
            <a:r>
              <a:rPr sz="1600" b="0">
                <a:solidFill>
                  <a:srgbClr val="172D3D"/>
                </a:solidFill>
                <a:latin typeface="Arial"/>
              </a:rPr>
              <a:t>Safety never depends on the machine-learning being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How we tested it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05</a:t>
            </a:r>
          </a:p>
        </p:txBody>
      </p:sp>
      <p:sp>
        <p:nvSpPr>
          <p:cNvPr id="4" name="Rounded Rectangle 3"/>
          <p:cNvSpPr/>
          <p:nvPr/>
        </p:nvSpPr>
        <p:spPr>
          <a:xfrm>
            <a:off x="548640"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2514600" cy="822960"/>
          </a:xfrm>
          <a:prstGeom prst="rect">
            <a:avLst/>
          </a:prstGeom>
          <a:noFill/>
        </p:spPr>
        <p:txBody>
          <a:bodyPr wrap="square" anchor="t" lIns="45720" rIns="45720">
            <a:spAutoFit/>
          </a:bodyPr>
          <a:lstStyle/>
          <a:p>
            <a:pPr algn="ctr"/>
            <a:r>
              <a:rPr sz="4400" b="1">
                <a:solidFill>
                  <a:srgbClr val="006DAE"/>
                </a:solidFill>
                <a:latin typeface="Arial"/>
              </a:rPr>
              <a:t>12</a:t>
            </a:r>
          </a:p>
        </p:txBody>
      </p:sp>
      <p:sp>
        <p:nvSpPr>
          <p:cNvPr id="6" name="TextBox 5"/>
          <p:cNvSpPr txBox="1"/>
          <p:nvPr/>
        </p:nvSpPr>
        <p:spPr>
          <a:xfrm>
            <a:off x="640080" y="2194560"/>
            <a:ext cx="2331720" cy="1005840"/>
          </a:xfrm>
          <a:prstGeom prst="rect">
            <a:avLst/>
          </a:prstGeom>
          <a:noFill/>
        </p:spPr>
        <p:txBody>
          <a:bodyPr wrap="square" anchor="t" lIns="45720" rIns="45720">
            <a:spAutoFit/>
          </a:bodyPr>
          <a:lstStyle/>
          <a:p>
            <a:pPr algn="ctr"/>
            <a:r>
              <a:rPr sz="1600" b="0">
                <a:solidFill>
                  <a:srgbClr val="172D3D"/>
                </a:solidFill>
                <a:latin typeface="Arial"/>
              </a:rPr>
              <a:t>participants (ethics approved)</a:t>
            </a:r>
          </a:p>
        </p:txBody>
      </p:sp>
      <p:sp>
        <p:nvSpPr>
          <p:cNvPr id="7" name="Right Arrow 6"/>
          <p:cNvSpPr/>
          <p:nvPr/>
        </p:nvSpPr>
        <p:spPr>
          <a:xfrm>
            <a:off x="3090672"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29000"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371600"/>
            <a:ext cx="2514600" cy="822960"/>
          </a:xfrm>
          <a:prstGeom prst="rect">
            <a:avLst/>
          </a:prstGeom>
          <a:noFill/>
        </p:spPr>
        <p:txBody>
          <a:bodyPr wrap="square" anchor="t" lIns="45720" rIns="45720">
            <a:spAutoFit/>
          </a:bodyPr>
          <a:lstStyle/>
          <a:p>
            <a:pPr algn="ctr"/>
            <a:r>
              <a:rPr sz="4400" b="1">
                <a:solidFill>
                  <a:srgbClr val="006DAE"/>
                </a:solidFill>
                <a:latin typeface="Arial"/>
              </a:rPr>
              <a:t>3</a:t>
            </a:r>
          </a:p>
        </p:txBody>
      </p:sp>
      <p:sp>
        <p:nvSpPr>
          <p:cNvPr id="10" name="TextBox 9"/>
          <p:cNvSpPr txBox="1"/>
          <p:nvPr/>
        </p:nvSpPr>
        <p:spPr>
          <a:xfrm>
            <a:off x="3520440" y="2194560"/>
            <a:ext cx="2331720" cy="1005840"/>
          </a:xfrm>
          <a:prstGeom prst="rect">
            <a:avLst/>
          </a:prstGeom>
          <a:noFill/>
        </p:spPr>
        <p:txBody>
          <a:bodyPr wrap="square" anchor="t" lIns="45720" rIns="45720">
            <a:spAutoFit/>
          </a:bodyPr>
          <a:lstStyle/>
          <a:p>
            <a:pPr algn="ctr"/>
            <a:r>
              <a:rPr sz="1600" b="0">
                <a:solidFill>
                  <a:srgbClr val="172D3D"/>
                </a:solidFill>
                <a:latin typeface="Arial"/>
              </a:rPr>
              <a:t>blocks, one controller each, order rotated</a:t>
            </a:r>
          </a:p>
        </p:txBody>
      </p:sp>
      <p:sp>
        <p:nvSpPr>
          <p:cNvPr id="11" name="Right Arrow 10"/>
          <p:cNvSpPr/>
          <p:nvPr/>
        </p:nvSpPr>
        <p:spPr>
          <a:xfrm>
            <a:off x="5971031"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59"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371600"/>
            <a:ext cx="2514600" cy="822960"/>
          </a:xfrm>
          <a:prstGeom prst="rect">
            <a:avLst/>
          </a:prstGeom>
          <a:noFill/>
        </p:spPr>
        <p:txBody>
          <a:bodyPr wrap="square" anchor="t" lIns="45720" rIns="45720">
            <a:spAutoFit/>
          </a:bodyPr>
          <a:lstStyle/>
          <a:p>
            <a:pPr algn="ctr"/>
            <a:r>
              <a:rPr sz="4400" b="1">
                <a:solidFill>
                  <a:srgbClr val="006DAE"/>
                </a:solidFill>
                <a:latin typeface="Arial"/>
              </a:rPr>
              <a:t>105</a:t>
            </a:r>
          </a:p>
        </p:txBody>
      </p:sp>
      <p:sp>
        <p:nvSpPr>
          <p:cNvPr id="14" name="TextBox 13"/>
          <p:cNvSpPr txBox="1"/>
          <p:nvPr/>
        </p:nvSpPr>
        <p:spPr>
          <a:xfrm>
            <a:off x="6400799" y="2194560"/>
            <a:ext cx="2331720" cy="1005840"/>
          </a:xfrm>
          <a:prstGeom prst="rect">
            <a:avLst/>
          </a:prstGeom>
          <a:noFill/>
        </p:spPr>
        <p:txBody>
          <a:bodyPr wrap="square" anchor="t" lIns="45720" rIns="45720">
            <a:spAutoFit/>
          </a:bodyPr>
          <a:lstStyle/>
          <a:p>
            <a:pPr algn="ctr"/>
            <a:r>
              <a:rPr sz="1600" b="0">
                <a:solidFill>
                  <a:srgbClr val="172D3D"/>
                </a:solidFill>
                <a:latin typeface="Arial"/>
              </a:rPr>
              <a:t>trials of the panel task, with cued moves</a:t>
            </a:r>
          </a:p>
        </p:txBody>
      </p:sp>
      <p:sp>
        <p:nvSpPr>
          <p:cNvPr id="15" name="Right Arrow 14"/>
          <p:cNvSpPr/>
          <p:nvPr/>
        </p:nvSpPr>
        <p:spPr>
          <a:xfrm>
            <a:off x="8851392" y="2103120"/>
            <a:ext cx="301752"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89719" y="1325880"/>
            <a:ext cx="2514600" cy="178308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19" y="1371600"/>
            <a:ext cx="2514600" cy="822960"/>
          </a:xfrm>
          <a:prstGeom prst="rect">
            <a:avLst/>
          </a:prstGeom>
          <a:noFill/>
        </p:spPr>
        <p:txBody>
          <a:bodyPr wrap="square" anchor="t" lIns="45720" rIns="45720">
            <a:spAutoFit/>
          </a:bodyPr>
          <a:lstStyle/>
          <a:p>
            <a:pPr algn="ctr"/>
            <a:r>
              <a:rPr sz="4400" b="1">
                <a:solidFill>
                  <a:srgbClr val="006DAE"/>
                </a:solidFill>
                <a:latin typeface="Arial"/>
              </a:rPr>
              <a:t>31</a:t>
            </a:r>
          </a:p>
        </p:txBody>
      </p:sp>
      <p:sp>
        <p:nvSpPr>
          <p:cNvPr id="18" name="TextBox 17"/>
          <p:cNvSpPr txBox="1"/>
          <p:nvPr/>
        </p:nvSpPr>
        <p:spPr>
          <a:xfrm>
            <a:off x="9281159" y="2194560"/>
            <a:ext cx="2331720" cy="1005840"/>
          </a:xfrm>
          <a:prstGeom prst="rect">
            <a:avLst/>
          </a:prstGeom>
          <a:noFill/>
        </p:spPr>
        <p:txBody>
          <a:bodyPr wrap="square" anchor="t" lIns="45720" rIns="45720">
            <a:spAutoFit/>
          </a:bodyPr>
          <a:lstStyle/>
          <a:p>
            <a:pPr algn="ctr"/>
            <a:r>
              <a:rPr sz="1600" b="0">
                <a:solidFill>
                  <a:srgbClr val="172D3D"/>
                </a:solidFill>
                <a:latin typeface="Arial"/>
              </a:rPr>
              <a:t>questionnaires, one after each block</a:t>
            </a:r>
          </a:p>
        </p:txBody>
      </p:sp>
      <p:sp>
        <p:nvSpPr>
          <p:cNvPr id="19" name="Rounded Rectangle 18"/>
          <p:cNvSpPr/>
          <p:nvPr/>
        </p:nvSpPr>
        <p:spPr>
          <a:xfrm>
            <a:off x="548640" y="3337560"/>
            <a:ext cx="11201400" cy="2468880"/>
          </a:xfrm>
          <a:prstGeom prst="roundRect">
            <a:avLst>
              <a:gd name="adj" fmla="val 8000"/>
            </a:avLst>
          </a:prstGeom>
          <a:solidFill>
            <a:srgbClr val="FFFFFF"/>
          </a:solidFill>
          <a:ln w="19050">
            <a:solidFill>
              <a:srgbClr val="006D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74720"/>
            <a:ext cx="10607040" cy="502920"/>
          </a:xfrm>
          <a:prstGeom prst="rect">
            <a:avLst/>
          </a:prstGeom>
          <a:noFill/>
        </p:spPr>
        <p:txBody>
          <a:bodyPr wrap="square" anchor="t" lIns="45720" rIns="45720">
            <a:spAutoFit/>
          </a:bodyPr>
          <a:lstStyle/>
          <a:p>
            <a:pPr algn="l"/>
            <a:r>
              <a:rPr sz="2200" b="1">
                <a:solidFill>
                  <a:srgbClr val="006DAE"/>
                </a:solidFill>
                <a:latin typeface="Arial"/>
              </a:rPr>
              <a:t>The key idea: same-input replay</a:t>
            </a:r>
          </a:p>
        </p:txBody>
      </p:sp>
      <p:sp>
        <p:nvSpPr>
          <p:cNvPr id="21" name="TextBox 20"/>
          <p:cNvSpPr txBox="1"/>
          <p:nvPr/>
        </p:nvSpPr>
        <p:spPr>
          <a:xfrm>
            <a:off x="822960" y="4023360"/>
            <a:ext cx="10698480" cy="1737360"/>
          </a:xfrm>
          <a:prstGeom prst="rect">
            <a:avLst/>
          </a:prstGeom>
          <a:noFill/>
        </p:spPr>
        <p:txBody>
          <a:bodyPr wrap="square" anchor="t" lIns="45720" rIns="45720">
            <a:spAutoFit/>
          </a:bodyPr>
          <a:lstStyle/>
          <a:p>
            <a:pPr algn="l"/>
            <a:r>
              <a:rPr sz="1800" b="0">
                <a:solidFill>
                  <a:srgbClr val="172D3D"/>
                </a:solidFill>
                <a:latin typeface="Arial"/>
              </a:rPr>
              <a:t>Every sensor input was logged, so we re-ran all three controllers on exactly the same human movement.</a:t>
            </a:r>
          </a:p>
          <a:p>
            <a:pPr algn="l">
              <a:spcBef>
                <a:spcPts val="810"/>
              </a:spcBef>
            </a:pPr>
            <a:r>
              <a:rPr sz="1800" b="1">
                <a:solidFill>
                  <a:srgbClr val="172D3D"/>
                </a:solidFill>
                <a:latin typeface="Arial"/>
              </a:rPr>
              <a:t>Like three referees judging the same match footage: </a:t>
            </a:r>
            <a:r>
              <a:rPr sz="1800" b="0">
                <a:solidFill>
                  <a:srgbClr val="172D3D"/>
                </a:solidFill>
                <a:latin typeface="Arial"/>
              </a:rPr>
              <a:t>differences come from the controller, not the person.</a:t>
            </a:r>
          </a:p>
          <a:p>
            <a:pPr algn="l">
              <a:spcBef>
                <a:spcPts val="810"/>
              </a:spcBef>
            </a:pPr>
            <a:r>
              <a:rPr sz="1800" b="0">
                <a:solidFill>
                  <a:srgbClr val="172D3D"/>
                </a:solidFill>
                <a:latin typeface="Arial"/>
              </a:rPr>
              <a:t>The replay matched every robot command the live system actually sent.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The test rig</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06</a:t>
            </a:r>
          </a:p>
        </p:txBody>
      </p:sp>
      <p:pic>
        <p:nvPicPr>
          <p:cNvPr id="4" name="Picture 3" descr="apparatus-a.jpg"/>
          <p:cNvPicPr>
            <a:picLocks noChangeAspect="1"/>
          </p:cNvPicPr>
          <p:nvPr/>
        </p:nvPicPr>
        <p:blipFill>
          <a:blip r:embed="rId2"/>
          <a:stretch>
            <a:fillRect/>
          </a:stretch>
        </p:blipFill>
        <p:spPr>
          <a:xfrm>
            <a:off x="7726679" y="3593592"/>
            <a:ext cx="4023360" cy="2263140"/>
          </a:xfrm>
          <a:prstGeom prst="rect">
            <a:avLst/>
          </a:prstGeom>
        </p:spPr>
      </p:pic>
      <p:pic>
        <p:nvPicPr>
          <p:cNvPr id="5" name="Picture 4" descr="apparatus-b.jpg"/>
          <p:cNvPicPr>
            <a:picLocks noChangeAspect="1"/>
          </p:cNvPicPr>
          <p:nvPr/>
        </p:nvPicPr>
        <p:blipFill>
          <a:blip r:embed="rId3"/>
          <a:stretch>
            <a:fillRect/>
          </a:stretch>
        </p:blipFill>
        <p:spPr>
          <a:xfrm>
            <a:off x="7726679" y="1234440"/>
            <a:ext cx="4023360" cy="2259787"/>
          </a:xfrm>
          <a:prstGeom prst="rect">
            <a:avLst/>
          </a:prstGeom>
        </p:spPr>
      </p:pic>
      <p:sp>
        <p:nvSpPr>
          <p:cNvPr id="7" name="TextBox 6"/>
          <p:cNvSpPr txBox="1"/>
          <p:nvPr/>
        </p:nvSpPr>
        <p:spPr>
          <a:xfrm>
            <a:off x="548640" y="5074920"/>
            <a:ext cx="2194560" cy="868680"/>
          </a:xfrm>
          <a:prstGeom prst="rect">
            <a:avLst/>
          </a:prstGeom>
          <a:noFill/>
        </p:spPr>
        <p:txBody>
          <a:bodyPr wrap="square" anchor="t" lIns="45720" rIns="45720">
            <a:spAutoFit/>
          </a:bodyPr>
          <a:lstStyle/>
          <a:p>
            <a:pPr algn="l"/>
            <a:r>
              <a:rPr sz="1500" b="1">
                <a:solidFill>
                  <a:srgbClr val="006DAE"/>
                </a:solidFill>
                <a:latin typeface="Arial"/>
              </a:rPr>
              <a:t>UR10 robot arm</a:t>
            </a:r>
          </a:p>
          <a:p>
            <a:pPr algn="l">
              <a:spcBef>
                <a:spcPts val="675"/>
              </a:spcBef>
            </a:pPr>
            <a:r>
              <a:rPr sz="1500" b="0">
                <a:solidFill>
                  <a:srgbClr val="172D3D"/>
                </a:solidFill>
                <a:latin typeface="Arial"/>
              </a:rPr>
              <a:t>holds a panel stand-in at ceiling height</a:t>
            </a:r>
          </a:p>
        </p:txBody>
      </p:sp>
      <p:sp>
        <p:nvSpPr>
          <p:cNvPr id="8" name="TextBox 7"/>
          <p:cNvSpPr txBox="1"/>
          <p:nvPr/>
        </p:nvSpPr>
        <p:spPr>
          <a:xfrm>
            <a:off x="2788920" y="5074920"/>
            <a:ext cx="2194560" cy="868680"/>
          </a:xfrm>
          <a:prstGeom prst="rect">
            <a:avLst/>
          </a:prstGeom>
          <a:noFill/>
        </p:spPr>
        <p:txBody>
          <a:bodyPr wrap="square" anchor="t" lIns="45720" rIns="45720">
            <a:spAutoFit/>
          </a:bodyPr>
          <a:lstStyle/>
          <a:p>
            <a:pPr algn="l"/>
            <a:r>
              <a:rPr sz="1500" b="1">
                <a:solidFill>
                  <a:srgbClr val="006DAE"/>
                </a:solidFill>
                <a:latin typeface="Arial"/>
              </a:rPr>
              <a:t>OptiTrack cameras</a:t>
            </a:r>
          </a:p>
          <a:p>
            <a:pPr algn="l">
              <a:spcBef>
                <a:spcPts val="675"/>
              </a:spcBef>
            </a:pPr>
            <a:r>
              <a:rPr sz="1500" b="0">
                <a:solidFill>
                  <a:srgbClr val="172D3D"/>
                </a:solidFill>
                <a:latin typeface="Arial"/>
              </a:rPr>
              <a:t>head position to about a millimetre</a:t>
            </a:r>
          </a:p>
        </p:txBody>
      </p:sp>
      <p:sp>
        <p:nvSpPr>
          <p:cNvPr id="9" name="TextBox 8"/>
          <p:cNvSpPr txBox="1"/>
          <p:nvPr/>
        </p:nvSpPr>
        <p:spPr>
          <a:xfrm>
            <a:off x="5029200" y="5074920"/>
            <a:ext cx="2194560" cy="868680"/>
          </a:xfrm>
          <a:prstGeom prst="rect">
            <a:avLst/>
          </a:prstGeom>
          <a:noFill/>
        </p:spPr>
        <p:txBody>
          <a:bodyPr wrap="square" anchor="t" lIns="45720" rIns="45720">
            <a:spAutoFit/>
          </a:bodyPr>
          <a:lstStyle/>
          <a:p>
            <a:pPr algn="l"/>
            <a:r>
              <a:rPr sz="1500" b="1">
                <a:solidFill>
                  <a:srgbClr val="006DAE"/>
                </a:solidFill>
                <a:latin typeface="Arial"/>
              </a:rPr>
              <a:t>Xsens suit</a:t>
            </a:r>
          </a:p>
          <a:p>
            <a:pPr algn="l">
              <a:spcBef>
                <a:spcPts val="675"/>
              </a:spcBef>
            </a:pPr>
            <a:r>
              <a:rPr sz="1500" b="0">
                <a:solidFill>
                  <a:srgbClr val="172D3D"/>
                </a:solidFill>
                <a:latin typeface="Arial"/>
              </a:rPr>
              <a:t>positions of 23 body segments</a:t>
            </a:r>
          </a:p>
        </p:txBody>
      </p:sp>
      <p:sp>
        <p:nvSpPr>
          <p:cNvPr id="10" name="TextBox 9"/>
          <p:cNvSpPr txBox="1"/>
          <p:nvPr/>
        </p:nvSpPr>
        <p:spPr>
          <a:xfrm>
            <a:off x="9921240" y="868680"/>
            <a:ext cx="1828800" cy="274320"/>
          </a:xfrm>
          <a:prstGeom prst="rect">
            <a:avLst/>
          </a:prstGeom>
          <a:noFill/>
        </p:spPr>
        <p:txBody>
          <a:bodyPr wrap="square" anchor="t" lIns="45720" rIns="45720">
            <a:spAutoFit/>
          </a:bodyPr>
          <a:lstStyle/>
          <a:p>
            <a:pPr algn="r"/>
            <a:r>
              <a:rPr sz="1100" b="0">
                <a:solidFill>
                  <a:srgbClr val="536B79"/>
                </a:solidFill>
                <a:latin typeface="Arial"/>
              </a:rPr>
              <a:t>Faces blurred</a:t>
            </a:r>
          </a:p>
        </p:txBody>
      </p:sp>
      <p:pic>
        <p:nvPicPr>
          <p:cNvPr id="11" name="clip-approach-xsens.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548640" y="1234440"/>
            <a:ext cx="6675120" cy="3754755"/>
          </a:xfrm>
          <a:prstGeom prst="rect">
            <a:avLst/>
          </a:prstGeom>
        </p:spPr>
      </p:pic>
      <p:sp>
        <p:nvSpPr>
          <p:cNvPr id="12" name="Rounded Rectangle 11"/>
          <p:cNvSpPr/>
          <p:nvPr/>
        </p:nvSpPr>
        <p:spPr>
          <a:xfrm>
            <a:off x="658368" y="1344168"/>
            <a:ext cx="2377440" cy="384048"/>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371600"/>
            <a:ext cx="2286000" cy="347472"/>
          </a:xfrm>
          <a:prstGeom prst="rect">
            <a:avLst/>
          </a:prstGeom>
          <a:noFill/>
        </p:spPr>
        <p:txBody>
          <a:bodyPr wrap="square" anchor="t" lIns="45720" rIns="45720">
            <a:spAutoFit/>
          </a:bodyPr>
          <a:lstStyle/>
          <a:p>
            <a:pPr algn="l"/>
            <a:r>
              <a:rPr sz="1300" b="1">
                <a:solidFill>
                  <a:srgbClr val="FFFFFF"/>
                </a:solidFill>
                <a:latin typeface="Arial"/>
              </a:rPr>
              <a:t>▶  Video: click to play (16 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1"/>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Result 1: all three stopped in time; ours stopped earliest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07</a:t>
            </a:r>
          </a:p>
        </p:txBody>
      </p:sp>
      <p:sp>
        <p:nvSpPr>
          <p:cNvPr id="4" name="TextBox 3"/>
          <p:cNvSpPr txBox="1"/>
          <p:nvPr/>
        </p:nvSpPr>
        <p:spPr>
          <a:xfrm>
            <a:off x="548640" y="1371600"/>
            <a:ext cx="4937760" cy="868680"/>
          </a:xfrm>
          <a:prstGeom prst="rect">
            <a:avLst/>
          </a:prstGeom>
          <a:noFill/>
        </p:spPr>
        <p:txBody>
          <a:bodyPr wrap="square" anchor="t" lIns="45720" rIns="45720">
            <a:spAutoFit/>
          </a:bodyPr>
          <a:lstStyle/>
          <a:p>
            <a:pPr algn="l"/>
            <a:r>
              <a:rPr sz="4800" b="1">
                <a:solidFill>
                  <a:srgbClr val="006DAE"/>
                </a:solidFill>
                <a:latin typeface="Arial"/>
              </a:rPr>
              <a:t>970 / 970</a:t>
            </a:r>
          </a:p>
        </p:txBody>
      </p:sp>
      <p:sp>
        <p:nvSpPr>
          <p:cNvPr id="5" name="TextBox 4"/>
          <p:cNvSpPr txBox="1"/>
          <p:nvPr/>
        </p:nvSpPr>
        <p:spPr>
          <a:xfrm>
            <a:off x="548640" y="2212848"/>
            <a:ext cx="4937760" cy="822960"/>
          </a:xfrm>
          <a:prstGeom prst="rect">
            <a:avLst/>
          </a:prstGeom>
          <a:noFill/>
        </p:spPr>
        <p:txBody>
          <a:bodyPr wrap="square" anchor="t" lIns="45720" rIns="45720">
            <a:spAutoFit/>
          </a:bodyPr>
          <a:lstStyle/>
          <a:p>
            <a:pPr algn="l"/>
            <a:r>
              <a:rPr sz="1700" b="0">
                <a:solidFill>
                  <a:srgbClr val="172D3D"/>
                </a:solidFill>
                <a:latin typeface="Arial"/>
              </a:rPr>
              <a:t>entries into the stop zone where a stop had already been requested, for all three controllers</a:t>
            </a:r>
          </a:p>
        </p:txBody>
      </p:sp>
      <p:sp>
        <p:nvSpPr>
          <p:cNvPr id="6" name="TextBox 5"/>
          <p:cNvSpPr txBox="1"/>
          <p:nvPr/>
        </p:nvSpPr>
        <p:spPr>
          <a:xfrm>
            <a:off x="548640" y="3429000"/>
            <a:ext cx="4937760" cy="868680"/>
          </a:xfrm>
          <a:prstGeom prst="rect">
            <a:avLst/>
          </a:prstGeom>
          <a:noFill/>
        </p:spPr>
        <p:txBody>
          <a:bodyPr wrap="square" anchor="t" lIns="45720" rIns="45720">
            <a:spAutoFit/>
          </a:bodyPr>
          <a:lstStyle/>
          <a:p>
            <a:pPr algn="l"/>
            <a:r>
              <a:rPr sz="4800" b="1">
                <a:solidFill>
                  <a:srgbClr val="006DAE"/>
                </a:solidFill>
                <a:latin typeface="Arial"/>
              </a:rPr>
              <a:t>+0.11 s</a:t>
            </a:r>
          </a:p>
        </p:txBody>
      </p:sp>
      <p:sp>
        <p:nvSpPr>
          <p:cNvPr id="7" name="TextBox 6"/>
          <p:cNvSpPr txBox="1"/>
          <p:nvPr/>
        </p:nvSpPr>
        <p:spPr>
          <a:xfrm>
            <a:off x="548640" y="4270248"/>
            <a:ext cx="4937760" cy="822960"/>
          </a:xfrm>
          <a:prstGeom prst="rect">
            <a:avLst/>
          </a:prstGeom>
          <a:noFill/>
        </p:spPr>
        <p:txBody>
          <a:bodyPr wrap="square" anchor="t" lIns="45720" rIns="45720">
            <a:spAutoFit/>
          </a:bodyPr>
          <a:lstStyle/>
          <a:p>
            <a:pPr algn="l"/>
            <a:r>
              <a:rPr sz="1700" b="0">
                <a:solidFill>
                  <a:srgbClr val="172D3D"/>
                </a:solidFill>
                <a:latin typeface="Arial"/>
              </a:rPr>
              <a:t>earlier stop request than fixed zones, for all 12 people</a:t>
            </a:r>
          </a:p>
        </p:txBody>
      </p:sp>
      <p:graphicFrame>
        <p:nvGraphicFramePr>
          <p:cNvPr id="8" name="Chart 7"/>
          <p:cNvGraphicFramePr>
            <a:graphicFrameLocks noGrp="1"/>
          </p:cNvGraphicFramePr>
          <p:nvPr/>
        </p:nvGraphicFramePr>
        <p:xfrm>
          <a:off x="5852160" y="1280160"/>
          <a:ext cx="5897880" cy="4297680"/>
        </p:xfrm>
        <a:graphic>
          <a:graphicData uri="http://schemas.openxmlformats.org/drawingml/2006/chart">
            <c:chart xmlns:c="http://schemas.openxmlformats.org/drawingml/2006/chart" r:id="rId2"/>
          </a:graphicData>
        </a:graphic>
      </p:graphicFrame>
      <p:sp>
        <p:nvSpPr>
          <p:cNvPr id="9" name="TextBox 8"/>
          <p:cNvSpPr txBox="1"/>
          <p:nvPr/>
        </p:nvSpPr>
        <p:spPr>
          <a:xfrm>
            <a:off x="5852160" y="5669280"/>
            <a:ext cx="5897880" cy="365760"/>
          </a:xfrm>
          <a:prstGeom prst="rect">
            <a:avLst/>
          </a:prstGeom>
          <a:noFill/>
        </p:spPr>
        <p:txBody>
          <a:bodyPr wrap="square" anchor="t" lIns="45720" rIns="45720">
            <a:spAutoFit/>
          </a:bodyPr>
          <a:lstStyle/>
          <a:p>
            <a:pPr algn="l"/>
            <a:r>
              <a:rPr sz="1300" b="0">
                <a:solidFill>
                  <a:srgbClr val="536B79"/>
                </a:solidFill>
                <a:latin typeface="Arial"/>
              </a:rPr>
              <a:t>Same-input replay, 12 people, 105 trials</a:t>
            </a:r>
          </a:p>
        </p:txBody>
      </p:sp>
      <p:sp>
        <p:nvSpPr>
          <p:cNvPr id="10" name="Rounded Rectangle 9"/>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is it as safe?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Result 2: the cost was brief, unnoticed extra stops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08</a:t>
            </a:r>
          </a:p>
        </p:txBody>
      </p:sp>
      <p:graphicFrame>
        <p:nvGraphicFramePr>
          <p:cNvPr id="4" name="Chart 3"/>
          <p:cNvGraphicFramePr>
            <a:graphicFrameLocks noGrp="1"/>
          </p:cNvGraphicFramePr>
          <p:nvPr/>
        </p:nvGraphicFramePr>
        <p:xfrm>
          <a:off x="548640" y="1280160"/>
          <a:ext cx="5760720" cy="4297680"/>
        </p:xfrm>
        <a:graphic>
          <a:graphicData uri="http://schemas.openxmlformats.org/drawingml/2006/chart">
            <c:chart xmlns:c="http://schemas.openxmlformats.org/drawingml/2006/chart" r:id="rId2"/>
          </a:graphicData>
        </a:graphic>
      </p:graphicFrame>
      <p:sp>
        <p:nvSpPr>
          <p:cNvPr id="5" name="TextBox 4"/>
          <p:cNvSpPr txBox="1"/>
          <p:nvPr/>
        </p:nvSpPr>
        <p:spPr>
          <a:xfrm>
            <a:off x="6675120" y="1280160"/>
            <a:ext cx="5029200" cy="868680"/>
          </a:xfrm>
          <a:prstGeom prst="rect">
            <a:avLst/>
          </a:prstGeom>
          <a:noFill/>
        </p:spPr>
        <p:txBody>
          <a:bodyPr wrap="square" anchor="t" lIns="45720" rIns="45720">
            <a:spAutoFit/>
          </a:bodyPr>
          <a:lstStyle/>
          <a:p>
            <a:pPr algn="l"/>
            <a:r>
              <a:rPr sz="4400" b="1">
                <a:solidFill>
                  <a:srgbClr val="006DAE"/>
                </a:solidFill>
                <a:latin typeface="Arial"/>
              </a:rPr>
              <a:t>+0.9 s</a:t>
            </a:r>
          </a:p>
        </p:txBody>
      </p:sp>
      <p:sp>
        <p:nvSpPr>
          <p:cNvPr id="6" name="TextBox 5"/>
          <p:cNvSpPr txBox="1"/>
          <p:nvPr/>
        </p:nvSpPr>
        <p:spPr>
          <a:xfrm>
            <a:off x="6675120" y="2121408"/>
            <a:ext cx="5029200" cy="822960"/>
          </a:xfrm>
          <a:prstGeom prst="rect">
            <a:avLst/>
          </a:prstGeom>
          <a:noFill/>
        </p:spPr>
        <p:txBody>
          <a:bodyPr wrap="square" anchor="t" lIns="45720" rIns="45720">
            <a:spAutoFit/>
          </a:bodyPr>
          <a:lstStyle/>
          <a:p>
            <a:pPr algn="l"/>
            <a:r>
              <a:rPr sz="1700" b="0">
                <a:solidFill>
                  <a:srgbClr val="172D3D"/>
                </a:solidFill>
                <a:latin typeface="Arial"/>
              </a:rPr>
              <a:t>of unnecessary stopping per minute, compared with fixed zones</a:t>
            </a:r>
          </a:p>
        </p:txBody>
      </p:sp>
      <p:sp>
        <p:nvSpPr>
          <p:cNvPr id="7" name="TextBox 6"/>
          <p:cNvSpPr txBox="1"/>
          <p:nvPr/>
        </p:nvSpPr>
        <p:spPr>
          <a:xfrm>
            <a:off x="6675120" y="2788920"/>
            <a:ext cx="5029200" cy="868680"/>
          </a:xfrm>
          <a:prstGeom prst="rect">
            <a:avLst/>
          </a:prstGeom>
          <a:noFill/>
        </p:spPr>
        <p:txBody>
          <a:bodyPr wrap="square" anchor="t" lIns="45720" rIns="45720">
            <a:spAutoFit/>
          </a:bodyPr>
          <a:lstStyle/>
          <a:p>
            <a:pPr algn="l"/>
            <a:r>
              <a:rPr sz="4400" b="1">
                <a:solidFill>
                  <a:srgbClr val="006DAE"/>
                </a:solidFill>
                <a:latin typeface="Arial"/>
              </a:rPr>
              <a:t>3 · 5 · 3</a:t>
            </a:r>
          </a:p>
        </p:txBody>
      </p:sp>
      <p:sp>
        <p:nvSpPr>
          <p:cNvPr id="8" name="TextBox 7"/>
          <p:cNvSpPr txBox="1"/>
          <p:nvPr/>
        </p:nvSpPr>
        <p:spPr>
          <a:xfrm>
            <a:off x="6675120" y="3630168"/>
            <a:ext cx="5029200" cy="822960"/>
          </a:xfrm>
          <a:prstGeom prst="rect">
            <a:avLst/>
          </a:prstGeom>
          <a:noFill/>
        </p:spPr>
        <p:txBody>
          <a:bodyPr wrap="square" anchor="t" lIns="45720" rIns="45720">
            <a:spAutoFit/>
          </a:bodyPr>
          <a:lstStyle/>
          <a:p>
            <a:pPr algn="l"/>
            <a:r>
              <a:rPr sz="1700" b="0">
                <a:solidFill>
                  <a:srgbClr val="172D3D"/>
                </a:solidFill>
                <a:latin typeface="Arial"/>
              </a:rPr>
              <a:t>times each controller was picked as 'safest': no better than chance</a:t>
            </a:r>
          </a:p>
        </p:txBody>
      </p:sp>
      <p:sp>
        <p:nvSpPr>
          <p:cNvPr id="9" name="TextBox 8"/>
          <p:cNvSpPr txBox="1"/>
          <p:nvPr/>
        </p:nvSpPr>
        <p:spPr>
          <a:xfrm>
            <a:off x="6675120" y="4297680"/>
            <a:ext cx="5029200" cy="868680"/>
          </a:xfrm>
          <a:prstGeom prst="rect">
            <a:avLst/>
          </a:prstGeom>
          <a:noFill/>
        </p:spPr>
        <p:txBody>
          <a:bodyPr wrap="square" anchor="t" lIns="45720" rIns="45720">
            <a:spAutoFit/>
          </a:bodyPr>
          <a:lstStyle/>
          <a:p>
            <a:pPr algn="l"/>
            <a:r>
              <a:rPr sz="4400" b="1">
                <a:solidFill>
                  <a:srgbClr val="006DAE"/>
                </a:solidFill>
                <a:latin typeface="Arial"/>
              </a:rPr>
              <a:t>0.16 s</a:t>
            </a:r>
          </a:p>
        </p:txBody>
      </p:sp>
      <p:sp>
        <p:nvSpPr>
          <p:cNvPr id="10" name="TextBox 9"/>
          <p:cNvSpPr txBox="1"/>
          <p:nvPr/>
        </p:nvSpPr>
        <p:spPr>
          <a:xfrm>
            <a:off x="6675120" y="5138928"/>
            <a:ext cx="5029200" cy="822960"/>
          </a:xfrm>
          <a:prstGeom prst="rect">
            <a:avLst/>
          </a:prstGeom>
          <a:noFill/>
        </p:spPr>
        <p:txBody>
          <a:bodyPr wrap="square" anchor="t" lIns="45720" rIns="45720">
            <a:spAutoFit/>
          </a:bodyPr>
          <a:lstStyle/>
          <a:p>
            <a:pPr algn="l"/>
            <a:r>
              <a:rPr sz="1700" b="0">
                <a:solidFill>
                  <a:srgbClr val="172D3D"/>
                </a:solidFill>
                <a:latin typeface="Arial"/>
              </a:rPr>
              <a:t>median time for the robot to actually stop (max 0.23 s)</a:t>
            </a:r>
          </a:p>
        </p:txBody>
      </p:sp>
      <p:sp>
        <p:nvSpPr>
          <p:cNvPr id="11" name="Rounded Rectangle 10"/>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is it still efficient?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The bigger limit is the task, not the controller</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09</a:t>
            </a:r>
          </a:p>
        </p:txBody>
      </p:sp>
      <p:graphicFrame>
        <p:nvGraphicFramePr>
          <p:cNvPr id="4" name="Chart 3"/>
          <p:cNvGraphicFramePr>
            <a:graphicFrameLocks noGrp="1"/>
          </p:cNvGraphicFramePr>
          <p:nvPr/>
        </p:nvGraphicFramePr>
        <p:xfrm>
          <a:off x="548640" y="1280160"/>
          <a:ext cx="5760720" cy="4297680"/>
        </p:xfrm>
        <a:graphic>
          <a:graphicData uri="http://schemas.openxmlformats.org/drawingml/2006/chart">
            <c:chart xmlns:c="http://schemas.openxmlformats.org/drawingml/2006/chart" r:id="rId2"/>
          </a:graphicData>
        </a:graphic>
      </p:graphicFrame>
      <p:sp>
        <p:nvSpPr>
          <p:cNvPr id="5" name="TextBox 4"/>
          <p:cNvSpPr txBox="1"/>
          <p:nvPr/>
        </p:nvSpPr>
        <p:spPr>
          <a:xfrm>
            <a:off x="6675120" y="1463040"/>
            <a:ext cx="5029200" cy="2377440"/>
          </a:xfrm>
          <a:prstGeom prst="rect">
            <a:avLst/>
          </a:prstGeom>
          <a:noFill/>
        </p:spPr>
        <p:txBody>
          <a:bodyPr wrap="square" anchor="t" lIns="45720" rIns="45720">
            <a:spAutoFit/>
          </a:bodyPr>
          <a:lstStyle/>
          <a:p>
            <a:pPr algn="l"/>
            <a:r>
              <a:rPr sz="1900" b="1">
                <a:solidFill>
                  <a:srgbClr val="172D3D"/>
                </a:solidFill>
                <a:latin typeface="Arial"/>
              </a:rPr>
              <a:t>About a third of every trial was stopped, </a:t>
            </a:r>
            <a:r>
              <a:rPr sz="1900" b="0">
                <a:solidFill>
                  <a:srgbClr val="172D3D"/>
                </a:solidFill>
                <a:latin typeface="Arial"/>
              </a:rPr>
              <a:t>whichever controller ran.</a:t>
            </a:r>
          </a:p>
          <a:p>
            <a:pPr algn="l">
              <a:spcBef>
                <a:spcPts val="855"/>
              </a:spcBef>
            </a:pPr>
            <a:r>
              <a:rPr sz="1900" b="0">
                <a:solidFill>
                  <a:srgbClr val="172D3D"/>
                </a:solidFill>
                <a:latin typeface="Arial"/>
              </a:rPr>
              <a:t>The worker has to be close to load, work under and unload the panel, so the stop zone is occupied by design.</a:t>
            </a:r>
          </a:p>
        </p:txBody>
      </p:sp>
      <p:sp>
        <p:nvSpPr>
          <p:cNvPr id="6" name="Rounded Rectangle 5"/>
          <p:cNvSpPr/>
          <p:nvPr/>
        </p:nvSpPr>
        <p:spPr>
          <a:xfrm>
            <a:off x="6675120" y="3977639"/>
            <a:ext cx="5074920" cy="160020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0" y="4069080"/>
            <a:ext cx="4754880" cy="1417320"/>
          </a:xfrm>
          <a:prstGeom prst="rect">
            <a:avLst/>
          </a:prstGeom>
          <a:noFill/>
        </p:spPr>
        <p:txBody>
          <a:bodyPr wrap="square" anchor="ctr" lIns="45720" rIns="45720">
            <a:spAutoFit/>
          </a:bodyPr>
          <a:lstStyle/>
          <a:p>
            <a:pPr algn="l"/>
            <a:r>
              <a:rPr sz="1900" b="1">
                <a:solidFill>
                  <a:srgbClr val="FFFFFF"/>
                </a:solidFill>
                <a:latin typeface="Arial"/>
              </a:rPr>
              <a:t>Next gain: </a:t>
            </a:r>
            <a:r>
              <a:rPr sz="1900" b="0">
                <a:solidFill>
                  <a:srgbClr val="FFFFFF"/>
                </a:solidFill>
                <a:latin typeface="Arial"/>
              </a:rPr>
              <a:t>switch to a contact-safe mode while the worker is under the panel</a:t>
            </a:r>
          </a:p>
        </p:txBody>
      </p:sp>
      <p:sp>
        <p:nvSpPr>
          <p:cNvPr id="8" name="Rounded Rectangle 7"/>
          <p:cNvSpPr/>
          <p:nvPr/>
        </p:nvSpPr>
        <p:spPr>
          <a:xfrm>
            <a:off x="502920" y="91440"/>
            <a:ext cx="3291840" cy="329184"/>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00584"/>
            <a:ext cx="3200400" cy="310896"/>
          </a:xfrm>
          <a:prstGeom prst="rect">
            <a:avLst/>
          </a:prstGeom>
          <a:noFill/>
        </p:spPr>
        <p:txBody>
          <a:bodyPr wrap="square" anchor="t" lIns="45720" rIns="45720">
            <a:spAutoFit/>
          </a:bodyPr>
          <a:lstStyle/>
          <a:p>
            <a:pPr algn="l"/>
            <a:r>
              <a:rPr sz="1300" b="1">
                <a:solidFill>
                  <a:srgbClr val="FFFFFF"/>
                </a:solidFill>
                <a:latin typeface="Arial"/>
              </a:rPr>
              <a:t>Answers: where is the real gain?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Project management: plan, setbacks and responses</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10</a:t>
            </a:r>
          </a:p>
        </p:txBody>
      </p:sp>
      <p:sp>
        <p:nvSpPr>
          <p:cNvPr id="4" name="Rounded Rectangle 3"/>
          <p:cNvSpPr/>
          <p:nvPr/>
        </p:nvSpPr>
        <p:spPr>
          <a:xfrm>
            <a:off x="548640"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325880"/>
            <a:ext cx="2286000" cy="1097280"/>
          </a:xfrm>
          <a:prstGeom prst="rect">
            <a:avLst/>
          </a:prstGeom>
          <a:noFill/>
        </p:spPr>
        <p:txBody>
          <a:bodyPr wrap="square" anchor="t" lIns="45720" rIns="45720">
            <a:spAutoFit/>
          </a:bodyPr>
          <a:lstStyle/>
          <a:p>
            <a:pPr algn="l"/>
            <a:r>
              <a:rPr sz="2000" b="1">
                <a:solidFill>
                  <a:srgbClr val="172D3D"/>
                </a:solidFill>
                <a:latin typeface="Arial"/>
              </a:rPr>
              <a:t>Jul</a:t>
            </a:r>
          </a:p>
          <a:p>
            <a:pPr algn="l">
              <a:spcBef>
                <a:spcPts val="675"/>
              </a:spcBef>
            </a:pPr>
            <a:r>
              <a:rPr sz="1500" b="0">
                <a:solidFill>
                  <a:srgbClr val="172D3D"/>
                </a:solidFill>
                <a:latin typeface="Arial"/>
              </a:rPr>
              <a:t>Design and simulation</a:t>
            </a:r>
          </a:p>
        </p:txBody>
      </p:sp>
      <p:sp>
        <p:nvSpPr>
          <p:cNvPr id="6" name="Right Arrow 5"/>
          <p:cNvSpPr/>
          <p:nvPr/>
        </p:nvSpPr>
        <p:spPr>
          <a:xfrm>
            <a:off x="3127248"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29000"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66160" y="1325880"/>
            <a:ext cx="2286000" cy="1097280"/>
          </a:xfrm>
          <a:prstGeom prst="rect">
            <a:avLst/>
          </a:prstGeom>
          <a:noFill/>
        </p:spPr>
        <p:txBody>
          <a:bodyPr wrap="square" anchor="t" lIns="45720" rIns="45720">
            <a:spAutoFit/>
          </a:bodyPr>
          <a:lstStyle/>
          <a:p>
            <a:pPr algn="l"/>
            <a:r>
              <a:rPr sz="2000" b="1">
                <a:solidFill>
                  <a:srgbClr val="172D3D"/>
                </a:solidFill>
                <a:latin typeface="Arial"/>
              </a:rPr>
              <a:t>Aug</a:t>
            </a:r>
          </a:p>
          <a:p>
            <a:pPr algn="l">
              <a:spcBef>
                <a:spcPts val="675"/>
              </a:spcBef>
            </a:pPr>
            <a:r>
              <a:rPr sz="1500" b="0">
                <a:solidFill>
                  <a:srgbClr val="172D3D"/>
                </a:solidFill>
                <a:latin typeface="Arial"/>
              </a:rPr>
              <a:t>Rig integration and pilot tests</a:t>
            </a:r>
          </a:p>
        </p:txBody>
      </p:sp>
      <p:sp>
        <p:nvSpPr>
          <p:cNvPr id="9" name="Right Arrow 8"/>
          <p:cNvSpPr/>
          <p:nvPr/>
        </p:nvSpPr>
        <p:spPr>
          <a:xfrm>
            <a:off x="6007608"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59" y="1280160"/>
            <a:ext cx="2560320" cy="1188720"/>
          </a:xfrm>
          <a:prstGeom prst="roundRect">
            <a:avLst>
              <a:gd name="adj" fmla="val 8000"/>
            </a:avLst>
          </a:prstGeom>
          <a:solidFill>
            <a:srgbClr val="006D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325880"/>
            <a:ext cx="2286000" cy="1097280"/>
          </a:xfrm>
          <a:prstGeom prst="rect">
            <a:avLst/>
          </a:prstGeom>
          <a:noFill/>
        </p:spPr>
        <p:txBody>
          <a:bodyPr wrap="square" anchor="t" lIns="45720" rIns="45720">
            <a:spAutoFit/>
          </a:bodyPr>
          <a:lstStyle/>
          <a:p>
            <a:pPr algn="l"/>
            <a:r>
              <a:rPr sz="2000" b="1">
                <a:solidFill>
                  <a:srgbClr val="FFFFFF"/>
                </a:solidFill>
                <a:latin typeface="Arial"/>
              </a:rPr>
              <a:t>Sep</a:t>
            </a:r>
          </a:p>
          <a:p>
            <a:pPr algn="l">
              <a:spcBef>
                <a:spcPts val="675"/>
              </a:spcBef>
            </a:pPr>
            <a:r>
              <a:rPr sz="1500" b="0">
                <a:solidFill>
                  <a:srgbClr val="FFFFFF"/>
                </a:solidFill>
                <a:latin typeface="Arial"/>
              </a:rPr>
              <a:t>12 participant sessions</a:t>
            </a:r>
          </a:p>
        </p:txBody>
      </p:sp>
      <p:sp>
        <p:nvSpPr>
          <p:cNvPr id="12" name="Right Arrow 11"/>
          <p:cNvSpPr/>
          <p:nvPr/>
        </p:nvSpPr>
        <p:spPr>
          <a:xfrm>
            <a:off x="8887967" y="1691640"/>
            <a:ext cx="274320" cy="320040"/>
          </a:xfrm>
          <a:prstGeom prst="rightArrow">
            <a:avLst/>
          </a:prstGeom>
          <a:solidFill>
            <a:srgbClr val="9FB3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89719" y="1280160"/>
            <a:ext cx="256032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0" y="1325880"/>
            <a:ext cx="2286000" cy="1097280"/>
          </a:xfrm>
          <a:prstGeom prst="rect">
            <a:avLst/>
          </a:prstGeom>
          <a:noFill/>
        </p:spPr>
        <p:txBody>
          <a:bodyPr wrap="square" anchor="t" lIns="45720" rIns="45720">
            <a:spAutoFit/>
          </a:bodyPr>
          <a:lstStyle/>
          <a:p>
            <a:pPr algn="l"/>
            <a:r>
              <a:rPr sz="2000" b="1">
                <a:solidFill>
                  <a:srgbClr val="172D3D"/>
                </a:solidFill>
                <a:latin typeface="Arial"/>
              </a:rPr>
              <a:t>Oct</a:t>
            </a:r>
          </a:p>
          <a:p>
            <a:pPr algn="l">
              <a:spcBef>
                <a:spcPts val="675"/>
              </a:spcBef>
            </a:pPr>
            <a:r>
              <a:rPr sz="1500" b="0">
                <a:solidFill>
                  <a:srgbClr val="172D3D"/>
                </a:solidFill>
                <a:latin typeface="Arial"/>
              </a:rPr>
              <a:t>Analysis, reviews and paper</a:t>
            </a:r>
          </a:p>
        </p:txBody>
      </p:sp>
      <p:graphicFrame>
        <p:nvGraphicFramePr>
          <p:cNvPr id="15" name="Table 14"/>
          <p:cNvGraphicFramePr>
            <a:graphicFrameLocks noGrp="1"/>
          </p:cNvGraphicFramePr>
          <p:nvPr/>
        </p:nvGraphicFramePr>
        <p:xfrm>
          <a:off x="548640" y="2743200"/>
          <a:ext cx="11201400" cy="2852928"/>
        </p:xfrm>
        <a:graphic>
          <a:graphicData uri="http://schemas.openxmlformats.org/drawingml/2006/table">
            <a:tbl>
              <a:tblPr firstRow="0" bandRow="0"/>
              <a:tblGrid>
                <a:gridCol w="4206240"/>
                <a:gridCol w="6995160"/>
              </a:tblGrid>
              <a:tr h="713232">
                <a:tc>
                  <a:txBody>
                    <a:bodyPr wrap="square"/>
                    <a:lstStyle/>
                    <a:p>
                      <a:r>
                        <a:rPr sz="1600" b="1">
                          <a:solidFill>
                            <a:srgbClr val="172D3D"/>
                          </a:solidFill>
                          <a:latin typeface="Arial"/>
                        </a:rPr>
                        <a:t>Setback</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E5EDF2"/>
                    </a:solidFill>
                  </a:tcPr>
                </a:tc>
                <a:tc>
                  <a:txBody>
                    <a:bodyPr wrap="square"/>
                    <a:lstStyle/>
                    <a:p>
                      <a:r>
                        <a:rPr sz="1600" b="1">
                          <a:solidFill>
                            <a:srgbClr val="172D3D"/>
                          </a:solidFill>
                          <a:latin typeface="Arial"/>
                        </a:rPr>
                        <a:t>How we responded</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E5EDF2"/>
                    </a:solidFill>
                  </a:tcPr>
                </a:tc>
              </a:tr>
              <a:tr h="713232">
                <a:tc>
                  <a:txBody>
                    <a:bodyPr wrap="square"/>
                    <a:lstStyle/>
                    <a:p>
                      <a:r>
                        <a:rPr sz="1600" b="1">
                          <a:solidFill>
                            <a:srgbClr val="172D3D"/>
                          </a:solidFill>
                          <a:latin typeface="Arial"/>
                        </a:rPr>
                        <a:t>Some sessions restarted under new IDs</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Checked identity from the data (helmet height, intake answers)</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r h="713232">
                <a:tc>
                  <a:txBody>
                    <a:bodyPr wrap="square"/>
                    <a:lstStyle/>
                    <a:p>
                      <a:r>
                        <a:rPr sz="1600" b="1">
                          <a:solidFill>
                            <a:srgbClr val="172D3D"/>
                          </a:solidFill>
                          <a:latin typeface="Arial"/>
                        </a:rPr>
                        <a:t>Distance reference changed mid-study</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Analysed each version separately; replayed the exact code</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r h="713232">
                <a:tc>
                  <a:txBody>
                    <a:bodyPr wrap="square"/>
                    <a:lstStyle/>
                    <a:p>
                      <a:r>
                        <a:rPr sz="1600" b="1">
                          <a:solidFill>
                            <a:srgbClr val="172D3D"/>
                          </a:solidFill>
                          <a:latin typeface="Arial"/>
                        </a:rPr>
                        <a:t>Supervisors: paper too technical</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c>
                  <a:txBody>
                    <a:bodyPr wrap="square"/>
                    <a:lstStyle/>
                    <a:p>
                      <a:r>
                        <a:rPr sz="1600" b="0">
                          <a:solidFill>
                            <a:srgbClr val="172D3D"/>
                          </a:solidFill>
                          <a:latin typeface="Arial"/>
                        </a:rPr>
                        <a:t>Weekly meetings; plain-language rewrite for a civil audience</a:t>
                      </a:r>
                    </a:p>
                  </a:txBody>
                  <a:tcPr marL="91440" marR="91440" anchor="ctr">
                    <a:lnL w="12700">
                      <a:solidFill>
                        <a:srgbClr val="9FB3C0"/>
                      </a:solidFill>
                    </a:lnL>
                    <a:lnR w="12700">
                      <a:solidFill>
                        <a:srgbClr val="9FB3C0"/>
                      </a:solidFill>
                    </a:lnR>
                    <a:lnT w="12700">
                      <a:solidFill>
                        <a:srgbClr val="9FB3C0"/>
                      </a:solidFill>
                    </a:lnT>
                    <a:lnB w="12700">
                      <a:solidFill>
                        <a:srgbClr val="9FB3C0"/>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What it would take to use this on site</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11</a:t>
            </a:r>
          </a:p>
        </p:txBody>
      </p:sp>
      <p:sp>
        <p:nvSpPr>
          <p:cNvPr id="4" name="Rounded Rectangle 3"/>
          <p:cNvSpPr/>
          <p:nvPr/>
        </p:nvSpPr>
        <p:spPr>
          <a:xfrm>
            <a:off x="54864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19"/>
            <a:ext cx="3200400" cy="1965960"/>
          </a:xfrm>
          <a:prstGeom prst="rect">
            <a:avLst/>
          </a:prstGeom>
          <a:noFill/>
        </p:spPr>
        <p:txBody>
          <a:bodyPr wrap="square" anchor="t" lIns="45720" rIns="45720">
            <a:spAutoFit/>
          </a:bodyPr>
          <a:lstStyle/>
          <a:p>
            <a:pPr algn="l"/>
            <a:r>
              <a:rPr sz="2100" b="1">
                <a:solidFill>
                  <a:srgbClr val="006DAE"/>
                </a:solidFill>
                <a:latin typeface="Arial"/>
              </a:rPr>
              <a:t>Safety</a:t>
            </a:r>
          </a:p>
          <a:p>
            <a:pPr algn="l">
              <a:spcBef>
                <a:spcPts val="810"/>
              </a:spcBef>
            </a:pPr>
            <a:r>
              <a:rPr sz="1800" b="0">
                <a:solidFill>
                  <a:srgbClr val="172D3D"/>
                </a:solidFill>
                <a:latin typeface="Arial"/>
              </a:rPr>
              <a:t>A research prototype, not a certified safety function. Allow 0.5 s to react, not 0.4.</a:t>
            </a:r>
          </a:p>
        </p:txBody>
      </p:sp>
      <p:sp>
        <p:nvSpPr>
          <p:cNvPr id="6" name="Rounded Rectangle 5"/>
          <p:cNvSpPr/>
          <p:nvPr/>
        </p:nvSpPr>
        <p:spPr>
          <a:xfrm>
            <a:off x="434340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417319"/>
            <a:ext cx="3200400" cy="1965960"/>
          </a:xfrm>
          <a:prstGeom prst="rect">
            <a:avLst/>
          </a:prstGeom>
          <a:noFill/>
        </p:spPr>
        <p:txBody>
          <a:bodyPr wrap="square" anchor="t" lIns="45720" rIns="45720">
            <a:spAutoFit/>
          </a:bodyPr>
          <a:lstStyle/>
          <a:p>
            <a:pPr algn="l"/>
            <a:r>
              <a:rPr sz="2100" b="1">
                <a:solidFill>
                  <a:srgbClr val="006DAE"/>
                </a:solidFill>
                <a:latin typeface="Arial"/>
              </a:rPr>
              <a:t>Whole-life cost</a:t>
            </a:r>
          </a:p>
          <a:p>
            <a:pPr algn="l">
              <a:spcBef>
                <a:spcPts val="810"/>
              </a:spcBef>
            </a:pPr>
            <a:r>
              <a:rPr sz="1800" b="0">
                <a:solidFill>
                  <a:srgbClr val="172D3D"/>
                </a:solidFill>
                <a:latin typeface="Arial"/>
              </a:rPr>
              <a:t>Cameras, body suits, calibration, maintenance and training for every crew.</a:t>
            </a:r>
          </a:p>
        </p:txBody>
      </p:sp>
      <p:sp>
        <p:nvSpPr>
          <p:cNvPr id="8" name="Rounded Rectangle 7"/>
          <p:cNvSpPr/>
          <p:nvPr/>
        </p:nvSpPr>
        <p:spPr>
          <a:xfrm>
            <a:off x="8138160" y="1280160"/>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417319"/>
            <a:ext cx="3200400" cy="1965960"/>
          </a:xfrm>
          <a:prstGeom prst="rect">
            <a:avLst/>
          </a:prstGeom>
          <a:noFill/>
        </p:spPr>
        <p:txBody>
          <a:bodyPr wrap="square" anchor="t" lIns="45720" rIns="45720">
            <a:spAutoFit/>
          </a:bodyPr>
          <a:lstStyle/>
          <a:p>
            <a:pPr algn="l"/>
            <a:r>
              <a:rPr sz="2100" b="1">
                <a:solidFill>
                  <a:srgbClr val="006DAE"/>
                </a:solidFill>
                <a:latin typeface="Arial"/>
              </a:rPr>
              <a:t>Worker health</a:t>
            </a:r>
          </a:p>
          <a:p>
            <a:pPr algn="l">
              <a:spcBef>
                <a:spcPts val="810"/>
              </a:spcBef>
            </a:pPr>
            <a:r>
              <a:rPr sz="1800" b="0">
                <a:solidFill>
                  <a:srgbClr val="172D3D"/>
                </a:solidFill>
                <a:latin typeface="Arial"/>
              </a:rPr>
              <a:t>Removes overhead lifting strain; the suit itself was rated low restriction (2 of 5).</a:t>
            </a:r>
          </a:p>
        </p:txBody>
      </p:sp>
      <p:sp>
        <p:nvSpPr>
          <p:cNvPr id="10" name="Rounded Rectangle 9"/>
          <p:cNvSpPr/>
          <p:nvPr/>
        </p:nvSpPr>
        <p:spPr>
          <a:xfrm>
            <a:off x="548640" y="3611879"/>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49039"/>
            <a:ext cx="3200400" cy="1965960"/>
          </a:xfrm>
          <a:prstGeom prst="rect">
            <a:avLst/>
          </a:prstGeom>
          <a:noFill/>
        </p:spPr>
        <p:txBody>
          <a:bodyPr wrap="square" anchor="t" lIns="45720" rIns="45720">
            <a:spAutoFit/>
          </a:bodyPr>
          <a:lstStyle/>
          <a:p>
            <a:pPr algn="l"/>
            <a:r>
              <a:rPr sz="2100" b="1">
                <a:solidFill>
                  <a:srgbClr val="006DAE"/>
                </a:solidFill>
                <a:latin typeface="Arial"/>
              </a:rPr>
              <a:t>Net zero carbon</a:t>
            </a:r>
          </a:p>
          <a:p>
            <a:pPr algn="l">
              <a:spcBef>
                <a:spcPts val="810"/>
              </a:spcBef>
            </a:pPr>
            <a:r>
              <a:rPr sz="1800" b="0">
                <a:solidFill>
                  <a:srgbClr val="172D3D"/>
                </a:solidFill>
                <a:latin typeface="Arial"/>
              </a:rPr>
              <a:t>Not measured. Robot energy and any saving from less rework need their own study.</a:t>
            </a:r>
          </a:p>
        </p:txBody>
      </p:sp>
      <p:sp>
        <p:nvSpPr>
          <p:cNvPr id="12" name="Rounded Rectangle 11"/>
          <p:cNvSpPr/>
          <p:nvPr/>
        </p:nvSpPr>
        <p:spPr>
          <a:xfrm>
            <a:off x="4343400" y="3611879"/>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3749039"/>
            <a:ext cx="3200400" cy="1965960"/>
          </a:xfrm>
          <a:prstGeom prst="rect">
            <a:avLst/>
          </a:prstGeom>
          <a:noFill/>
        </p:spPr>
        <p:txBody>
          <a:bodyPr wrap="square" anchor="t" lIns="45720" rIns="45720">
            <a:spAutoFit/>
          </a:bodyPr>
          <a:lstStyle/>
          <a:p>
            <a:pPr algn="l"/>
            <a:r>
              <a:rPr sz="2100" b="1">
                <a:solidFill>
                  <a:srgbClr val="006DAE"/>
                </a:solidFill>
                <a:latin typeface="Arial"/>
              </a:rPr>
              <a:t>People and trust</a:t>
            </a:r>
          </a:p>
          <a:p>
            <a:pPr algn="l">
              <a:spcBef>
                <a:spcPts val="810"/>
              </a:spcBef>
            </a:pPr>
            <a:r>
              <a:rPr sz="1800" b="0">
                <a:solidFill>
                  <a:srgbClr val="172D3D"/>
                </a:solidFill>
                <a:latin typeface="Arial"/>
              </a:rPr>
              <a:t>Participants rated all three as safe. Crews must accept a robot as a co-worker.</a:t>
            </a:r>
          </a:p>
        </p:txBody>
      </p:sp>
      <p:sp>
        <p:nvSpPr>
          <p:cNvPr id="14" name="Rounded Rectangle 13"/>
          <p:cNvSpPr/>
          <p:nvPr/>
        </p:nvSpPr>
        <p:spPr>
          <a:xfrm>
            <a:off x="8138160" y="3611879"/>
            <a:ext cx="3566160" cy="214884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749039"/>
            <a:ext cx="3200400" cy="1965960"/>
          </a:xfrm>
          <a:prstGeom prst="rect">
            <a:avLst/>
          </a:prstGeom>
          <a:noFill/>
        </p:spPr>
        <p:txBody>
          <a:bodyPr wrap="square" anchor="t" lIns="45720" rIns="45720">
            <a:spAutoFit/>
          </a:bodyPr>
          <a:lstStyle/>
          <a:p>
            <a:pPr algn="l"/>
            <a:r>
              <a:rPr sz="2100" b="1">
                <a:solidFill>
                  <a:srgbClr val="006DAE"/>
                </a:solidFill>
                <a:latin typeface="Arial"/>
              </a:rPr>
              <a:t>Standards</a:t>
            </a:r>
          </a:p>
          <a:p>
            <a:pPr algn="l">
              <a:spcBef>
                <a:spcPts val="810"/>
              </a:spcBef>
            </a:pPr>
            <a:r>
              <a:rPr sz="1800" b="0">
                <a:solidFill>
                  <a:srgbClr val="172D3D"/>
                </a:solidFill>
                <a:latin typeface="Arial"/>
              </a:rPr>
              <a:t>ISO 10218 and ISO/TS 15066 set the bar any site system must meet.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Our answer, and what comes next</a:t>
            </a:r>
          </a:p>
        </p:txBody>
      </p:sp>
      <p:sp>
        <p:nvSpPr>
          <p:cNvPr id="3" name="TextBox 2"/>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12</a:t>
            </a:r>
          </a:p>
        </p:txBody>
      </p:sp>
      <p:sp>
        <p:nvSpPr>
          <p:cNvPr id="4" name="Rounded Rectangle 3"/>
          <p:cNvSpPr/>
          <p:nvPr/>
        </p:nvSpPr>
        <p:spPr>
          <a:xfrm>
            <a:off x="548640" y="1280160"/>
            <a:ext cx="5486400" cy="2377440"/>
          </a:xfrm>
          <a:prstGeom prst="roundRect">
            <a:avLst>
              <a:gd name="adj" fmla="val 8000"/>
            </a:avLst>
          </a:prstGeom>
          <a:solidFill>
            <a:srgbClr val="172D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71600"/>
            <a:ext cx="5120640" cy="2240280"/>
          </a:xfrm>
          <a:prstGeom prst="rect">
            <a:avLst/>
          </a:prstGeom>
          <a:noFill/>
        </p:spPr>
        <p:txBody>
          <a:bodyPr wrap="square" anchor="t" lIns="45720" rIns="45720">
            <a:spAutoFit/>
          </a:bodyPr>
          <a:lstStyle/>
          <a:p>
            <a:pPr algn="l"/>
            <a:r>
              <a:rPr sz="1800" b="1">
                <a:solidFill>
                  <a:srgbClr val="FFFFFF"/>
                </a:solidFill>
                <a:latin typeface="Arial"/>
              </a:rPr>
              <a:t>Can a task-aware robot be as safe as fixed zones and still efficient?</a:t>
            </a:r>
          </a:p>
          <a:p>
            <a:pPr algn="l">
              <a:spcBef>
                <a:spcPts val="810"/>
              </a:spcBef>
            </a:pPr>
            <a:r>
              <a:rPr sz="1800" b="1">
                <a:solidFill>
                  <a:srgbClr val="FFFFFF"/>
                </a:solidFill>
                <a:latin typeface="Arial"/>
              </a:rPr>
              <a:t>Safety: yes, </a:t>
            </a:r>
            <a:r>
              <a:rPr sz="1800" b="0">
                <a:solidFill>
                  <a:srgbClr val="FFFFFF"/>
                </a:solidFill>
                <a:latin typeface="Arial"/>
              </a:rPr>
              <a:t>with more margin against sensing error.</a:t>
            </a:r>
          </a:p>
          <a:p>
            <a:pPr algn="l">
              <a:spcBef>
                <a:spcPts val="810"/>
              </a:spcBef>
            </a:pPr>
            <a:r>
              <a:rPr sz="1800" b="1">
                <a:solidFill>
                  <a:srgbClr val="FFFFFF"/>
                </a:solidFill>
                <a:latin typeface="Arial"/>
              </a:rPr>
              <a:t>Efficiency: partly. </a:t>
            </a:r>
            <a:r>
              <a:rPr sz="1800" b="0">
                <a:solidFill>
                  <a:srgbClr val="FFFFFF"/>
                </a:solidFill>
                <a:latin typeface="Arial"/>
              </a:rPr>
              <a:t>Same trial time, slightly more stopping.</a:t>
            </a:r>
          </a:p>
        </p:txBody>
      </p:sp>
      <p:sp>
        <p:nvSpPr>
          <p:cNvPr id="6" name="TextBox 5"/>
          <p:cNvSpPr txBox="1"/>
          <p:nvPr/>
        </p:nvSpPr>
        <p:spPr>
          <a:xfrm>
            <a:off x="6400800" y="1280160"/>
            <a:ext cx="5303520" cy="2377440"/>
          </a:xfrm>
          <a:prstGeom prst="rect">
            <a:avLst/>
          </a:prstGeom>
          <a:noFill/>
        </p:spPr>
        <p:txBody>
          <a:bodyPr wrap="square" anchor="t" lIns="45720" rIns="45720">
            <a:spAutoFit/>
          </a:bodyPr>
          <a:lstStyle/>
          <a:p>
            <a:pPr algn="l"/>
            <a:r>
              <a:rPr sz="1800" b="1">
                <a:solidFill>
                  <a:srgbClr val="006DAE"/>
                </a:solidFill>
                <a:latin typeface="Arial"/>
              </a:rPr>
              <a:t>Next</a:t>
            </a:r>
          </a:p>
          <a:p>
            <a:pPr algn="l">
              <a:spcBef>
                <a:spcPts val="810"/>
              </a:spcBef>
            </a:pPr>
            <a:r>
              <a:rPr sz="1800" b="0">
                <a:solidFill>
                  <a:srgbClr val="172D3D"/>
                </a:solidFill>
                <a:latin typeface="Arial"/>
              </a:rPr>
              <a:t>Release delay on the predictor</a:t>
            </a:r>
          </a:p>
          <a:p>
            <a:pPr algn="l">
              <a:spcBef>
                <a:spcPts val="810"/>
              </a:spcBef>
            </a:pPr>
            <a:r>
              <a:rPr sz="1800" b="0">
                <a:solidFill>
                  <a:srgbClr val="172D3D"/>
                </a:solidFill>
                <a:latin typeface="Arial"/>
              </a:rPr>
              <a:t>Contact-safe mode under the panel</a:t>
            </a:r>
          </a:p>
          <a:p>
            <a:pPr algn="l">
              <a:spcBef>
                <a:spcPts val="810"/>
              </a:spcBef>
            </a:pPr>
            <a:r>
              <a:rPr sz="1800" b="0">
                <a:solidFill>
                  <a:srgbClr val="172D3D"/>
                </a:solidFill>
                <a:latin typeface="Arial"/>
              </a:rPr>
              <a:t>Trials with real crews on site</a:t>
            </a:r>
          </a:p>
        </p:txBody>
      </p:sp>
      <p:sp>
        <p:nvSpPr>
          <p:cNvPr id="7" name="Rounded Rectangle 6"/>
          <p:cNvSpPr/>
          <p:nvPr/>
        </p:nvSpPr>
        <p:spPr>
          <a:xfrm>
            <a:off x="54864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041648"/>
            <a:ext cx="3200400" cy="1097280"/>
          </a:xfrm>
          <a:prstGeom prst="rect">
            <a:avLst/>
          </a:prstGeom>
          <a:noFill/>
        </p:spPr>
        <p:txBody>
          <a:bodyPr wrap="square" anchor="t" lIns="45720" rIns="45720">
            <a:spAutoFit/>
          </a:bodyPr>
          <a:lstStyle/>
          <a:p>
            <a:pPr algn="l"/>
            <a:r>
              <a:rPr sz="1600" b="1">
                <a:solidFill>
                  <a:srgbClr val="172D3D"/>
                </a:solidFill>
                <a:latin typeface="Arial"/>
              </a:rPr>
              <a:t>Zenan Wu</a:t>
            </a:r>
          </a:p>
          <a:p>
            <a:pPr algn="l">
              <a:spcBef>
                <a:spcPts val="720"/>
              </a:spcBef>
            </a:pPr>
            <a:r>
              <a:rPr sz="1600" b="0">
                <a:solidFill>
                  <a:srgbClr val="172D3D"/>
                </a:solidFill>
                <a:latin typeface="Arial"/>
              </a:rPr>
              <a:t>Software and technical integration</a:t>
            </a:r>
          </a:p>
        </p:txBody>
      </p:sp>
      <p:sp>
        <p:nvSpPr>
          <p:cNvPr id="9" name="Rounded Rectangle 8"/>
          <p:cNvSpPr/>
          <p:nvPr/>
        </p:nvSpPr>
        <p:spPr>
          <a:xfrm>
            <a:off x="434340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041648"/>
            <a:ext cx="3200400" cy="1097280"/>
          </a:xfrm>
          <a:prstGeom prst="rect">
            <a:avLst/>
          </a:prstGeom>
          <a:noFill/>
        </p:spPr>
        <p:txBody>
          <a:bodyPr wrap="square" anchor="t" lIns="45720" rIns="45720">
            <a:spAutoFit/>
          </a:bodyPr>
          <a:lstStyle/>
          <a:p>
            <a:pPr algn="l"/>
            <a:r>
              <a:rPr sz="1600" b="1">
                <a:solidFill>
                  <a:srgbClr val="172D3D"/>
                </a:solidFill>
                <a:latin typeface="Arial"/>
              </a:rPr>
              <a:t>Luke Siniakov</a:t>
            </a:r>
          </a:p>
          <a:p>
            <a:pPr algn="l">
              <a:spcBef>
                <a:spcPts val="720"/>
              </a:spcBef>
            </a:pPr>
            <a:r>
              <a:rPr sz="1600" b="0">
                <a:solidFill>
                  <a:srgbClr val="172D3D"/>
                </a:solidFill>
                <a:latin typeface="Arial"/>
              </a:rPr>
              <a:t>Coordination with lab staff and supervisors</a:t>
            </a:r>
          </a:p>
        </p:txBody>
      </p:sp>
      <p:sp>
        <p:nvSpPr>
          <p:cNvPr id="11" name="Rounded Rectangle 10"/>
          <p:cNvSpPr/>
          <p:nvPr/>
        </p:nvSpPr>
        <p:spPr>
          <a:xfrm>
            <a:off x="8138160" y="3977639"/>
            <a:ext cx="3566160" cy="1188720"/>
          </a:xfrm>
          <a:prstGeom prst="roundRect">
            <a:avLst>
              <a:gd name="adj" fmla="val 8000"/>
            </a:avLst>
          </a:prstGeom>
          <a:solidFill>
            <a:srgbClr val="E5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4041648"/>
            <a:ext cx="3200400" cy="1097280"/>
          </a:xfrm>
          <a:prstGeom prst="rect">
            <a:avLst/>
          </a:prstGeom>
          <a:noFill/>
        </p:spPr>
        <p:txBody>
          <a:bodyPr wrap="square" anchor="t" lIns="45720" rIns="45720">
            <a:spAutoFit/>
          </a:bodyPr>
          <a:lstStyle/>
          <a:p>
            <a:pPr algn="l"/>
            <a:r>
              <a:rPr sz="1600" b="1">
                <a:solidFill>
                  <a:srgbClr val="172D3D"/>
                </a:solidFill>
                <a:latin typeface="Arial"/>
              </a:rPr>
              <a:t>Michael Magila</a:t>
            </a:r>
          </a:p>
          <a:p>
            <a:pPr algn="l">
              <a:spcBef>
                <a:spcPts val="720"/>
              </a:spcBef>
            </a:pPr>
            <a:r>
              <a:rPr sz="1600" b="0">
                <a:solidFill>
                  <a:srgbClr val="172D3D"/>
                </a:solidFill>
                <a:latin typeface="Arial"/>
              </a:rPr>
              <a:t>Physical setup and assembly</a:t>
            </a:r>
          </a:p>
        </p:txBody>
      </p:sp>
      <p:sp>
        <p:nvSpPr>
          <p:cNvPr id="13" name="TextBox 12"/>
          <p:cNvSpPr txBox="1"/>
          <p:nvPr/>
        </p:nvSpPr>
        <p:spPr>
          <a:xfrm>
            <a:off x="548640" y="5394960"/>
            <a:ext cx="11201400" cy="548640"/>
          </a:xfrm>
          <a:prstGeom prst="rect">
            <a:avLst/>
          </a:prstGeom>
          <a:noFill/>
        </p:spPr>
        <p:txBody>
          <a:bodyPr wrap="square" anchor="t" lIns="45720" rIns="45720">
            <a:spAutoFit/>
          </a:bodyPr>
          <a:lstStyle/>
          <a:p>
            <a:pPr algn="l"/>
            <a:r>
              <a:rPr sz="1800" b="1">
                <a:solidFill>
                  <a:srgbClr val="006DAE"/>
                </a:solidFill>
                <a:latin typeface="Arial"/>
              </a:rPr>
              <a:t>All three designed the experiment and wrote the paper. Thank you; we welcome your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8912" y="384048"/>
            <a:ext cx="11247120" cy="731520"/>
          </a:xfrm>
          <a:prstGeom prst="rect">
            <a:avLst/>
          </a:prstGeom>
          <a:noFill/>
        </p:spPr>
        <p:txBody>
          <a:bodyPr wrap="square" anchor="t" lIns="45720" rIns="45720">
            <a:spAutoFit/>
          </a:bodyPr>
          <a:lstStyle/>
          <a:p>
            <a:pPr algn="l"/>
            <a:r>
              <a:rPr sz="3200" b="1">
                <a:solidFill>
                  <a:srgbClr val="172D3D"/>
                </a:solidFill>
                <a:latin typeface="Arial"/>
              </a:rPr>
              <a:t>What we built: the console and the trained model</a:t>
            </a:r>
          </a:p>
        </p:txBody>
      </p:sp>
      <p:pic>
        <p:nvPicPr>
          <p:cNvPr id="3" name="Picture 2" descr="dashboard-participant.png"/>
          <p:cNvPicPr>
            <a:picLocks noChangeAspect="1"/>
          </p:cNvPicPr>
          <p:nvPr/>
        </p:nvPicPr>
        <p:blipFill>
          <a:blip r:embed="rId2"/>
          <a:stretch>
            <a:fillRect/>
          </a:stretch>
        </p:blipFill>
        <p:spPr>
          <a:xfrm>
            <a:off x="548640" y="1280160"/>
            <a:ext cx="5120640" cy="2880360"/>
          </a:xfrm>
          <a:prstGeom prst="rect">
            <a:avLst/>
          </a:prstGeom>
        </p:spPr>
      </p:pic>
      <p:pic>
        <p:nvPicPr>
          <p:cNvPr id="4" name="Picture 3" descr="held-out-trial.png"/>
          <p:cNvPicPr>
            <a:picLocks noChangeAspect="1"/>
          </p:cNvPicPr>
          <p:nvPr/>
        </p:nvPicPr>
        <p:blipFill>
          <a:blip r:embed="rId3"/>
          <a:stretch>
            <a:fillRect/>
          </a:stretch>
        </p:blipFill>
        <p:spPr>
          <a:xfrm>
            <a:off x="5943600" y="1280160"/>
            <a:ext cx="5715000" cy="2182091"/>
          </a:xfrm>
          <a:prstGeom prst="rect">
            <a:avLst/>
          </a:prstGeom>
        </p:spPr>
      </p:pic>
      <p:sp>
        <p:nvSpPr>
          <p:cNvPr id="5" name="TextBox 4"/>
          <p:cNvSpPr txBox="1"/>
          <p:nvPr/>
        </p:nvSpPr>
        <p:spPr>
          <a:xfrm>
            <a:off x="548640" y="4343400"/>
            <a:ext cx="5120640" cy="1097280"/>
          </a:xfrm>
          <a:prstGeom prst="rect">
            <a:avLst/>
          </a:prstGeom>
          <a:noFill/>
        </p:spPr>
        <p:txBody>
          <a:bodyPr wrap="square" anchor="t" lIns="45720" rIns="45720">
            <a:spAutoFit/>
          </a:bodyPr>
          <a:lstStyle/>
          <a:p>
            <a:pPr algn="l"/>
            <a:r>
              <a:rPr sz="1600" b="1">
                <a:solidFill>
                  <a:srgbClr val="172D3D"/>
                </a:solidFill>
                <a:latin typeface="Arial"/>
              </a:rPr>
              <a:t>Our operator console</a:t>
            </a:r>
          </a:p>
          <a:p>
            <a:pPr algn="l">
              <a:spcBef>
                <a:spcPts val="720"/>
              </a:spcBef>
            </a:pPr>
            <a:r>
              <a:rPr sz="1600" b="0">
                <a:solidFill>
                  <a:srgbClr val="172D3D"/>
                </a:solidFill>
                <a:latin typeface="Arial"/>
              </a:rPr>
              <a:t>Runs every session: checks the sensors, assigns the controller, records everything.</a:t>
            </a:r>
          </a:p>
        </p:txBody>
      </p:sp>
      <p:sp>
        <p:nvSpPr>
          <p:cNvPr id="6" name="TextBox 5"/>
          <p:cNvSpPr txBox="1"/>
          <p:nvPr/>
        </p:nvSpPr>
        <p:spPr>
          <a:xfrm>
            <a:off x="5943600" y="4343400"/>
            <a:ext cx="5715000" cy="1097280"/>
          </a:xfrm>
          <a:prstGeom prst="rect">
            <a:avLst/>
          </a:prstGeom>
          <a:noFill/>
        </p:spPr>
        <p:txBody>
          <a:bodyPr wrap="square" anchor="t" lIns="45720" rIns="45720">
            <a:spAutoFit/>
          </a:bodyPr>
          <a:lstStyle/>
          <a:p>
            <a:pPr algn="l"/>
            <a:r>
              <a:rPr sz="1600" b="1">
                <a:solidFill>
                  <a:srgbClr val="172D3D"/>
                </a:solidFill>
                <a:latin typeface="Arial"/>
              </a:rPr>
              <a:t>Our trained phase model on a new person</a:t>
            </a:r>
          </a:p>
          <a:p>
            <a:pPr algn="l">
              <a:spcBef>
                <a:spcPts val="720"/>
              </a:spcBef>
            </a:pPr>
            <a:r>
              <a:rPr sz="1600" b="0">
                <a:solidFill>
                  <a:srgbClr val="172D3D"/>
                </a:solidFill>
                <a:latin typeface="Arial"/>
              </a:rPr>
              <a:t>Top: what they were doing. Bottom: what the model said, live.</a:t>
            </a:r>
          </a:p>
        </p:txBody>
      </p:sp>
      <p:sp>
        <p:nvSpPr>
          <p:cNvPr id="7" name="TextBox 6"/>
          <p:cNvSpPr txBox="1"/>
          <p:nvPr/>
        </p:nvSpPr>
        <p:spPr>
          <a:xfrm>
            <a:off x="548640" y="5440680"/>
            <a:ext cx="11064240" cy="457200"/>
          </a:xfrm>
          <a:prstGeom prst="rect">
            <a:avLst/>
          </a:prstGeom>
          <a:noFill/>
        </p:spPr>
        <p:txBody>
          <a:bodyPr wrap="square" anchor="t" lIns="45720" rIns="45720">
            <a:spAutoFit/>
          </a:bodyPr>
          <a:lstStyle/>
          <a:p>
            <a:pPr algn="l"/>
            <a:r>
              <a:rPr sz="1500" b="0">
                <a:solidFill>
                  <a:srgbClr val="536B79"/>
                </a:solidFill>
                <a:latin typeface="Arial"/>
              </a:rPr>
              <a:t>Built and trained by the team: 32 labelled trials, about 90,000 motion frames, open on GitHub.</a:t>
            </a:r>
          </a:p>
        </p:txBody>
      </p:sp>
      <p:sp>
        <p:nvSpPr>
          <p:cNvPr id="8" name="TextBox 7"/>
          <p:cNvSpPr txBox="1"/>
          <p:nvPr/>
        </p:nvSpPr>
        <p:spPr>
          <a:xfrm>
            <a:off x="466344" y="6364224"/>
            <a:ext cx="548640" cy="228600"/>
          </a:xfrm>
          <a:prstGeom prst="rect">
            <a:avLst/>
          </a:prstGeom>
          <a:noFill/>
        </p:spPr>
        <p:txBody>
          <a:bodyPr wrap="square" anchor="t" lIns="45720" rIns="45720">
            <a:spAutoFit/>
          </a:bodyPr>
          <a:lstStyle/>
          <a:p>
            <a:pPr algn="l"/>
            <a:r>
              <a:rPr sz="1200" b="0">
                <a:solidFill>
                  <a:srgbClr val="536B79"/>
                </a:solidFill>
                <a:latin typeface="Arial"/>
              </a:rPr>
              <a:t>04</a:t>
            </a:r>
          </a:p>
        </p:txBody>
      </p:sp>
    </p:spTree>
  </p:cSld>
  <p:clrMapOvr>
    <a:masterClrMapping/>
  </p:clrMapOvr>
</p:sld>
</file>

<file path=ppt/theme/theme1.xml><?xml version="1.0" encoding="utf-8"?>
<a:theme xmlns:a="http://schemas.openxmlformats.org/drawingml/2006/main" name="Image Dec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2026-09-19T06:40:41.5790000Z</dcterms:created>
  <dcterms:modified xsi:type="dcterms:W3CDTF">2026-09-19T06:40:41.5790000Z</dcterms:modified>
</coreProperties>
</file>