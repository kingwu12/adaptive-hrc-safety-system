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0718b674bb4430d" Type="http://schemas.openxmlformats.org/officeDocument/2006/relationships/extended-properties" Target="docProps/app.xml"/><Relationship Id="R43d2732ff6134f34" Type="http://schemas.openxmlformats.org/package/2006/relationships/metadata/core-properties" Target="docProps/core.xml"/><Relationship Id="Rfb1adf5d5f484505"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1b3804e82d8a4676"/>
  </p:sldMasterIdLst>
  <p:notesMasterIdLst>
    <p:notesMasterId xmlns:r="http://schemas.openxmlformats.org/officeDocument/2006/relationships" r:id="Rd5667a8528e84bc1"/>
  </p:notesMasterIdLst>
  <p:sldIdLst>
    <p:sldId xmlns:r="http://schemas.openxmlformats.org/officeDocument/2006/relationships" id="256" r:id="Ref2a4bf3706c4352"/>
    <p:sldId xmlns:r="http://schemas.openxmlformats.org/officeDocument/2006/relationships" id="257" r:id="Re6cd846b0b584733"/>
    <p:sldId xmlns:r="http://schemas.openxmlformats.org/officeDocument/2006/relationships" id="258" r:id="R731e077aa12e4340"/>
    <p:sldId xmlns:r="http://schemas.openxmlformats.org/officeDocument/2006/relationships" id="259" r:id="Rf6250f778e214466"/>
    <p:sldId xmlns:r="http://schemas.openxmlformats.org/officeDocument/2006/relationships" id="260" r:id="R427b3517ce644e16"/>
    <p:sldId xmlns:r="http://schemas.openxmlformats.org/officeDocument/2006/relationships" id="261" r:id="R1e9d0d0c5f744df0"/>
    <p:sldId xmlns:r="http://schemas.openxmlformats.org/officeDocument/2006/relationships" id="262" r:id="R67d8387fc811496e"/>
    <p:sldId xmlns:r="http://schemas.openxmlformats.org/officeDocument/2006/relationships" id="263" r:id="R65dff22df0704d17"/>
    <p:sldId xmlns:r="http://schemas.openxmlformats.org/officeDocument/2006/relationships" id="264" r:id="R5788775e71334f66"/>
    <p:sldId xmlns:r="http://schemas.openxmlformats.org/officeDocument/2006/relationships" id="265" r:id="Re14ba9e474d542fd"/>
    <p:sldId xmlns:r="http://schemas.openxmlformats.org/officeDocument/2006/relationships" id="266" r:id="R7735b38b9c204791"/>
    <p:sldId xmlns:r="http://schemas.openxmlformats.org/officeDocument/2006/relationships" id="267" r:id="R997e45ef8e6d46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1b3804e82d8a4676" Type="http://schemas.openxmlformats.org/officeDocument/2006/relationships/slideMaster" Target="slideMasters/slideMaster1.xml"/><Relationship Id="R1e9d0d0c5f744df0" Type="http://schemas.openxmlformats.org/officeDocument/2006/relationships/slide" Target="slides/slide6.xml"/><Relationship Id="R2aef5c3067004dd4" Type="http://schemas.openxmlformats.org/officeDocument/2006/relationships/tableStyles" Target="tableStyles.xml"/><Relationship Id="R427b3517ce644e16" Type="http://schemas.openxmlformats.org/officeDocument/2006/relationships/slide" Target="slides/slide5.xml"/><Relationship Id="R5788775e71334f66" Type="http://schemas.openxmlformats.org/officeDocument/2006/relationships/slide" Target="slides/slide9.xml"/><Relationship Id="R62cd735ce6a94590" Type="http://schemas.openxmlformats.org/officeDocument/2006/relationships/viewProps" Target="viewProps.xml"/><Relationship Id="R65dff22df0704d17" Type="http://schemas.openxmlformats.org/officeDocument/2006/relationships/slide" Target="slides/slide8.xml"/><Relationship Id="R67d8387fc811496e" Type="http://schemas.openxmlformats.org/officeDocument/2006/relationships/slide" Target="slides/slide7.xml"/><Relationship Id="R731e077aa12e4340" Type="http://schemas.openxmlformats.org/officeDocument/2006/relationships/slide" Target="slides/slide3.xml"/><Relationship Id="R7735b38b9c204791" Type="http://schemas.openxmlformats.org/officeDocument/2006/relationships/slide" Target="slides/slide11.xml"/><Relationship Id="R997e45ef8e6d46c1" Type="http://schemas.openxmlformats.org/officeDocument/2006/relationships/slide" Target="slides/slide12.xml"/><Relationship Id="Ra6d426e1991e4c5d" Type="http://schemas.openxmlformats.org/officeDocument/2006/relationships/theme" Target="theme/theme1.xml"/><Relationship Id="Rbe14295336034ba3" Type="http://schemas.openxmlformats.org/officeDocument/2006/relationships/presProps" Target="presProps.xml"/><Relationship Id="Rd5667a8528e84bc1" Type="http://schemas.openxmlformats.org/officeDocument/2006/relationships/notesMaster" Target="notesMasters/notesMaster1.xml"/><Relationship Id="Re14ba9e474d542fd" Type="http://schemas.openxmlformats.org/officeDocument/2006/relationships/slide" Target="slides/slide10.xml"/><Relationship Id="Re6cd846b0b584733" Type="http://schemas.openxmlformats.org/officeDocument/2006/relationships/slide" Target="slides/slide2.xml"/><Relationship Id="Ref2a4bf3706c4352" Type="http://schemas.openxmlformats.org/officeDocument/2006/relationships/slide" Target="slides/slide1.xml"/><Relationship Id="Rf6250f778e21446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78f5b71cffb54a8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834da4d420a42bf" Type="http://schemas.openxmlformats.org/officeDocument/2006/relationships/notesMaster" Target="../notesMasters/notesMaster1.xml"/><Relationship Id="R60ca0d92abc2463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ce400d898854509" Type="http://schemas.openxmlformats.org/officeDocument/2006/relationships/slide" Target="../slides/slide2.xml"/><Relationship Id="Re67749f329144c8f"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934a24217e384990" Type="http://schemas.openxmlformats.org/officeDocument/2006/relationships/slide" Target="../slides/slide3.xml"/><Relationship Id="Ref9034fd29bd4f8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a58b568617744f3" Type="http://schemas.openxmlformats.org/officeDocument/2006/relationships/notesMaster" Target="../notesMasters/notesMaster1.xml"/><Relationship Id="R800bd4631cd8471e"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da2a711a7ae74ad0" Type="http://schemas.openxmlformats.org/officeDocument/2006/relationships/notesMaster" Target="../notesMasters/notesMaster1.xml"/><Relationship Id="Refb9eec3cf474aeb"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4042cbee26784eda" Type="http://schemas.openxmlformats.org/officeDocument/2006/relationships/slide" Target="../slides/slide6.xml"/><Relationship Id="Re2aeef5ea0294e84"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1e0a8753cc64c35" Type="http://schemas.openxmlformats.org/officeDocument/2006/relationships/slide" Target="../slides/slide7.xml"/><Relationship Id="Rb274258e3bee4fef"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73c498bf85444b96" Type="http://schemas.openxmlformats.org/officeDocument/2006/relationships/notesMaster" Target="../notesMasters/notesMaster1.xml"/><Relationship Id="R7647cdd0cb5d47e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40719d8f8fcd4b50" Type="http://schemas.openxmlformats.org/officeDocument/2006/relationships/notesMaster" Target="../notesMasters/notesMaster1.xml"/><Relationship Id="Re3ebdc55c4ab4b15"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a842dc0673354bd9" Type="http://schemas.openxmlformats.org/officeDocument/2006/relationships/notesMaster" Target="../notesMasters/notesMaster1.xml"/><Relationship Id="Rfc12875c0a6943f0"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a4b7ddf3e204438" Type="http://schemas.openxmlformats.org/officeDocument/2006/relationships/slide" Target="../slides/slide11.xml"/><Relationship Id="R410427bf2b5d414b"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089c4af0287f4d7a" Type="http://schemas.openxmlformats.org/officeDocument/2006/relationships/slide" Target="../slides/slide12.xml"/><Relationship Id="R1ec5baba6fde4780"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20 seconds</a:t>
            </a:r>
          </a:p>
          <a:p xmlns:a="http://schemas.openxmlformats.org/drawingml/2006/main">
            <a:r>
              <a:t/>
            </a:r>
          </a:p>
          <a:p xmlns:a="http://schemas.openxmlformats.org/drawingml/2006/main">
            <a:r>
              <a:t>Our project investigates how a robot can support a ceiling panel while a person works around it. We developed a controller that uses movement and task context, and examined its behaviour and the reported experience of the task.</a:t>
            </a:r>
          </a:p>
          <a:p xmlns:a="http://schemas.openxmlformats.org/drawingml/2006/main">
            <a:r>
              <a:t/>
            </a:r>
          </a:p>
          <a:p xmlns:a="http://schemas.openxmlformats.org/drawingml/2006/main">
            <a:r>
              <a:t>Sources: Canonical paper, title, abstract and acknowledgment; team contributions supplied by Zenan on 19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45 seconds</a:t>
            </a:r>
          </a:p>
          <a:p xmlns:a="http://schemas.openxmlformats.org/drawingml/2006/main">
            <a:r>
              <a:t/>
            </a:r>
          </a:p>
          <a:p xmlns:a="http://schemas.openxmlformats.org/drawingml/2006/main">
            <a:r>
              <a:t>The task combines robot-supported handling with human alignment and judgement. A simple distance rule is easy to understand, but it treats different movements similarly. An approaching worker and a retreating worker may be at the same distance while needing different coordination. Our aim was to investigate whether context helps without allowing it to increase the command beyond the geometric limit. Reduced strain, cost and environmental impact are potential motivations, not benefits measured in this study.</a:t>
            </a:r>
          </a:p>
          <a:p xmlns:a="http://schemas.openxmlformats.org/drawingml/2006/main">
            <a:r>
              <a:t/>
            </a:r>
          </a:p>
          <a:p xmlns:a="http://schemas.openxmlformats.org/drawingml/2006/main">
            <a:r>
              <a:t>Sources: Paper Introduction; Bock (2015), doi:10.1016/j.autcon.2015.07.022; Wei et al. (2023), doi:10.26599/JIC.2023.9180002.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45 seconds</a:t>
            </a:r>
          </a:p>
          <a:p xmlns:a="http://schemas.openxmlformats.org/drawingml/2006/main">
            <a:r>
              <a:t/>
            </a:r>
          </a:p>
          <a:p xmlns:a="http://schemas.openxmlformats.org/drawingml/2006/main">
            <a:r>
              <a:t>The laboratory system combines a UR10 robot, a lightweight panel surrogate and two tracking sources. Optical tracking supplies head position; the body-tracking suit supplies segment positions. The worker loads the panel, retreats before the lift, works near the raised panel, and retreats again before lowering. Robot position and joint motion are recorded alongside controller requests. This illustration explains the sequence; it is not experimental footage and does not simulate a measured safety outcome.</a:t>
            </a:r>
          </a:p>
          <a:p xmlns:a="http://schemas.openxmlformats.org/drawingml/2006/main">
            <a:r>
              <a:t/>
            </a:r>
          </a:p>
          <a:p xmlns:a="http://schemas.openxmlformats.org/drawingml/2006/main">
            <a:r>
              <a:t>Sources: Paper System Design and Experimental Method; docs/experiment_plan.md; existing scenario-poster.png. No video playback is required for the timed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65 seconds</a:t>
            </a:r>
          </a:p>
          <a:p xmlns:a="http://schemas.openxmlformats.org/drawingml/2006/main">
            <a:r>
              <a:t/>
            </a:r>
          </a:p>
          <a:p xmlns:a="http://schemas.openxmlformats.org/drawingml/2006/main">
            <a:r>
              <a:t>The three conditions separate the value of distance, movement and context. Fixed zones provide a simple reference. Reactive control adjusts the speed request using distance and closing speed. Predictive control adds recognised task phase and a short look ahead toward a boundary. The learned model recognises approaching, working or retreating; a separate calculation predicts boundary approach. At identical inputs and geometric state, predictive control cannot request a higher speed than reactive control. Any coordination benefit must therefore come from intervention timing or subsequent interaction, not from simply allowing faster movement.</a:t>
            </a:r>
          </a:p>
          <a:p xmlns:a="http://schemas.openxmlformats.org/drawingml/2006/main">
            <a:r>
              <a:t/>
            </a:r>
          </a:p>
          <a:p xmlns:a="http://schemas.openxmlformats.org/drawingml/2006/main">
            <a:r>
              <a:t>Sources: Paper System Design; src/hrc_safety/controllers/controllers.py; Byner et al. (2019), doi:10.1016/j.rcim.2018.11.002.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55 seconds</a:t>
            </a:r>
          </a:p>
          <a:p xmlns:a="http://schemas.openxmlformats.org/drawingml/2006/main">
            <a:r>
              <a:t/>
            </a:r>
          </a:p>
          <a:p xmlns:a="http://schemas.openxmlformats.org/drawingml/2006/main">
            <a:r>
              <a:t>The planned design rotates fixed, reactive and predictive control across three blocks, each scheduling routine, distractor and rapid-movement trials. Objective measurements and questionnaire items address different aspects of collaboration. The analysis currently includes fourteen complete telemetry trials associated with three study IDs, thirty-one block forms associated with eleven IDs, and eleven matched intake/end sets. Nine IDs have all three block forms. Session restarts mean IDs cannot all be treated as distinct people, and telemetry and surveys cover different subsets. We therefore report descriptive findings without a statistical controller ranking.</a:t>
            </a:r>
          </a:p>
          <a:p xmlns:a="http://schemas.openxmlformats.org/drawingml/2006/main">
            <a:r>
              <a:t/>
            </a:r>
          </a:p>
          <a:p xmlns:a="http://schemas.openxmlformats.org/drawingml/2006/main">
            <a:r>
              <a:t>Sources: Paper Experimental Method; data/analysis/recovered/results.json; data/analysis/questionnaires/results.json. Fourteen trials, 65,697 telemetry rows, 31 block responses, eleven matched intake/end 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40 seconds</a:t>
            </a:r>
          </a:p>
          <a:p xmlns:a="http://schemas.openxmlformats.org/drawingml/2006/main">
            <a:r>
              <a:t/>
            </a:r>
          </a:p>
          <a:p xmlns:a="http://schemas.openxmlformats.org/drawingml/2006/main">
            <a:r>
              <a:t>The model assigns each observation to one of three task phases. For the version that can operate online using only present and past observations, accuracy was 79.4 percent. Giving the three phases equal weight lowers the score to 72.5 percent, so the overall figure hides weaker performance outside the dominant working phase. Validation held out each of three development operators in turn across thirty-two accepted trials. These folds informed development, so this is a diagnostic result rather than an untouched deployment test. Recognition accuracy does not measure hazard detection or stopping safety.</a:t>
            </a:r>
          </a:p>
          <a:p xmlns:a="http://schemas.openxmlformats.org/drawingml/2006/main">
            <a:r>
              <a:t/>
            </a:r>
          </a:p>
          <a:p xmlns:a="http://schemas.openxmlformats.org/drawingml/2006/main">
            <a:r>
              <a:t>Sources: data/models/pilot_hmm.json validation.online_filter_accuracy and online_filter_balanced_accuracy; paper Model Development and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60 seconds</a:t>
            </a:r>
          </a:p>
          <a:p xmlns:a="http://schemas.openxmlformats.org/drawingml/2006/main">
            <a:r>
              <a:t/>
            </a:r>
          </a:p>
          <a:p xmlns:a="http://schemas.openxmlformats.org/drawingml/2006/main">
            <a:r>
              <a:t>The safety and trust questions use five-point ratings. Eight of eleven matched safety ratings increased, one was unchanged and two decreased. Trust was more mixed: five increased, three were unchanged and three decreased. Block ratings also indicated strong stopping confidence and low demand, but these are custom individual items rather than validated composite scales. Restricting block analysis to nine complete response sets left twenty-nine of thirty medians unchanged. The paired stopping ratings did not show a uniform improvement. Familiarity and supervised operation may help explain the experience, but the data cannot isolate a predictive-controller benefit. Michael will now explain what the measurements taught us and how we managed the experimental challenges.</a:t>
            </a:r>
          </a:p>
          <a:p xmlns:a="http://schemas.openxmlformats.org/drawingml/2006/main">
            <a:r>
              <a:t/>
            </a:r>
          </a:p>
          <a:p xmlns:a="http://schemas.openxmlformats.org/drawingml/2006/main">
            <a:r>
              <a:t>Sources: data/analysis/questionnaires/results.json pre_post and complete_case_median_sensitivity; paper Results and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Michael | 55 seconds</a:t>
            </a:r>
          </a:p>
          <a:p xmlns:a="http://schemas.openxmlformats.org/drawingml/2006/main">
            <a:r>
              <a:t/>
            </a:r>
          </a:p>
          <a:p xmlns:a="http://schemas.openxmlformats.org/drawingml/2006/main">
            <a:r>
              <a:t>We checked the head-distance calculation against head position and the robot position recorded at the same instant. Across thirteen earlier-reference trials, the 95th-percentile discrepancy ranged from about 0.41 to 0.53 metres. The later live-reference trial agreed arithmetically. This is a discrepancy between two calculations, not a measured human–robot clearance error. The later controller also used body segment origins, which require separate validation. The practical lesson is that the robot, body, tool and panel occupy volumes: agreement for one point is not sufficient to establish protective clearance.</a:t>
            </a:r>
          </a:p>
          <a:p xmlns:a="http://schemas.openxmlformats.org/drawingml/2006/main">
            <a:r>
              <a:t/>
            </a:r>
          </a:p>
          <a:p xmlns:a="http://schemas.openxmlformats.org/drawingml/2006/main">
            <a:r>
              <a:t>Sources: data/analysis/recovered/results.json head_geometry_error_p95_m; trials 1–5 P17, 6–13 P22, 14 P24; paper Geometric Inputs and Cued Movements.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Michael | 55 seconds</a:t>
            </a:r>
          </a:p>
          <a:p xmlns:a="http://schemas.openxmlformats.org/drawingml/2006/main">
            <a:r>
              <a:t/>
            </a:r>
          </a:p>
          <a:p xmlns:a="http://schemas.openxmlformats.org/drawingml/2006/main">
            <a:r>
              <a:t>The main management challenge was integrating interdependent components, not implementing a classifier alone. The sensing, control and recording interfaces had to work together. Recorded commands and measured robot motion let us examine behaviour rather than relying on command acknowledgements. Geometry differences and variable execution of cues were handled by separating configurations and checking movement evidence. Incomplete sessions and identifier restarts limited the comparisons, so the analysis uses complete trial streams and avoids inventing missing data. These setbacks changed the strength of our conclusions. Luke will now relate those findings to deployment constraints and the team’s contribution.</a:t>
            </a:r>
          </a:p>
          <a:p xmlns:a="http://schemas.openxmlformats.org/drawingml/2006/main">
            <a:r>
              <a:t/>
            </a:r>
          </a:p>
          <a:p xmlns:a="http://schemas.openxmlformats.org/drawingml/2006/main">
            <a:r>
              <a:t>Sources: Repository architecture and experiment documentation; paper System Design, Methods and Limitations; original questionnaire and telemetry analysis. Controls listed as implemented analysis responses, not a claim of complete pre-experiment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Luke | 45 seconds</a:t>
            </a:r>
          </a:p>
          <a:p xmlns:a="http://schemas.openxmlformats.org/drawingml/2006/main">
            <a:r>
              <a:t/>
            </a:r>
          </a:p>
          <a:p xmlns:a="http://schemas.openxmlformats.org/drawingml/2006/main">
            <a:r>
              <a:t>The installed system would need validated protective geometry and stopping performance; the current software speed command is not a certified safety function. Optical and body tracking also introduce equipment, calibration, maintenance and training costs. The suit may affect movement, and a supervised laboratory task does not represent every construction worker or site. Environmental benefits were not measured: energy use and material effects would need an appropriate comparison before claiming a carbon or waste reduction. These constraints shape the engineering decision about where such a system could be useful.</a:t>
            </a:r>
          </a:p>
          <a:p xmlns:a="http://schemas.openxmlformats.org/drawingml/2006/main">
            <a:r>
              <a:t/>
            </a:r>
          </a:p>
          <a:p xmlns:a="http://schemas.openxmlformats.org/drawingml/2006/main">
            <a:r>
              <a:t>Sources: Paper Safety and Efficiency Interpretation and Limitations; NIST Marvel and Norcross, doi:10.1016/j.rcim.2016.08.001. Cost and environmental entries are deployment considerations; no quantified benefits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Luke | 40 seconds</a:t>
            </a:r>
          </a:p>
          <a:p xmlns:a="http://schemas.openxmlformats.org/drawingml/2006/main">
            <a:r>
              <a:t/>
            </a:r>
          </a:p>
          <a:p xmlns:a="http://schemas.openxmlformats.org/drawingml/2006/main">
            <a:r>
              <a:t>All three of us contributed to designing the experiment and preparing the final report. Our main areas of work differed: Zenan focused on software development and technical integration. I handled communication and coordination with laboratory staff and supervisors. Michael supported the physical setup and assembly. Bringing the technical system, laboratory arrangements and experimental design together was a shared project effort. AI tools supported coding, analysis and manuscript preparation.</a:t>
            </a:r>
          </a:p>
          <a:p xmlns:a="http://schemas.openxmlformats.org/drawingml/2006/main">
            <a:r>
              <a:t/>
            </a:r>
          </a:p>
          <a:p xmlns:a="http://schemas.openxmlformats.org/drawingml/2006/main">
            <a:r>
              <a:t>Sources: Contribution descriptions and shared-work clarification supplied by Zenan on 19 September 2026; manuscript AI Assistance Declaration.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Luke | 30 seconds</a:t>
            </a:r>
          </a:p>
          <a:p xmlns:a="http://schemas.openxmlformats.org/drawingml/2006/main">
            <a:r>
              <a:t/>
            </a:r>
          </a:p>
          <a:p xmlns:a="http://schemas.openxmlformats.org/drawingml/2006/main">
            <a:r>
              <a:t>The contribution is a physical construction-task prototype that separates task recognition from geometric command limits and examines objective behaviour alongside experience. Dynamic speed control and task-aware safety already exist in prior research, so we do not claim to have invented them. We demonstrated integration and obtained useful descriptive findings, but have not established that predictive control improves safety or efficiency. The next comparison needs validated clearance and stopping measurements together with reliable controller exposure. Thank you; we welcome your questions.</a:t>
            </a:r>
          </a:p>
          <a:p xmlns:a="http://schemas.openxmlformats.org/drawingml/2006/main">
            <a:r>
              <a:t/>
            </a:r>
          </a:p>
          <a:p xmlns:a="http://schemas.openxmlformats.org/drawingml/2006/main">
            <a:r>
              <a:t>Sources: Paper Related Work and Conclusion; Byner et al. (2019), doi:10.1016/j.rcim.2018.11.002; Xiao Lin et al. (2026), doi:10.1016/j.autcon.2026.107067.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bd78081893954c3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7c21d838408c46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fa87548a7f7941e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41559b8a073b478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32fd7869cf1403b"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1096e0c9343d446b"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148740cb099245e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2cad81473d534a95"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6d196350af4f481d"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786ca8dd05164a50"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aac1b3982b6b456e"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4af0695dad56425c"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c6ab5c07a7fe480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4feb6f4d589f4498" Type="http://schemas.openxmlformats.org/officeDocument/2006/relationships/slideMaster" Target="../slideMasters/slideMaster1.xml"/></Relationships>
</file>

<file path=ppt/slideLayouts/slideLayout1.xml><?xml version="1.0" encoding="utf-8"?>
<p:sldLayout xmlns:p="http://schemas.openxmlformats.org/presentationml/2006/main" preserve="1" userDrawn="1">
  <p:cSld name="Title slide_image option 1">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19959E34-7D5A-4BD7-8251-3B069FE78CA1}"/>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D5275896-2C72-498D-B653-414BBE17557D}"/>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F16C37D6-C2E2-49C2-8CCA-00F002D0D284}"/>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890999CC-DE80-4843-A760-7D43FDD36995}"/>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2.xml><?xml version="1.0" encoding="utf-8"?>
<p:sldLayout xmlns:p="http://schemas.openxmlformats.org/presentationml/2006/main" preserve="1" userDrawn="1">
  <p:cSld name="Title slide_image option 2">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5A8440E5-1D3D-467C-9331-C80E53D74DF9}"/>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8A02B849-B130-40B4-8741-8B68F7172123}"/>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175D9F5F-88F1-4E36-9CB2-B54ADEE31DFD}"/>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5BDD50A3-E67B-4774-84EE-10ABC7E22B69}"/>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3.xml><?xml version="1.0" encoding="utf-8"?>
<p:sldLayout xmlns:p="http://schemas.openxmlformats.org/presentationml/2006/main" preserve="1" userDrawn="1">
  <p:cSld name="Title slide_image option 3">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18C18B34-15C1-4501-A171-E4A379C18BE7}"/>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0D890E79-75EE-455E-BC7C-FE9972AC9C25}"/>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E6CC4F13-DD70-4E24-BB60-54CBB58584F4}"/>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65C29C93-3E71-46BC-8193-E32D10C3E3D3}"/>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4.xml><?xml version="1.0" encoding="utf-8"?>
<p:sldLayout xmlns:p="http://schemas.openxmlformats.org/presentationml/2006/main" preserve="1" userDrawn="1">
  <p:cSld name="Title slide_image option 4">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3C596B7D-0569-427C-9D0A-20EC6B25FF87}"/>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713619B6-C40D-42CA-950C-2BE9B668EB98}"/>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05014D11-E9D0-4F5C-B088-03C35C98B651}"/>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11CD9A49-9F7E-4D7D-8A8E-8517C81558AD}"/>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
        <p:nvSpPr>
          <p:cNvPr id="9" name="Freeform 8">
            <a:extLst xmlns:a="http://schemas.openxmlformats.org/drawingml/2006/main">
              <a:ext uri="{FF2B5EF4-FFF2-40B4-BE49-F238E27FC236}">
                <a16:creationId xmlns:a16="http://schemas.microsoft.com/office/drawing/2014/main" id="{D3A273D6-276C-4B9E-A311-A28B57A20E48}"/>
              </a:ext>
            </a:extLst>
          </p:cNvPr>
          <p:cNvSpPr>
            <a:spLocks xmlns:a="http://schemas.openxmlformats.org/drawingml/2006/main" noGrp="1"/>
          </p:cNvSpPr>
          <p:nvPr/>
        </p:nvSpPr>
        <p:spPr>
          <a:xfrm xmlns:a="http://schemas.openxmlformats.org/drawingml/2006/main">
            <a:off x="8652398" y="2502"/>
            <a:ext cx="2926807" cy="6882646"/>
          </a:xfrm>
          <a:custGeom xmlns:a="http://schemas.openxmlformats.org/drawingml/2006/main">
            <a:gdLst>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71800 w 2971800"/>
              <a:gd name="connsiteY8" fmla="*/ 6916782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61790 w 2971800"/>
              <a:gd name="connsiteY8" fmla="*/ 6976844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6383"/>
              <a:gd name="connsiteX1" fmla="*/ 0 w 2971800"/>
              <a:gd name="connsiteY1" fmla="*/ 6982097 h 6986383"/>
              <a:gd name="connsiteX2" fmla="*/ 796834 w 2971800"/>
              <a:gd name="connsiteY2" fmla="*/ 6982097 h 6986383"/>
              <a:gd name="connsiteX3" fmla="*/ 796834 w 2971800"/>
              <a:gd name="connsiteY3" fmla="*/ 3997234 h 6986383"/>
              <a:gd name="connsiteX4" fmla="*/ 1051560 w 2971800"/>
              <a:gd name="connsiteY4" fmla="*/ 6969034 h 6986383"/>
              <a:gd name="connsiteX5" fmla="*/ 1939834 w 2971800"/>
              <a:gd name="connsiteY5" fmla="*/ 6969034 h 6986383"/>
              <a:gd name="connsiteX6" fmla="*/ 2168434 w 2971800"/>
              <a:gd name="connsiteY6" fmla="*/ 4023360 h 6986383"/>
              <a:gd name="connsiteX7" fmla="*/ 2175823 w 2971800"/>
              <a:gd name="connsiteY7" fmla="*/ 6986383 h 6986383"/>
              <a:gd name="connsiteX8" fmla="*/ 2961790 w 2971800"/>
              <a:gd name="connsiteY8" fmla="*/ 6976844 h 6986383"/>
              <a:gd name="connsiteX9" fmla="*/ 2971800 w 2971800"/>
              <a:gd name="connsiteY9" fmla="*/ 0 h 6986383"/>
              <a:gd name="connsiteX10" fmla="*/ 1691640 w 2971800"/>
              <a:gd name="connsiteY10" fmla="*/ 0 h 6986383"/>
              <a:gd name="connsiteX11" fmla="*/ 1489166 w 2971800"/>
              <a:gd name="connsiteY11" fmla="*/ 2331720 h 6986383"/>
              <a:gd name="connsiteX12" fmla="*/ 1293223 w 2971800"/>
              <a:gd name="connsiteY12" fmla="*/ 6531 h 6986383"/>
              <a:gd name="connsiteX13" fmla="*/ 0 w 2971800"/>
              <a:gd name="connsiteY13" fmla="*/ 6531 h 6986383"/>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7001646"/>
              <a:gd name="connsiteX1" fmla="*/ 0 w 2971800"/>
              <a:gd name="connsiteY1" fmla="*/ 6982097 h 7001646"/>
              <a:gd name="connsiteX2" fmla="*/ 796834 w 2971800"/>
              <a:gd name="connsiteY2" fmla="*/ 6982097 h 7001646"/>
              <a:gd name="connsiteX3" fmla="*/ 796834 w 2971800"/>
              <a:gd name="connsiteY3" fmla="*/ 3997234 h 7001646"/>
              <a:gd name="connsiteX4" fmla="*/ 1051560 w 2971800"/>
              <a:gd name="connsiteY4" fmla="*/ 6969034 h 7001646"/>
              <a:gd name="connsiteX5" fmla="*/ 1939834 w 2971800"/>
              <a:gd name="connsiteY5" fmla="*/ 6969034 h 7001646"/>
              <a:gd name="connsiteX6" fmla="*/ 2168434 w 2971800"/>
              <a:gd name="connsiteY6" fmla="*/ 4023360 h 7001646"/>
              <a:gd name="connsiteX7" fmla="*/ 2175824 w 2971800"/>
              <a:gd name="connsiteY7" fmla="*/ 7001646 h 7001646"/>
              <a:gd name="connsiteX8" fmla="*/ 2961790 w 2971800"/>
              <a:gd name="connsiteY8" fmla="*/ 6999737 h 7001646"/>
              <a:gd name="connsiteX9" fmla="*/ 2971800 w 2971800"/>
              <a:gd name="connsiteY9" fmla="*/ 0 h 7001646"/>
              <a:gd name="connsiteX10" fmla="*/ 1691640 w 2971800"/>
              <a:gd name="connsiteY10" fmla="*/ 0 h 7001646"/>
              <a:gd name="connsiteX11" fmla="*/ 1489166 w 2971800"/>
              <a:gd name="connsiteY11" fmla="*/ 2331720 h 7001646"/>
              <a:gd name="connsiteX12" fmla="*/ 1293223 w 2971800"/>
              <a:gd name="connsiteY12" fmla="*/ 6531 h 7001646"/>
              <a:gd name="connsiteX13" fmla="*/ 0 w 2971800"/>
              <a:gd name="connsiteY13" fmla="*/ 6531 h 7001646"/>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1560 w 2971800"/>
              <a:gd name="connsiteY4" fmla="*/ 6969034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7631 w 2971800"/>
              <a:gd name="connsiteY1" fmla="*/ 6989729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67160 w 2979769"/>
              <a:gd name="connsiteY4" fmla="*/ 6991927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74790 w 2979769"/>
              <a:gd name="connsiteY4" fmla="*/ 6999558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Lst>
            <a:rect l="l" t="t" r="r" b="b"/>
            <a:pathLst>
              <a:path w="2979769" h="7007189">
                <a:moveTo>
                  <a:pt x="7969" y="6531"/>
                </a:moveTo>
                <a:cubicBezTo>
                  <a:pt x="10513" y="2334264"/>
                  <a:pt x="-2206" y="4669628"/>
                  <a:pt x="338" y="6997361"/>
                </a:cubicBezTo>
                <a:lnTo>
                  <a:pt x="804803" y="7004990"/>
                </a:lnTo>
                <a:lnTo>
                  <a:pt x="804803" y="3997234"/>
                </a:lnTo>
                <a:lnTo>
                  <a:pt x="1074790" y="6999558"/>
                </a:lnTo>
                <a:lnTo>
                  <a:pt x="1947803" y="7007189"/>
                </a:lnTo>
                <a:lnTo>
                  <a:pt x="2176403" y="4023360"/>
                </a:lnTo>
                <a:cubicBezTo>
                  <a:pt x="2178866" y="5016122"/>
                  <a:pt x="2181330" y="6008884"/>
                  <a:pt x="2183793" y="7001646"/>
                </a:cubicBezTo>
                <a:lnTo>
                  <a:pt x="2969759" y="6999737"/>
                </a:lnTo>
                <a:cubicBezTo>
                  <a:pt x="2973096" y="4674122"/>
                  <a:pt x="2976432" y="2325615"/>
                  <a:pt x="2979769" y="0"/>
                </a:cubicBezTo>
                <a:lnTo>
                  <a:pt x="1699609" y="0"/>
                </a:lnTo>
                <a:lnTo>
                  <a:pt x="1497135" y="2331720"/>
                </a:lnTo>
                <a:lnTo>
                  <a:pt x="1301192" y="6531"/>
                </a:lnTo>
                <a:lnTo>
                  <a:pt x="7969" y="6531"/>
                </a:lnTo>
                <a:close/>
              </a:path>
            </a:pathLst>
          </a:custGeom>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5.xml><?xml version="1.0" encoding="utf-8"?>
<p:sldLayout xmlns:p="http://schemas.openxmlformats.org/presentationml/2006/main" preserve="1" userDrawn="1">
  <p:cSld name="Copy with subheadings_grey">
    <p:spTree>
      <p:nvGrpSpPr>
        <p:cNvPr id="1" name=""/>
        <p:cNvGrpSpPr/>
        <p:nvPr/>
      </p:nvGrpSpPr>
      <p:grpSpPr>
        <a:xfrm xmlns:a="http://schemas.openxmlformats.org/drawingml/2006/main"/>
      </p:grpSpPr>
      <p:sp>
        <p:nvSpPr>
          <p:cNvPr id="17" name="Freeform 16">
            <a:extLst xmlns:a="http://schemas.openxmlformats.org/drawingml/2006/main">
              <a:ext uri="{FF2B5EF4-FFF2-40B4-BE49-F238E27FC236}">
                <a16:creationId xmlns:a16="http://schemas.microsoft.com/office/drawing/2014/main" id="{84CE05A7-6415-4224-8099-BD7EAE31C5DA}"/>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solidFill xmlns:a="http://schemas.openxmlformats.org/drawingml/2006/main">
            <a:srgbClr val="D2D2D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435EAB2A-BE35-48CB-AAD6-859040DC75E9}"/>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00D9F5A9-7F8A-4AE2-8B4C-704C44886080}"/>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DDF9E08A-D944-47D4-B39B-FCF57408EFA8}"/>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42" name="Text Placeholder 17">
            <a:extLst xmlns:a="http://schemas.openxmlformats.org/drawingml/2006/main">
              <a:ext uri="{FF2B5EF4-FFF2-40B4-BE49-F238E27FC236}">
                <a16:creationId xmlns:a16="http://schemas.microsoft.com/office/drawing/2014/main" id="{A773E9C9-FB34-442E-B4ED-B5293CC0B782}"/>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2 (20PT, ARIAL NARROW, UPPER CASE)</a:t>
            </a:r>
          </a:p>
        </p:txBody>
      </p:sp>
      <p:sp>
        <p:nvSpPr>
          <p:cNvPr id="43" name="Text Placeholder 17">
            <a:extLst xmlns:a="http://schemas.openxmlformats.org/drawingml/2006/main">
              <a:ext uri="{FF2B5EF4-FFF2-40B4-BE49-F238E27FC236}">
                <a16:creationId xmlns:a16="http://schemas.microsoft.com/office/drawing/2014/main" id="{40EF88CF-6144-4D04-865C-B5DB53277F89}"/>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Level 1 bullet list (20pt, Arial) &gt; use ‘enter’, then ‘tab’ to create level 2 and 3 sub-bullet lists.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10" name="Text Placeholder 17">
            <a:extLst xmlns:a="http://schemas.openxmlformats.org/drawingml/2006/main">
              <a:ext uri="{FF2B5EF4-FFF2-40B4-BE49-F238E27FC236}">
                <a16:creationId xmlns:a16="http://schemas.microsoft.com/office/drawing/2014/main" id="{466839EE-A660-4E54-AD29-483FC9EA9A24}"/>
              </a:ext>
            </a:extLst>
          </p:cNvPr>
          <p:cNvSpPr>
            <a:spLocks xmlns:a="http://schemas.openxmlformats.org/drawingml/2006/main" noGrp="1"/>
          </p:cNvSpPr>
          <p:nvPr>
            <p:ph type="body" idx="19" hasCustomPrompt="1"/>
          </p:nvPr>
        </p:nvSpPr>
        <p:spPr>
          <a:xfrm xmlns:a="http://schemas.openxmlformats.org/drawingml/2006/main">
            <a:off x="306361" y="2131370"/>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p:txBody>
      </p:sp>
    </p:spTree>
  </p:cSld>
</p:sldLayout>
</file>

<file path=ppt/slideLayouts/slideLayout6.xml><?xml version="1.0" encoding="utf-8"?>
<p:sldLayout xmlns:p="http://schemas.openxmlformats.org/presentationml/2006/main" preserve="1" userDrawn="1">
  <p:cSld name="Copy with subheadings_blue">
    <p:spTree>
      <p:nvGrpSpPr>
        <p:cNvPr id="1" name=""/>
        <p:cNvGrpSpPr/>
        <p:nvPr/>
      </p:nvGrpSpPr>
      <p:grpSpPr>
        <a:xfrm xmlns:a="http://schemas.openxmlformats.org/drawingml/2006/main"/>
      </p:grpSpPr>
      <p:sp>
        <p:nvSpPr>
          <p:cNvPr id="17" name="Freeform 16">
            <a:extLst xmlns:a="http://schemas.openxmlformats.org/drawingml/2006/main">
              <a:ext uri="{FF2B5EF4-FFF2-40B4-BE49-F238E27FC236}">
                <a16:creationId xmlns:a16="http://schemas.microsoft.com/office/drawing/2014/main" id="{6EEE7214-2952-44DB-A3C6-C505C832EF7A}"/>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solidFill xmlns:a="http://schemas.openxmlformats.org/drawingml/2006/main">
            <a:srgbClr val="006DA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D280CD4B-221B-4766-B1FD-F59FC5358362}"/>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2B870B4A-5659-431F-9C52-5FFF9310E6F3}"/>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10" name="Text Placeholder 17">
            <a:extLst xmlns:a="http://schemas.openxmlformats.org/drawingml/2006/main">
              <a:ext uri="{FF2B5EF4-FFF2-40B4-BE49-F238E27FC236}">
                <a16:creationId xmlns:a16="http://schemas.microsoft.com/office/drawing/2014/main" id="{119DE6AA-0BCF-43ED-9B93-485A1E6DA675}"/>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11" name="Text Placeholder 17">
            <a:extLst xmlns:a="http://schemas.openxmlformats.org/drawingml/2006/main">
              <a:ext uri="{FF2B5EF4-FFF2-40B4-BE49-F238E27FC236}">
                <a16:creationId xmlns:a16="http://schemas.microsoft.com/office/drawing/2014/main" id="{A7184EA4-0CE3-477E-BCBE-1058D62AB5F7}"/>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2 (20PT, ARIAL NARROW, UPPER CASE)</a:t>
            </a:r>
          </a:p>
        </p:txBody>
      </p:sp>
      <p:sp>
        <p:nvSpPr>
          <p:cNvPr id="13" name="Text Placeholder 17">
            <a:extLst xmlns:a="http://schemas.openxmlformats.org/drawingml/2006/main">
              <a:ext uri="{FF2B5EF4-FFF2-40B4-BE49-F238E27FC236}">
                <a16:creationId xmlns:a16="http://schemas.microsoft.com/office/drawing/2014/main" id="{9D07E0DE-CCF8-4C7E-83F9-601B50B1CF7E}"/>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Level 1 bullet list (20pt, Arial) &gt; use ‘enter’, then ‘tab’ to create level 2 and 3 sub-bullet lists.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14" name="Text Placeholder 17">
            <a:extLst xmlns:a="http://schemas.openxmlformats.org/drawingml/2006/main">
              <a:ext uri="{FF2B5EF4-FFF2-40B4-BE49-F238E27FC236}">
                <a16:creationId xmlns:a16="http://schemas.microsoft.com/office/drawing/2014/main" id="{7017B2EC-6CC6-46B0-A700-31BC918FDD36}"/>
              </a:ext>
            </a:extLst>
          </p:cNvPr>
          <p:cNvSpPr>
            <a:spLocks xmlns:a="http://schemas.openxmlformats.org/drawingml/2006/main" noGrp="1"/>
          </p:cNvSpPr>
          <p:nvPr>
            <p:ph type="body" idx="19" hasCustomPrompt="1"/>
          </p:nvPr>
        </p:nvSpPr>
        <p:spPr>
          <a:xfrm xmlns:a="http://schemas.openxmlformats.org/drawingml/2006/main">
            <a:off x="306361" y="2131370"/>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p:txBody>
      </p:sp>
    </p:spTree>
  </p:cSld>
</p:sldLayout>
</file>

<file path=ppt/slideLayouts/slideLayout7.xml><?xml version="1.0" encoding="utf-8"?>
<p:sldLayout xmlns:p="http://schemas.openxmlformats.org/presentationml/2006/main" preserve="1" userDrawn="1">
  <p:cSld name="Bulleted list with textur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B7445E1A-58B1-4A2E-9C8B-81FEEFB29B18}"/>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7FE20C2D-3F5B-4F70-ACC0-A43A693819BA}"/>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37E586F7-ACAF-46BA-9016-3EE4934EFFF3}"/>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25" name="Text Placeholder 17">
            <a:extLst xmlns:a="http://schemas.openxmlformats.org/drawingml/2006/main">
              <a:ext uri="{FF2B5EF4-FFF2-40B4-BE49-F238E27FC236}">
                <a16:creationId xmlns:a16="http://schemas.microsoft.com/office/drawing/2014/main" id="{4079832C-F1D0-4BDF-95EE-6F177A1F4B1B}"/>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1 (20PT, ARIAL NARROW, UPPER CASE)</a:t>
            </a:r>
          </a:p>
        </p:txBody>
      </p:sp>
      <p:sp>
        <p:nvSpPr>
          <p:cNvPr id="26" name="Text Placeholder 17">
            <a:extLst xmlns:a="http://schemas.openxmlformats.org/drawingml/2006/main">
              <a:ext uri="{FF2B5EF4-FFF2-40B4-BE49-F238E27FC236}">
                <a16:creationId xmlns:a16="http://schemas.microsoft.com/office/drawing/2014/main" id="{6F2D5B67-BB1A-48F0-ACC1-7BFF3B19DF82}"/>
              </a:ext>
            </a:extLst>
          </p:cNvPr>
          <p:cNvSpPr>
            <a:spLocks xmlns:a="http://schemas.openxmlformats.org/drawingml/2006/main" noGrp="1"/>
          </p:cNvSpPr>
          <p:nvPr>
            <p:ph type="body" idx="16" hasCustomPrompt="1"/>
          </p:nvPr>
        </p:nvSpPr>
        <p:spPr>
          <a:xfrm xmlns:a="http://schemas.openxmlformats.org/drawingml/2006/main">
            <a:off x="300211" y="2131371"/>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Bullet list, one column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a:p xmlns:a="http://schemas.openxmlformats.org/drawingml/2006/main">
            <a:endParaRPr/>
          </a:p>
        </p:txBody>
      </p:sp>
      <p:sp>
        <p:nvSpPr>
          <p:cNvPr id="27" name="Text Placeholder 17">
            <a:extLst xmlns:a="http://schemas.openxmlformats.org/drawingml/2006/main">
              <a:ext uri="{FF2B5EF4-FFF2-40B4-BE49-F238E27FC236}">
                <a16:creationId xmlns:a16="http://schemas.microsoft.com/office/drawing/2014/main" id="{30CDAF4D-0CE9-426B-94B4-B1E0C5A23F22}"/>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2 (20PT, ARIAL NARROW, UPPER CASE)</a:t>
            </a:r>
          </a:p>
        </p:txBody>
      </p:sp>
      <p:sp>
        <p:nvSpPr>
          <p:cNvPr id="28" name="Text Placeholder 17">
            <a:extLst xmlns:a="http://schemas.openxmlformats.org/drawingml/2006/main">
              <a:ext uri="{FF2B5EF4-FFF2-40B4-BE49-F238E27FC236}">
                <a16:creationId xmlns:a16="http://schemas.microsoft.com/office/drawing/2014/main" id="{7415D1DC-1E04-4B04-86DC-6692F58340CA}"/>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marR="0" indent="-342900" algn="l" defTabSz="914400">
              <a:lnSpc>
                <a:spcPct val="90000"/>
              </a:lnSpc>
              <a:spcBef>
                <a:spcPts val="1000"/>
              </a:spcBef>
              <a:spcAft>
                <a:spcPts val="0"/>
              </a:spcAft>
              <a:buClrTx/>
              <a:buSzTx/>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Bullet list, two column (20pt, Arial)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pPr marL="342900" marR="0" lvl="0" indent="-342900" algn="l" defTabSz="914400">
              <a:lnSpc>
                <a:spcPct val="90000"/>
              </a:lnSpc>
              <a:spcBef>
                <a:spcPts val="1000"/>
              </a:spcBef>
              <a:spcAft>
                <a:spcPts val="0"/>
              </a:spcAft>
              <a:buClrTx/>
              <a:buSzTx/>
              <a:buFont typeface="Arial"/>
              <a:buChar char="•"/>
            </a:pPr>
            <a:r>
              <a:t>Bullet list, two column (20pt, Arial) </a:t>
            </a:r>
          </a:p>
          <a:p xmlns:a="http://schemas.openxmlformats.org/drawingml/2006/main">
            <a:endParaRPr/>
          </a:p>
        </p:txBody>
      </p:sp>
      <p:sp>
        <p:nvSpPr>
          <p:cNvPr id="29" name="Freeform 28">
            <a:extLst xmlns:a="http://schemas.openxmlformats.org/drawingml/2006/main">
              <a:ext uri="{FF2B5EF4-FFF2-40B4-BE49-F238E27FC236}">
                <a16:creationId xmlns:a16="http://schemas.microsoft.com/office/drawing/2014/main" id="{058D2D07-A5B3-4538-800D-BACEC3B23477}"/>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preserve="1" userDrawn="1">
  <p:cSld name="Copy with two images">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8599A87E-2CE9-4FFB-A5FA-16FC7F80B973}"/>
              </a:ext>
            </a:extLst>
          </p:cNvPr>
          <p:cNvSpPr>
            <a:spLocks xmlns:a="http://schemas.openxmlformats.org/drawingml/2006/main" noGrp="1"/>
          </p:cNvSpPr>
          <p:nvPr>
            <p:ph type="body" idx="11" hasCustomPrompt="1"/>
          </p:nvPr>
        </p:nvSpPr>
        <p:spPr>
          <a:xfrm xmlns:a="http://schemas.openxmlformats.org/drawingml/2006/main">
            <a:off x="306060" y="1046138"/>
            <a:ext cx="7451725" cy="466468"/>
          </a:xfrm>
          <a:prstGeom xmlns:a="http://schemas.openxmlformats.org/drawingml/2006/main" prst="rect">
            <a:avLst/>
          </a:prstGeom>
        </p:spPr>
        <p:txBody>
          <a:bodyPr xmlns:a="http://schemas.openxmlformats.org/drawingml/2006/main"/>
          <a:lstStyle xmlns:a="http://schemas.openxmlformats.org/drawingml/2006/main">
            <a:lvl1pPr>
              <a:buNone/>
              <a:defRPr sz="2400">
                <a:solidFill>
                  <a:schemeClr val="tx1"/>
                </a:solidFill>
              </a:defRPr>
            </a:lvl1pPr>
          </a:lstStyle>
          <a:p xmlns:a="http://schemas.openxmlformats.org/drawingml/2006/main">
            <a:r>
              <a:t>SUB HEADING (24PT, UPPER CASE)</a:t>
            </a:r>
            <a:endParaRPr/>
          </a:p>
        </p:txBody>
      </p:sp>
      <p:sp>
        <p:nvSpPr>
          <p:cNvPr id="19" name="Text Placeholder 22">
            <a:extLst xmlns:a="http://schemas.openxmlformats.org/drawingml/2006/main">
              <a:ext uri="{FF2B5EF4-FFF2-40B4-BE49-F238E27FC236}">
                <a16:creationId xmlns:a16="http://schemas.microsoft.com/office/drawing/2014/main" id="{54C78CB8-E688-43B0-9DF8-E35BBE492586}"/>
              </a:ext>
            </a:extLst>
          </p:cNvPr>
          <p:cNvSpPr>
            <a:spLocks xmlns:a="http://schemas.openxmlformats.org/drawingml/2006/main" noGrp="1"/>
          </p:cNvSpPr>
          <p:nvPr>
            <p:ph type="body" idx="13" hasCustomPrompt="1"/>
          </p:nvPr>
        </p:nvSpPr>
        <p:spPr>
          <a:xfrm xmlns:a="http://schemas.openxmlformats.org/drawingml/2006/main">
            <a:off x="306060" y="359998"/>
            <a:ext cx="7452026" cy="736956"/>
          </a:xfrm>
          <a:prstGeom xmlns:a="http://schemas.openxmlformats.org/drawingml/2006/main" prst="rect">
            <a:avLst/>
          </a:prstGeom>
        </p:spPr>
        <p:txBody>
          <a:bodyPr xmlns:a="http://schemas.openxmlformats.org/drawingml/2006/main"/>
          <a:lstStyle xmlns:a="http://schemas.openxmlformats.org/drawingml/2006/main">
            <a:lvl1pPr>
              <a:buNone/>
              <a:defRPr sz="4200" b="1" baseline="0">
                <a:solidFill>
                  <a:schemeClr val="tx1"/>
                </a:solidFill>
              </a:defRPr>
            </a:lvl1pPr>
          </a:lstStyle>
          <a:p xmlns:a="http://schemas.openxmlformats.org/drawingml/2006/main">
            <a:pPr lvl="0">
              <a:buNone/>
            </a:pPr>
            <a:r>
              <a:t>HEADING (42PT, UPPER CASE)</a:t>
            </a:r>
          </a:p>
        </p:txBody>
      </p:sp>
      <p:sp>
        <p:nvSpPr>
          <p:cNvPr id="23" name="Text Placeholder 17">
            <a:extLst xmlns:a="http://schemas.openxmlformats.org/drawingml/2006/main">
              <a:ext uri="{FF2B5EF4-FFF2-40B4-BE49-F238E27FC236}">
                <a16:creationId xmlns:a16="http://schemas.microsoft.com/office/drawing/2014/main" id="{E4565448-45EF-490B-BE61-7AE0E03A2481}"/>
              </a:ext>
            </a:extLst>
          </p:cNvPr>
          <p:cNvSpPr>
            <a:spLocks xmlns:a="http://schemas.openxmlformats.org/drawingml/2006/main" noGrp="1"/>
          </p:cNvSpPr>
          <p:nvPr>
            <p:ph type="body" idx="14" hasCustomPrompt="1"/>
          </p:nvPr>
        </p:nvSpPr>
        <p:spPr>
          <a:xfrm xmlns:a="http://schemas.openxmlformats.org/drawingml/2006/main">
            <a:off x="306060" y="1763411"/>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(20PT, ARIAL NARROW, UPPER CASE)</a:t>
            </a:r>
          </a:p>
        </p:txBody>
      </p:sp>
      <p:sp>
        <p:nvSpPr>
          <p:cNvPr id="24" name="Text Placeholder 17">
            <a:extLst xmlns:a="http://schemas.openxmlformats.org/drawingml/2006/main">
              <a:ext uri="{FF2B5EF4-FFF2-40B4-BE49-F238E27FC236}">
                <a16:creationId xmlns:a16="http://schemas.microsoft.com/office/drawing/2014/main" id="{9EBD0A08-9D48-4854-B1C1-3F5149C62175}"/>
              </a:ext>
            </a:extLst>
          </p:cNvPr>
          <p:cNvSpPr>
            <a:spLocks xmlns:a="http://schemas.openxmlformats.org/drawingml/2006/main" noGrp="1"/>
          </p:cNvSpPr>
          <p:nvPr>
            <p:ph type="body" idx="16" hasCustomPrompt="1"/>
          </p:nvPr>
        </p:nvSpPr>
        <p:spPr>
          <a:xfrm xmlns:a="http://schemas.openxmlformats.org/drawingml/2006/main">
            <a:off x="300212" y="2131371"/>
            <a:ext cx="4352700" cy="3976132"/>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25" name="Picture Placeholder 17">
            <a:extLst xmlns:a="http://schemas.openxmlformats.org/drawingml/2006/main">
              <a:ext uri="{FF2B5EF4-FFF2-40B4-BE49-F238E27FC236}">
                <a16:creationId xmlns:a16="http://schemas.microsoft.com/office/drawing/2014/main" id="{C1F8CC9E-1830-4D72-86E5-9C602E9F3D8D}"/>
              </a:ext>
            </a:extLst>
          </p:cNvPr>
          <p:cNvSpPr>
            <a:spLocks xmlns:a="http://schemas.openxmlformats.org/drawingml/2006/main" noGrp="1"/>
          </p:cNvSpPr>
          <p:nvPr>
            <p:ph type="pic" idx="17"/>
          </p:nvPr>
        </p:nvSpPr>
        <p:spPr>
          <a:xfrm xmlns:a="http://schemas.openxmlformats.org/drawingml/2006/main">
            <a:off x="7380288" y="2520000"/>
            <a:ext cx="4027879" cy="22679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26" name="Picture Placeholder 19">
            <a:extLst xmlns:a="http://schemas.openxmlformats.org/drawingml/2006/main">
              <a:ext uri="{FF2B5EF4-FFF2-40B4-BE49-F238E27FC236}">
                <a16:creationId xmlns:a16="http://schemas.microsoft.com/office/drawing/2014/main" id="{357364C1-864B-476B-B866-1199A8427FB8}"/>
              </a:ext>
            </a:extLst>
          </p:cNvPr>
          <p:cNvSpPr>
            <a:spLocks xmlns:a="http://schemas.openxmlformats.org/drawingml/2006/main" noGrp="1"/>
          </p:cNvSpPr>
          <p:nvPr>
            <p:ph type="pic" idx="18"/>
          </p:nvPr>
        </p:nvSpPr>
        <p:spPr>
          <a:xfrm xmlns:a="http://schemas.openxmlformats.org/drawingml/2006/main">
            <a:off x="4960507" y="2519363"/>
            <a:ext cx="2281237" cy="22685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preserve="1" userDrawn="1">
  <p:cSld name="Full slide image with caption">
    <p:spTree>
      <p:nvGrpSpPr>
        <p:cNvPr id="1" name=""/>
        <p:cNvGrpSpPr/>
        <p:nvPr/>
      </p:nvGrpSpPr>
      <p:grpSpPr>
        <a:xfrm xmlns:a="http://schemas.openxmlformats.org/drawingml/2006/main"/>
      </p:grpSpPr>
      <p:sp>
        <p:nvSpPr>
          <p:cNvPr id="5" name="Picture Placeholder 4">
            <a:extLst xmlns:a="http://schemas.openxmlformats.org/drawingml/2006/main">
              <a:ext uri="{FF2B5EF4-FFF2-40B4-BE49-F238E27FC236}">
                <a16:creationId xmlns:a16="http://schemas.microsoft.com/office/drawing/2014/main" id="{6061F949-74A9-4216-AC7C-A5C7AFD8C4C7}"/>
              </a:ext>
            </a:extLst>
          </p:cNvPr>
          <p:cNvSpPr>
            <a:spLocks xmlns:a="http://schemas.openxmlformats.org/drawingml/2006/main" noGrp="1"/>
          </p:cNvSpPr>
          <p:nvPr>
            <p:ph type="pic" idx="15"/>
          </p:nvPr>
        </p:nvSpPr>
        <p:spPr>
          <a:xfrm xmlns:a="http://schemas.openxmlformats.org/drawingml/2006/main">
            <a:off x="0" y="-8466"/>
            <a:ext cx="10371666" cy="6866466"/>
          </a:xfrm>
          <a:custGeom xmlns:a="http://schemas.openxmlformats.org/drawingml/2006/main">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9228667 w 12192000"/>
              <a:gd name="connsiteY1" fmla="*/ 8467 h 6858000"/>
              <a:gd name="connsiteX2" fmla="*/ 12192000 w 12192000"/>
              <a:gd name="connsiteY2" fmla="*/ 6858000 h 6858000"/>
              <a:gd name="connsiteX3" fmla="*/ 0 w 12192000"/>
              <a:gd name="connsiteY3" fmla="*/ 6858000 h 6858000"/>
              <a:gd name="connsiteX4" fmla="*/ 0 w 12192000"/>
              <a:gd name="connsiteY4" fmla="*/ 0 h 6858000"/>
              <a:gd name="connsiteX0" fmla="*/ 0 w 10498666"/>
              <a:gd name="connsiteY0" fmla="*/ 0 h 6858000"/>
              <a:gd name="connsiteX1" fmla="*/ 9228667 w 10498666"/>
              <a:gd name="connsiteY1" fmla="*/ 8467 h 6858000"/>
              <a:gd name="connsiteX2" fmla="*/ 10498666 w 10498666"/>
              <a:gd name="connsiteY2" fmla="*/ 6858000 h 6858000"/>
              <a:gd name="connsiteX3" fmla="*/ 0 w 10498666"/>
              <a:gd name="connsiteY3" fmla="*/ 6858000 h 6858000"/>
              <a:gd name="connsiteX4" fmla="*/ 0 w 10498666"/>
              <a:gd name="connsiteY4" fmla="*/ 0 h 6858000"/>
              <a:gd name="connsiteX0" fmla="*/ 0 w 10498666"/>
              <a:gd name="connsiteY0" fmla="*/ 8466 h 6866466"/>
              <a:gd name="connsiteX1" fmla="*/ 9245601 w 10498666"/>
              <a:gd name="connsiteY1" fmla="*/ 0 h 6866466"/>
              <a:gd name="connsiteX2" fmla="*/ 10498666 w 10498666"/>
              <a:gd name="connsiteY2" fmla="*/ 6866466 h 6866466"/>
              <a:gd name="connsiteX3" fmla="*/ 0 w 10498666"/>
              <a:gd name="connsiteY3" fmla="*/ 6866466 h 6866466"/>
              <a:gd name="connsiteX4" fmla="*/ 0 w 10498666"/>
              <a:gd name="connsiteY4" fmla="*/ 8466 h 6866466"/>
              <a:gd name="connsiteX0" fmla="*/ 0 w 10371666"/>
              <a:gd name="connsiteY0" fmla="*/ 8466 h 6866466"/>
              <a:gd name="connsiteX1" fmla="*/ 9245601 w 10371666"/>
              <a:gd name="connsiteY1" fmla="*/ 0 h 6866466"/>
              <a:gd name="connsiteX2" fmla="*/ 10371666 w 10371666"/>
              <a:gd name="connsiteY2" fmla="*/ 6849533 h 6866466"/>
              <a:gd name="connsiteX3" fmla="*/ 0 w 10371666"/>
              <a:gd name="connsiteY3" fmla="*/ 6866466 h 6866466"/>
              <a:gd name="connsiteX4" fmla="*/ 0 w 10371666"/>
              <a:gd name="connsiteY4" fmla="*/ 8466 h 6866466"/>
            </a:gdLst>
            <a:rect l="l" t="t" r="r" b="b"/>
            <a:pathLst>
              <a:path w="10371666" h="6866466">
                <a:moveTo>
                  <a:pt x="0" y="8466"/>
                </a:moveTo>
                <a:lnTo>
                  <a:pt x="9245601" y="0"/>
                </a:lnTo>
                <a:lnTo>
                  <a:pt x="10371666" y="6849533"/>
                </a:lnTo>
                <a:lnTo>
                  <a:pt x="0" y="6866466"/>
                </a:lnTo>
                <a:lnTo>
                  <a:pt x="0" y="8466"/>
                </a:lnTo>
                <a:close/>
              </a:path>
            </a:pathLst>
          </a:custGeom>
        </p:spPr>
        <p:txBody>
          <a:bodyPr xmlns:a="http://schemas.openxmlformats.org/drawingml/2006/main"/>
          <a:lstStyle xmlns:a="http://schemas.openxmlformats.org/drawingml/2006/main"/>
          <a:p xmlns:a="http://schemas.openxmlformats.org/drawingml/2006/main">
            <a:endParaRPr/>
          </a:p>
        </p:txBody>
      </p:sp>
      <p:sp>
        <p:nvSpPr>
          <p:cNvPr id="13" name="Text Placeholder 17">
            <a:extLst xmlns:a="http://schemas.openxmlformats.org/drawingml/2006/main">
              <a:ext uri="{FF2B5EF4-FFF2-40B4-BE49-F238E27FC236}">
                <a16:creationId xmlns:a16="http://schemas.microsoft.com/office/drawing/2014/main" id="{B0F437CF-4DF7-4CE5-ACC9-5B8FF6EE71EC}"/>
              </a:ext>
            </a:extLst>
          </p:cNvPr>
          <p:cNvSpPr>
            <a:spLocks xmlns:a="http://schemas.openxmlformats.org/drawingml/2006/main" noGrp="1"/>
          </p:cNvSpPr>
          <p:nvPr>
            <p:ph type="body" idx="14" hasCustomPrompt="1"/>
          </p:nvPr>
        </p:nvSpPr>
        <p:spPr>
          <a:xfrm xmlns:a="http://schemas.openxmlformats.org/drawingml/2006/main">
            <a:off x="9689170" y="332573"/>
            <a:ext cx="2309631" cy="1302845"/>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Image caption (title case)</a:t>
            </a:r>
          </a:p>
        </p:txBody>
      </p:sp>
    </p:spTree>
  </p:cSld>
</p:sldLayout>
</file>

<file path=ppt/slideLayouts/slideLayout10.xml><?xml version="1.0" encoding="utf-8"?>
<p:sldLayout xmlns:p="http://schemas.openxmlformats.org/presentationml/2006/main" preserve="1" userDrawn="1">
  <p:cSld name="Section divider">
    <p:spTree>
      <p:nvGrpSpPr>
        <p:cNvPr id="1" name=""/>
        <p:cNvGrpSpPr/>
        <p:nvPr/>
      </p:nvGrpSpPr>
      <p:grpSpPr>
        <a:xfrm xmlns:a="http://schemas.openxmlformats.org/drawingml/2006/main"/>
      </p:grpSpPr>
      <p:sp>
        <p:nvSpPr>
          <p:cNvPr id="5" name="Freeform 4">
            <a:extLst xmlns:a="http://schemas.openxmlformats.org/drawingml/2006/main">
              <a:ext uri="{FF2B5EF4-FFF2-40B4-BE49-F238E27FC236}">
                <a16:creationId xmlns:a16="http://schemas.microsoft.com/office/drawing/2014/main" id="{446DC7FA-2DC5-4C50-B2B9-4DB3ED1B2C14}"/>
              </a:ext>
            </a:extLst>
          </p:cNvPr>
          <p:cNvSpPr>
            <a:spLocks xmlns:a="http://schemas.openxmlformats.org/drawingml/2006/main" noGrp="1"/>
          </p:cNvSpPr>
          <p:nvPr/>
        </p:nvSpPr>
        <p:spPr>
          <a:xfrm xmlns:a="http://schemas.openxmlformats.org/drawingml/2006/main">
            <a:off x="-19050" y="-9525"/>
            <a:ext cx="9420225" cy="6867525"/>
          </a:xfrm>
          <a:custGeom xmlns:a="http://schemas.openxmlformats.org/drawingml/2006/main">
            <a:gdLst>
              <a:gd name="connsiteX0" fmla="*/ 9525 w 8905875"/>
              <a:gd name="connsiteY0" fmla="*/ 0 h 6896100"/>
              <a:gd name="connsiteX1" fmla="*/ 4724400 w 8905875"/>
              <a:gd name="connsiteY1" fmla="*/ 0 h 6896100"/>
              <a:gd name="connsiteX2" fmla="*/ 8905875 w 8905875"/>
              <a:gd name="connsiteY2" fmla="*/ 6896100 h 6896100"/>
              <a:gd name="connsiteX3" fmla="*/ 0 w 8905875"/>
              <a:gd name="connsiteY3" fmla="*/ 6896100 h 6896100"/>
              <a:gd name="connsiteX4" fmla="*/ 9525 w 8905875"/>
              <a:gd name="connsiteY4" fmla="*/ 0 h 6896100"/>
            </a:gdLst>
            <a:rect l="l" t="t" r="r" b="b"/>
            <a:pathLst>
              <a:path w="8905875" h="6896100">
                <a:moveTo>
                  <a:pt x="9525" y="0"/>
                </a:moveTo>
                <a:lnTo>
                  <a:pt x="4724400" y="0"/>
                </a:lnTo>
                <a:lnTo>
                  <a:pt x="8905875" y="6896100"/>
                </a:lnTo>
                <a:lnTo>
                  <a:pt x="0" y="6896100"/>
                </a:lnTo>
                <a:lnTo>
                  <a:pt x="9525" y="0"/>
                </a:lnTo>
                <a:close/>
              </a:path>
            </a:pathLst>
          </a:custGeom>
          <a:solidFill xmlns:a="http://schemas.openxmlformats.org/drawingml/2006/main">
            <a:srgbClr val="006DAE"/>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 Placeholder 22">
            <a:extLst xmlns:a="http://schemas.openxmlformats.org/drawingml/2006/main">
              <a:ext uri="{FF2B5EF4-FFF2-40B4-BE49-F238E27FC236}">
                <a16:creationId xmlns:a16="http://schemas.microsoft.com/office/drawing/2014/main" id="{E3619149-78E1-4EF5-9904-0118824ABE09}"/>
              </a:ext>
            </a:extLst>
          </p:cNvPr>
          <p:cNvSpPr>
            <a:spLocks xmlns:a="http://schemas.openxmlformats.org/drawingml/2006/main" noGrp="1"/>
          </p:cNvSpPr>
          <p:nvPr>
            <p:ph type="body" idx="13" hasCustomPrompt="1"/>
          </p:nvPr>
        </p:nvSpPr>
        <p:spPr>
          <a:xfrm xmlns:a="http://schemas.openxmlformats.org/drawingml/2006/main">
            <a:off x="138368" y="1741593"/>
            <a:ext cx="5757606" cy="3435594"/>
          </a:xfrm>
          <a:prstGeom xmlns:a="http://schemas.openxmlformats.org/drawingml/2006/main" prst="rect">
            <a:avLst/>
          </a:prstGeom>
        </p:spPr>
        <p:txBody>
          <a:bodyPr xmlns:a="http://schemas.openxmlformats.org/drawingml/2006/main" wrap="square"/>
          <a:lstStyle xmlns:a="http://schemas.openxmlformats.org/drawingml/2006/main">
            <a:lvl1pPr algn="r">
              <a:buNone/>
              <a:defRPr sz="4400" b="1" baseline="0">
                <a:solidFill>
                  <a:schemeClr val="bg1"/>
                </a:solidFill>
              </a:defRPr>
            </a:lvl1pPr>
          </a:lstStyle>
          <a:p xmlns:a="http://schemas.openxmlformats.org/drawingml/2006/main">
            <a:pPr lvl="0">
              <a:buNone/>
            </a:pPr>
            <a:r>
              <a:t>SECTION DIVIDER OR PULL-OUT QUOTE (UPPER CASE)</a:t>
            </a:r>
          </a:p>
        </p:txBody>
      </p:sp>
      <p:sp>
        <p:nvSpPr>
          <p:cNvPr id="3" name="Picture Placeholder 2">
            <a:extLst xmlns:a="http://schemas.openxmlformats.org/drawingml/2006/main">
              <a:ext uri="{FF2B5EF4-FFF2-40B4-BE49-F238E27FC236}">
                <a16:creationId xmlns:a16="http://schemas.microsoft.com/office/drawing/2014/main" id="{BF47C82E-9673-4E62-9CF1-D73F08BECA4E}"/>
              </a:ext>
            </a:extLst>
          </p:cNvPr>
          <p:cNvSpPr>
            <a:spLocks xmlns:a="http://schemas.openxmlformats.org/drawingml/2006/main" noGrp="1"/>
          </p:cNvSpPr>
          <p:nvPr>
            <p:ph type="pic" idx="14"/>
          </p:nvPr>
        </p:nvSpPr>
        <p:spPr>
          <a:xfrm xmlns:a="http://schemas.openxmlformats.org/drawingml/2006/main">
            <a:off x="6091492" y="1733018"/>
            <a:ext cx="5438775" cy="3435350"/>
          </a:xfrm>
          <a:custGeom xmlns:a="http://schemas.openxmlformats.org/drawingml/2006/main">
            <a:gdLst>
              <a:gd name="connsiteX0" fmla="*/ 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0 w 5476875"/>
              <a:gd name="connsiteY4" fmla="*/ 0 h 3435350"/>
              <a:gd name="connsiteX0" fmla="*/ 1905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19050 w 5476875"/>
              <a:gd name="connsiteY4" fmla="*/ 0 h 3435350"/>
              <a:gd name="connsiteX0" fmla="*/ 0 w 5457825"/>
              <a:gd name="connsiteY0" fmla="*/ 0 h 3435350"/>
              <a:gd name="connsiteX1" fmla="*/ 5457825 w 5457825"/>
              <a:gd name="connsiteY1" fmla="*/ 0 h 3435350"/>
              <a:gd name="connsiteX2" fmla="*/ 5457825 w 5457825"/>
              <a:gd name="connsiteY2" fmla="*/ 3435350 h 3435350"/>
              <a:gd name="connsiteX3" fmla="*/ 2266950 w 5457825"/>
              <a:gd name="connsiteY3" fmla="*/ 3435350 h 3435350"/>
              <a:gd name="connsiteX4" fmla="*/ 0 w 5457825"/>
              <a:gd name="connsiteY4" fmla="*/ 0 h 3435350"/>
              <a:gd name="connsiteX0" fmla="*/ 0 w 5438775"/>
              <a:gd name="connsiteY0" fmla="*/ 0 h 3435350"/>
              <a:gd name="connsiteX1" fmla="*/ 5438775 w 5438775"/>
              <a:gd name="connsiteY1" fmla="*/ 0 h 3435350"/>
              <a:gd name="connsiteX2" fmla="*/ 5438775 w 5438775"/>
              <a:gd name="connsiteY2" fmla="*/ 3435350 h 3435350"/>
              <a:gd name="connsiteX3" fmla="*/ 2247900 w 5438775"/>
              <a:gd name="connsiteY3" fmla="*/ 3435350 h 3435350"/>
              <a:gd name="connsiteX4" fmla="*/ 0 w 5438775"/>
              <a:gd name="connsiteY4" fmla="*/ 0 h 3435350"/>
            </a:gdLst>
            <a:rect l="l" t="t" r="r" b="b"/>
            <a:pathLst>
              <a:path w="5438775" h="3435350">
                <a:moveTo>
                  <a:pt x="0" y="0"/>
                </a:moveTo>
                <a:lnTo>
                  <a:pt x="5438775" y="0"/>
                </a:lnTo>
                <a:lnTo>
                  <a:pt x="5438775" y="3435350"/>
                </a:lnTo>
                <a:lnTo>
                  <a:pt x="2247900" y="3435350"/>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preserve="1" userDrawn="1">
  <p:cSld name="Full slide copy_grey">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6C879FEF-DC91-4951-B0E5-43D3040EDF94}"/>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16E42D98-FCC5-42A8-A027-B4B5D7C4989B}"/>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0B60FA61-6103-4D75-BCE8-6696DD50E3EF}"/>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FC321D5D-09E3-4855-A150-A1864A13D7C3}"/>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41" name="Text Placeholder 17">
            <a:extLst xmlns:a="http://schemas.openxmlformats.org/drawingml/2006/main">
              <a:ext uri="{FF2B5EF4-FFF2-40B4-BE49-F238E27FC236}">
                <a16:creationId xmlns:a16="http://schemas.microsoft.com/office/drawing/2014/main" id="{8C7804E7-0D2A-449B-8D68-48E74417A60F}"/>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01255507-862C-4540-B578-D31212BAA379}"/>
              </a:ext>
            </a:extLst>
          </p:cNvPr>
          <p:cNvSpPr>
            <a:spLocks xmlns:a="http://schemas.openxmlformats.org/drawingml/2006/main" noGrp="1"/>
          </p:cNvSpPr>
          <p:nvPr/>
        </p:nvSpPr>
        <p:spPr>
          <a:xfrm xmlns:a="http://schemas.openxmlformats.org/drawingml/2006/main">
            <a:off x="0" y="6006108"/>
            <a:ext cx="12192000" cy="870942"/>
          </a:xfrm>
          <a:prstGeom xmlns:a="http://schemas.openxmlformats.org/drawingml/2006/main" prst="rect">
            <a:avLst/>
          </a:prstGeom>
          <a:solidFill xmlns:a="http://schemas.openxmlformats.org/drawingml/2006/main">
            <a:srgbClr val="D2D2D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2.xml><?xml version="1.0" encoding="utf-8"?>
<p:sldLayout xmlns:p="http://schemas.openxmlformats.org/presentationml/2006/main" preserve="1" userDrawn="1">
  <p:cSld name="Full slide copy_textur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E8B06B49-0756-4552-B15F-70B193380F86}"/>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0F7056E6-5144-4734-8092-CF75883C21EF}"/>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C24E110D-C152-4F5D-AD6E-1749796FB06F}"/>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99E00C5E-FC26-4EDB-8B70-852B3BF6453F}"/>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5" name="Rectangle 4">
            <a:extLst xmlns:a="http://schemas.openxmlformats.org/drawingml/2006/main">
              <a:ext uri="{FF2B5EF4-FFF2-40B4-BE49-F238E27FC236}">
                <a16:creationId xmlns:a16="http://schemas.microsoft.com/office/drawing/2014/main" id="{777D9326-DCC8-4AC5-A964-BF81B5FC733B}"/>
              </a:ext>
            </a:extLst>
          </p:cNvPr>
          <p:cNvSpPr>
            <a:spLocks xmlns:a="http://schemas.openxmlformats.org/drawingml/2006/main" noGrp="1"/>
          </p:cNvSpPr>
          <p:nvPr/>
        </p:nvSpPr>
        <p:spPr>
          <a:xfrm xmlns:a="http://schemas.openxmlformats.org/drawingml/2006/main">
            <a:off x="0" y="6006108"/>
            <a:ext cx="12192000" cy="870942"/>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 Placeholder 17">
            <a:extLst xmlns:a="http://schemas.openxmlformats.org/drawingml/2006/main">
              <a:ext uri="{FF2B5EF4-FFF2-40B4-BE49-F238E27FC236}">
                <a16:creationId xmlns:a16="http://schemas.microsoft.com/office/drawing/2014/main" id="{3B205BC4-90F4-41C2-9740-8B9731D9D192}"/>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Layouts/slideLayout13.xml><?xml version="1.0" encoding="utf-8"?>
<p:sldLayout xmlns:p="http://schemas.openxmlformats.org/presentationml/2006/main" preserve="1" userDrawn="1">
  <p:cSld name="Full slide copy_texture option 2">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74E0E7A3-404F-47BF-AF25-CCD3ADBEF759}"/>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AE4CA6C5-B635-42B6-97C9-894A1BE8D5C0}"/>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122B80FA-A860-4FD5-B914-616C85F8B0FB}"/>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31F1573F-4B61-40CD-ABC6-11CAB0C717C4}"/>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19" name="Rectangle 18">
            <a:extLst xmlns:a="http://schemas.openxmlformats.org/drawingml/2006/main">
              <a:ext uri="{FF2B5EF4-FFF2-40B4-BE49-F238E27FC236}">
                <a16:creationId xmlns:a16="http://schemas.microsoft.com/office/drawing/2014/main" id="{E0B6C49D-6247-41F3-BDB2-A6294F8E0FA4}"/>
              </a:ext>
            </a:extLst>
          </p:cNvPr>
          <p:cNvSpPr>
            <a:spLocks xmlns:a="http://schemas.openxmlformats.org/drawingml/2006/main" noGrp="1"/>
          </p:cNvSpPr>
          <p:nvPr/>
        </p:nvSpPr>
        <p:spPr>
          <a:xfrm xmlns:a="http://schemas.openxmlformats.org/drawingml/2006/main">
            <a:off x="9993085" y="-19049"/>
            <a:ext cx="123825" cy="1190946"/>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Isosceles Triangle 20">
            <a:extLst xmlns:a="http://schemas.openxmlformats.org/drawingml/2006/main">
              <a:ext uri="{FF2B5EF4-FFF2-40B4-BE49-F238E27FC236}">
                <a16:creationId xmlns:a16="http://schemas.microsoft.com/office/drawing/2014/main" id="{CF19B229-16AC-4AAE-BA41-3AFED6786F7B}"/>
              </a:ext>
            </a:extLst>
          </p:cNvPr>
          <p:cNvSpPr>
            <a:spLocks xmlns:a="http://schemas.openxmlformats.org/drawingml/2006/main" noGrp="1"/>
          </p:cNvSpPr>
          <p:nvPr/>
        </p:nvSpPr>
        <p:spPr>
          <a:xfrm xmlns:a="http://schemas.openxmlformats.org/drawingml/2006/main" rot="16200000" flipH="1">
            <a:off x="8957587" y="-680357"/>
            <a:ext cx="2562223" cy="3884848"/>
          </a:xfrm>
          <a:prstGeom xmlns:a="http://schemas.openxmlformats.org/drawingml/2006/main" prst="triangle">
            <a:avLst>
              <a:gd name="adj" fmla="val 0"/>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 Placeholder 17">
            <a:extLst xmlns:a="http://schemas.openxmlformats.org/drawingml/2006/main">
              <a:ext uri="{FF2B5EF4-FFF2-40B4-BE49-F238E27FC236}">
                <a16:creationId xmlns:a16="http://schemas.microsoft.com/office/drawing/2014/main" id="{C916FAF3-DF47-4D39-B6F1-D0B18A97188A}"/>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Layouts/slideLayout14.xml><?xml version="1.0" encoding="utf-8"?>
<p:sldLayout xmlns:p="http://schemas.openxmlformats.org/presentationml/2006/main" preserve="1" userDrawn="1">
  <p:cSld name="Full slide copy_texture option 3">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BA7C78F4-BAF0-437A-B890-C0D36CFC0671}"/>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BCF51FF1-746E-439F-83FB-57971054F233}"/>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C85908EF-E20C-4B94-9FB9-7887F5262661}"/>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AF089010-26FF-4595-8B83-CF46E7A1D7AF}"/>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21" name="Isosceles Triangle 20">
            <a:extLst xmlns:a="http://schemas.openxmlformats.org/drawingml/2006/main">
              <a:ext uri="{FF2B5EF4-FFF2-40B4-BE49-F238E27FC236}">
                <a16:creationId xmlns:a16="http://schemas.microsoft.com/office/drawing/2014/main" id="{517F9D49-44C6-4893-997C-A982FABD18BC}"/>
              </a:ext>
            </a:extLst>
          </p:cNvPr>
          <p:cNvSpPr>
            <a:spLocks xmlns:a="http://schemas.openxmlformats.org/drawingml/2006/main" noGrp="1"/>
          </p:cNvSpPr>
          <p:nvPr/>
        </p:nvSpPr>
        <p:spPr>
          <a:xfrm xmlns:a="http://schemas.openxmlformats.org/drawingml/2006/main" rot="16200000" flipV="1">
            <a:off x="558815" y="4317983"/>
            <a:ext cx="2000250" cy="3117884"/>
          </a:xfrm>
          <a:prstGeom xmlns:a="http://schemas.openxmlformats.org/drawingml/2006/main" prst="triangle">
            <a:avLst>
              <a:gd name="adj" fmla="val 0"/>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Freeform 24">
            <a:extLst xmlns:a="http://schemas.openxmlformats.org/drawingml/2006/main">
              <a:ext uri="{FF2B5EF4-FFF2-40B4-BE49-F238E27FC236}">
                <a16:creationId xmlns:a16="http://schemas.microsoft.com/office/drawing/2014/main" id="{4E6DC48B-D6CC-419D-8282-6A48CD645964}"/>
              </a:ext>
            </a:extLst>
          </p:cNvPr>
          <p:cNvSpPr>
            <a:spLocks xmlns:a="http://schemas.openxmlformats.org/drawingml/2006/main" noGrp="1"/>
          </p:cNvSpPr>
          <p:nvPr/>
        </p:nvSpPr>
        <p:spPr>
          <a:xfrm xmlns:a="http://schemas.openxmlformats.org/drawingml/2006/main" flipH="1">
            <a:off x="-1" y="4876800"/>
            <a:ext cx="1176335" cy="1962472"/>
          </a:xfrm>
          <a:custGeom xmlns:a="http://schemas.openxmlformats.org/drawingml/2006/main">
            <a:gdLst>
              <a:gd name="connsiteX0" fmla="*/ 0 w 1485900"/>
              <a:gd name="connsiteY0" fmla="*/ 0 h 6877050"/>
              <a:gd name="connsiteX1" fmla="*/ 1485900 w 1485900"/>
              <a:gd name="connsiteY1" fmla="*/ 19050 h 6877050"/>
              <a:gd name="connsiteX2" fmla="*/ 1485900 w 1485900"/>
              <a:gd name="connsiteY2" fmla="*/ 6877050 h 6877050"/>
              <a:gd name="connsiteX3" fmla="*/ 1457325 w 1485900"/>
              <a:gd name="connsiteY3" fmla="*/ 6858000 h 6877050"/>
              <a:gd name="connsiteX4" fmla="*/ 0 w 1485900"/>
              <a:gd name="connsiteY4" fmla="*/ 0 h 6877050"/>
              <a:gd name="connsiteX0" fmla="*/ 0 w 1485900"/>
              <a:gd name="connsiteY0" fmla="*/ 0 h 6877050"/>
              <a:gd name="connsiteX1" fmla="*/ 1485900 w 1485900"/>
              <a:gd name="connsiteY1" fmla="*/ 19050 h 6877050"/>
              <a:gd name="connsiteX2" fmla="*/ 1485900 w 1485900"/>
              <a:gd name="connsiteY2" fmla="*/ 6877050 h 6877050"/>
              <a:gd name="connsiteX3" fmla="*/ 1438275 w 1485900"/>
              <a:gd name="connsiteY3" fmla="*/ 6858000 h 6877050"/>
              <a:gd name="connsiteX4" fmla="*/ 0 w 1485900"/>
              <a:gd name="connsiteY4" fmla="*/ 0 h 6877050"/>
              <a:gd name="connsiteX0" fmla="*/ 0 w 1485900"/>
              <a:gd name="connsiteY0" fmla="*/ 0 h 6886575"/>
              <a:gd name="connsiteX1" fmla="*/ 1485900 w 1485900"/>
              <a:gd name="connsiteY1" fmla="*/ 19050 h 6886575"/>
              <a:gd name="connsiteX2" fmla="*/ 1485900 w 1485900"/>
              <a:gd name="connsiteY2" fmla="*/ 6877050 h 6886575"/>
              <a:gd name="connsiteX3" fmla="*/ 1438275 w 1485900"/>
              <a:gd name="connsiteY3" fmla="*/ 6886575 h 6886575"/>
              <a:gd name="connsiteX4" fmla="*/ 0 w 1485900"/>
              <a:gd name="connsiteY4" fmla="*/ 0 h 6886575"/>
              <a:gd name="connsiteX0" fmla="*/ 0 w 1495425"/>
              <a:gd name="connsiteY0" fmla="*/ 1417188 h 8303763"/>
              <a:gd name="connsiteX1" fmla="*/ 1495425 w 1495425"/>
              <a:gd name="connsiteY1" fmla="*/ 0 h 8303763"/>
              <a:gd name="connsiteX2" fmla="*/ 1485900 w 1495425"/>
              <a:gd name="connsiteY2" fmla="*/ 8294238 h 8303763"/>
              <a:gd name="connsiteX3" fmla="*/ 1438275 w 1495425"/>
              <a:gd name="connsiteY3" fmla="*/ 8303763 h 8303763"/>
              <a:gd name="connsiteX4" fmla="*/ 0 w 1495425"/>
              <a:gd name="connsiteY4" fmla="*/ 1417188 h 8303763"/>
              <a:gd name="connsiteX0" fmla="*/ 0 w 1543050"/>
              <a:gd name="connsiteY0" fmla="*/ 1159402 h 8303763"/>
              <a:gd name="connsiteX1" fmla="*/ 1543050 w 1543050"/>
              <a:gd name="connsiteY1" fmla="*/ 0 h 8303763"/>
              <a:gd name="connsiteX2" fmla="*/ 1533525 w 1543050"/>
              <a:gd name="connsiteY2" fmla="*/ 8294238 h 8303763"/>
              <a:gd name="connsiteX3" fmla="*/ 1485900 w 1543050"/>
              <a:gd name="connsiteY3" fmla="*/ 8303763 h 8303763"/>
              <a:gd name="connsiteX4" fmla="*/ 0 w 1543050"/>
              <a:gd name="connsiteY4" fmla="*/ 1159402 h 8303763"/>
              <a:gd name="connsiteX0" fmla="*/ 0 w 1533525"/>
              <a:gd name="connsiteY0" fmla="*/ 2374680 h 9519041"/>
              <a:gd name="connsiteX1" fmla="*/ 1514475 w 1533525"/>
              <a:gd name="connsiteY1" fmla="*/ 0 h 9519041"/>
              <a:gd name="connsiteX2" fmla="*/ 1533525 w 1533525"/>
              <a:gd name="connsiteY2" fmla="*/ 9509516 h 9519041"/>
              <a:gd name="connsiteX3" fmla="*/ 1485900 w 1533525"/>
              <a:gd name="connsiteY3" fmla="*/ 9519041 h 9519041"/>
              <a:gd name="connsiteX4" fmla="*/ 0 w 1533525"/>
              <a:gd name="connsiteY4" fmla="*/ 2374680 h 9519041"/>
              <a:gd name="connsiteX0" fmla="*/ 0 w 1362075"/>
              <a:gd name="connsiteY0" fmla="*/ 54604 h 9519041"/>
              <a:gd name="connsiteX1" fmla="*/ 1343025 w 1362075"/>
              <a:gd name="connsiteY1" fmla="*/ 0 h 9519041"/>
              <a:gd name="connsiteX2" fmla="*/ 1362075 w 1362075"/>
              <a:gd name="connsiteY2" fmla="*/ 9509516 h 9519041"/>
              <a:gd name="connsiteX3" fmla="*/ 1314450 w 1362075"/>
              <a:gd name="connsiteY3" fmla="*/ 9519041 h 9519041"/>
              <a:gd name="connsiteX4" fmla="*/ 0 w 1362075"/>
              <a:gd name="connsiteY4" fmla="*/ 54604 h 9519041"/>
              <a:gd name="connsiteX0" fmla="*/ 0 w 2209800"/>
              <a:gd name="connsiteY0" fmla="*/ 17777 h 9519041"/>
              <a:gd name="connsiteX1" fmla="*/ 2190750 w 2209800"/>
              <a:gd name="connsiteY1" fmla="*/ 0 h 9519041"/>
              <a:gd name="connsiteX2" fmla="*/ 2209800 w 2209800"/>
              <a:gd name="connsiteY2" fmla="*/ 9509516 h 9519041"/>
              <a:gd name="connsiteX3" fmla="*/ 2162175 w 2209800"/>
              <a:gd name="connsiteY3" fmla="*/ 9519041 h 9519041"/>
              <a:gd name="connsiteX4" fmla="*/ 0 w 2209800"/>
              <a:gd name="connsiteY4" fmla="*/ 17777 h 9519041"/>
              <a:gd name="connsiteX0" fmla="*/ 0 w 2209800"/>
              <a:gd name="connsiteY0" fmla="*/ 17777 h 9519041"/>
              <a:gd name="connsiteX1" fmla="*/ 2190750 w 2209800"/>
              <a:gd name="connsiteY1" fmla="*/ 0 h 9519041"/>
              <a:gd name="connsiteX2" fmla="*/ 2209800 w 2209800"/>
              <a:gd name="connsiteY2" fmla="*/ 9509516 h 9519041"/>
              <a:gd name="connsiteX3" fmla="*/ 2200275 w 2209800"/>
              <a:gd name="connsiteY3" fmla="*/ 9519041 h 9519041"/>
              <a:gd name="connsiteX4" fmla="*/ 0 w 2209800"/>
              <a:gd name="connsiteY4" fmla="*/ 17777 h 9519041"/>
              <a:gd name="connsiteX0" fmla="*/ 0 w 2209800"/>
              <a:gd name="connsiteY0" fmla="*/ 17777 h 9592694"/>
              <a:gd name="connsiteX1" fmla="*/ 2190750 w 2209800"/>
              <a:gd name="connsiteY1" fmla="*/ 0 h 9592694"/>
              <a:gd name="connsiteX2" fmla="*/ 2209800 w 2209800"/>
              <a:gd name="connsiteY2" fmla="*/ 9509516 h 9592694"/>
              <a:gd name="connsiteX3" fmla="*/ 2200275 w 2209800"/>
              <a:gd name="connsiteY3" fmla="*/ 9592694 h 9592694"/>
              <a:gd name="connsiteX4" fmla="*/ 0 w 2209800"/>
              <a:gd name="connsiteY4" fmla="*/ 17777 h 9592694"/>
              <a:gd name="connsiteX0" fmla="*/ 0 w 2279073"/>
              <a:gd name="connsiteY0" fmla="*/ 4906456 h 9592694"/>
              <a:gd name="connsiteX1" fmla="*/ 2260023 w 2279073"/>
              <a:gd name="connsiteY1" fmla="*/ 0 h 9592694"/>
              <a:gd name="connsiteX2" fmla="*/ 2279073 w 2279073"/>
              <a:gd name="connsiteY2" fmla="*/ 9509516 h 9592694"/>
              <a:gd name="connsiteX3" fmla="*/ 2269548 w 2279073"/>
              <a:gd name="connsiteY3" fmla="*/ 9592694 h 9592694"/>
              <a:gd name="connsiteX4" fmla="*/ 0 w 2279073"/>
              <a:gd name="connsiteY4" fmla="*/ 4906456 h 9592694"/>
              <a:gd name="connsiteX0" fmla="*/ 0 w 1711036"/>
              <a:gd name="connsiteY0" fmla="*/ 3742485 h 9592694"/>
              <a:gd name="connsiteX1" fmla="*/ 1691986 w 1711036"/>
              <a:gd name="connsiteY1" fmla="*/ 0 h 9592694"/>
              <a:gd name="connsiteX2" fmla="*/ 1711036 w 1711036"/>
              <a:gd name="connsiteY2" fmla="*/ 9509516 h 9592694"/>
              <a:gd name="connsiteX3" fmla="*/ 1701511 w 1711036"/>
              <a:gd name="connsiteY3" fmla="*/ 9592694 h 9592694"/>
              <a:gd name="connsiteX4" fmla="*/ 0 w 1711036"/>
              <a:gd name="connsiteY4" fmla="*/ 3742485 h 9592694"/>
            </a:gdLst>
            <a:rect l="l" t="t" r="r" b="b"/>
            <a:pathLst>
              <a:path w="1711036" h="9592694">
                <a:moveTo>
                  <a:pt x="0" y="3742485"/>
                </a:moveTo>
                <a:lnTo>
                  <a:pt x="1691986" y="0"/>
                </a:lnTo>
                <a:lnTo>
                  <a:pt x="1711036" y="9509516"/>
                </a:lnTo>
                <a:lnTo>
                  <a:pt x="1701511" y="9592694"/>
                </a:lnTo>
                <a:lnTo>
                  <a:pt x="0" y="3742485"/>
                </a:lnTo>
                <a:close/>
              </a:path>
            </a:pathLst>
          </a:custGeom>
          <a:solidFill xmlns:a="http://schemas.openxmlformats.org/drawingml/2006/main">
            <a:srgbClr val="006CAB">
              <a:alpha val="5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 Placeholder 17">
            <a:extLst xmlns:a="http://schemas.openxmlformats.org/drawingml/2006/main">
              <a:ext uri="{FF2B5EF4-FFF2-40B4-BE49-F238E27FC236}">
                <a16:creationId xmlns:a16="http://schemas.microsoft.com/office/drawing/2014/main" id="{13C6D13E-CFCB-47C9-B8DB-2A2A8DC4D5A2}"/>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Masters/_rels/slideMaster1.xml.rels><?xml version='1.0' encoding='UTF-8' standalone='yes'?>
<Relationships xmlns="http://schemas.openxmlformats.org/package/2006/relationships"><Relationship Id="R1b9328ccffe648b4" Type="http://schemas.openxmlformats.org/officeDocument/2006/relationships/slideLayout" Target="../slideLayouts/slideLayout8.xml"/><Relationship Id="R1dfc7f19fa704866" Type="http://schemas.openxmlformats.org/officeDocument/2006/relationships/slideLayout" Target="../slideLayouts/slideLayout14.xml"/><Relationship Id="R1ffa163bd37f414f" Type="http://schemas.openxmlformats.org/officeDocument/2006/relationships/slideLayout" Target="../slideLayouts/slideLayout3.xml"/><Relationship Id="R2a86f35e3c584ee9" Type="http://schemas.openxmlformats.org/officeDocument/2006/relationships/theme" Target="theme/theme2.xml"/><Relationship Id="R3a0dc306b4894c6d" Type="http://schemas.openxmlformats.org/officeDocument/2006/relationships/slideLayout" Target="../slideLayouts/slideLayout5.xml"/><Relationship Id="R42a1128e575d497b" Type="http://schemas.openxmlformats.org/officeDocument/2006/relationships/slideLayout" Target="../slideLayouts/slideLayout2.xml"/><Relationship Id="R589b750b09334bb5" Type="http://schemas.openxmlformats.org/officeDocument/2006/relationships/slideLayout" Target="../slideLayouts/slideLayout4.xml"/><Relationship Id="R5af9248e6aca4236" Type="http://schemas.openxmlformats.org/officeDocument/2006/relationships/slideLayout" Target="../slideLayouts/slideLayout6.xml"/><Relationship Id="R72188e8a28aa44ac" Type="http://schemas.openxmlformats.org/officeDocument/2006/relationships/slideLayout" Target="../slideLayouts/slideLayout1.xml"/><Relationship Id="R8c3a2de5b0f54fd2" Type="http://schemas.openxmlformats.org/officeDocument/2006/relationships/slideLayout" Target="../slideLayouts/slideLayout7.xml"/><Relationship Id="R9af3c20229a6487b" Type="http://schemas.openxmlformats.org/officeDocument/2006/relationships/slideLayout" Target="../slideLayouts/slideLayout12.xml"/><Relationship Id="Ra57d29800d784d02" Type="http://schemas.openxmlformats.org/officeDocument/2006/relationships/slideLayout" Target="../slideLayouts/slideLayout11.xml"/><Relationship Id="Rbb8cbd0f6d0046cf" Type="http://schemas.openxmlformats.org/officeDocument/2006/relationships/slideLayout" Target="../slideLayouts/slideLayout10.xml"/><Relationship Id="Rf1a9c5cd38834962" Type="http://schemas.openxmlformats.org/officeDocument/2006/relationships/slideLayout" Target="../slideLayouts/slideLayout13.xml"/><Relationship Id="Rfcaa18d8cdfa451f" Type="http://schemas.openxmlformats.org/officeDocument/2006/relationships/slideLayout" Target="../slideLayouts/slideLayout9.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188e8a28aa44ac"/>
    <p:sldLayoutId xmlns:r="http://schemas.openxmlformats.org/officeDocument/2006/relationships" id="2147483650" r:id="R42a1128e575d497b"/>
    <p:sldLayoutId xmlns:r="http://schemas.openxmlformats.org/officeDocument/2006/relationships" id="2147483651" r:id="R1ffa163bd37f414f"/>
    <p:sldLayoutId xmlns:r="http://schemas.openxmlformats.org/officeDocument/2006/relationships" id="2147483652" r:id="R589b750b09334bb5"/>
    <p:sldLayoutId xmlns:r="http://schemas.openxmlformats.org/officeDocument/2006/relationships" id="2147483653" r:id="R3a0dc306b4894c6d"/>
    <p:sldLayoutId xmlns:r="http://schemas.openxmlformats.org/officeDocument/2006/relationships" id="2147483654" r:id="R5af9248e6aca4236"/>
    <p:sldLayoutId xmlns:r="http://schemas.openxmlformats.org/officeDocument/2006/relationships" id="2147483655" r:id="R8c3a2de5b0f54fd2"/>
    <p:sldLayoutId xmlns:r="http://schemas.openxmlformats.org/officeDocument/2006/relationships" id="2147483656" r:id="R1b9328ccffe648b4"/>
    <p:sldLayoutId xmlns:r="http://schemas.openxmlformats.org/officeDocument/2006/relationships" id="2147483657" r:id="Rfcaa18d8cdfa451f"/>
    <p:sldLayoutId xmlns:r="http://schemas.openxmlformats.org/officeDocument/2006/relationships" id="2147483658" r:id="Rbb8cbd0f6d0046cf"/>
    <p:sldLayoutId xmlns:r="http://schemas.openxmlformats.org/officeDocument/2006/relationships" id="2147483659" r:id="Ra57d29800d784d02"/>
    <p:sldLayoutId xmlns:r="http://schemas.openxmlformats.org/officeDocument/2006/relationships" id="2147483660" r:id="R9af3c20229a6487b"/>
    <p:sldLayoutId xmlns:r="http://schemas.openxmlformats.org/officeDocument/2006/relationships" id="2147483661" r:id="Rf1a9c5cd38834962"/>
    <p:sldLayoutId xmlns:r="http://schemas.openxmlformats.org/officeDocument/2006/relationships" id="2147483662" r:id="R1dfc7f19fa704866"/>
  </p:sldLayoutIdLst>
  <p:hf hdr="0" ftr="0" dt="0"/>
  <p:txStyles>
    <p:titleStyle>
      <a:lvl1pPr xmlns:a="http://schemas.openxmlformats.org/drawingml/2006/main" algn="l" defTabSz="914400">
        <a:lnSpc>
          <a:spcPct val="90000"/>
        </a:lnSpc>
        <a:spcBef>
          <a:spcPct val="0"/>
        </a:spcBef>
        <a:buNone/>
        <a:defRPr sz="3400" b="1" i="0" kern="1200">
          <a:solidFill>
            <a:schemeClr val="bg1"/>
          </a:solidFill>
          <a:latin typeface="Arial Narrow"/>
          <a:ea typeface="Arial Narrow"/>
          <a:cs typeface="Arial Narrow"/>
        </a:defRPr>
      </a:lvl1pPr>
    </p:titleStyle>
    <p:bodyStyle>
      <a:lvl1pPr xmlns:a="http://schemas.openxmlformats.org/drawingml/2006/main" marL="0" indent="0" algn="l" defTabSz="914400">
        <a:lnSpc>
          <a:spcPct val="90000"/>
        </a:lnSpc>
        <a:spcBef>
          <a:spcPts val="1000"/>
        </a:spcBef>
        <a:buFont typeface="Arial"/>
        <a:buNone/>
        <a:defRPr sz="2200" kern="1200">
          <a:solidFill>
            <a:schemeClr val="bg1"/>
          </a:solidFill>
          <a:latin typeface="Arial Narrow"/>
          <a:ea typeface="Arial Narrow"/>
          <a:cs typeface="Arial Narrow"/>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p15:clr>
            <a:srgbClr xmlns:a="http://schemas.openxmlformats.org/drawingml/2006/main" val="F26B43"/>
          </p15:clr>
        </p15:guide>
        <p15:guide id="2" pos="257">
          <p15:clr>
            <a:srgbClr xmlns:a="http://schemas.openxmlformats.org/drawingml/2006/main" val="F26B43"/>
          </p15:clr>
        </p15:guide>
      </p15:sldGuideLst>
    </p:ext>
  </p:extLst>
</p:sldMaster>
</file>

<file path=ppt/slideMasters/theme/theme2.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c9052ae64574d38" Type="http://schemas.openxmlformats.org/officeDocument/2006/relationships/slideLayout" Target="../slideLayouts/slideLayout3.xml"/><Relationship Id="Re4b7dc44a8c84b5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1a99612b33a2422d" Type="http://schemas.openxmlformats.org/officeDocument/2006/relationships/slideLayout" Target="../slideLayouts/slideLayout11.xml"/><Relationship Id="Rbc8db6ec361345e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57360c62c8364ffd" Type="http://schemas.openxmlformats.org/officeDocument/2006/relationships/slideLayout" Target="../slideLayouts/slideLayout11.xml"/><Relationship Id="R59c3280fc2da40b6" Type="http://schemas.openxmlformats.org/officeDocument/2006/relationships/image" Target="../media/image.png"/><Relationship Id="Rf381e7bc5dd04d16" Type="http://schemas.openxmlformats.org/officeDocument/2006/relationships/notesSlide" Target="../notesSlides/notesSlide3.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0d81dcff8bd647e3" Type="http://schemas.openxmlformats.org/officeDocument/2006/relationships/notesSlide" Target="../notesSlides/notesSlide4.xml"/><Relationship Id="R84f5213f192d4430"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29a2ee7a6f93400f" Type="http://schemas.openxmlformats.org/officeDocument/2006/relationships/notesSlide" Target="../notesSlides/notesSlide5.xml"/><Relationship Id="R74aec3e35fd6485c"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cefb8e191b2b47fc" Type="http://schemas.openxmlformats.org/officeDocument/2006/relationships/notesSlide" Target="../notesSlides/notesSlide6.xml"/><Relationship Id="Rf6b3c3abe40d4572" Type="http://schemas.openxmlformats.org/officeDocument/2006/relationships/slideLayout" Target="../slideLayouts/slideLayout11.xml"/><Relationship Id="Rf75f28609aee42cb" Type="http://schemas.openxmlformats.org/officeDocument/2006/relationships/chart" Target="charts/chart1.xml"/></Relationships>
</file>

<file path=ppt/slides/_rels/slide7.xml.rels><?xml version='1.0' encoding='UTF-8' standalone='yes'?>
<Relationships xmlns="http://schemas.openxmlformats.org/package/2006/relationships"><Relationship Id="R22e11fee74714025" Type="http://schemas.openxmlformats.org/officeDocument/2006/relationships/notesSlide" Target="../notesSlides/notesSlide7.xml"/><Relationship Id="Rb2a10100880f4f5f" Type="http://schemas.openxmlformats.org/officeDocument/2006/relationships/chart" Target="charts/chart2.xml"/><Relationship Id="Re6010a28fddb4f63"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1c60fa73183041ae" Type="http://schemas.openxmlformats.org/officeDocument/2006/relationships/chart" Target="charts/chart3.xml"/><Relationship Id="R957450e6b95342e0" Type="http://schemas.openxmlformats.org/officeDocument/2006/relationships/notesSlide" Target="../notesSlides/notesSlide8.xml"/><Relationship Id="Rdec7994c95f148a0"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093df7619b324c45" Type="http://schemas.openxmlformats.org/officeDocument/2006/relationships/notesSlide" Target="../notesSlides/notesSlide9.xml"/><Relationship Id="R1ef394926ddf4c15"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8455fffdbd404e73" Type="http://schemas.openxmlformats.org/officeDocument/2006/relationships/slideLayout" Target="../slideLayouts/slideLayout11.xml"/><Relationship Id="Rbe490b50346a403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0c4c4b7e15844e7c" Type="http://schemas.openxmlformats.org/officeDocument/2006/relationships/notesSlide" Target="../notesSlides/notesSlide11.xml"/><Relationship Id="Ra5f08b62229a4236"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a1e4f687c1ba4bac" Type="http://schemas.openxmlformats.org/officeDocument/2006/relationships/slideLayout" Target="../slideLayouts/slideLayout11.xml"/><Relationship Id="Rbc76a62cb01b425e" Type="http://schemas.openxmlformats.org/officeDocument/2006/relationships/notesSlide" Target="../notesSlides/notesSlide12.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Causal recognition accuracy</c:v>
          </c:tx>
          <c:spPr>
            <a:solidFill xmlns:a="http://schemas.openxmlformats.org/drawingml/2006/main">
              <a:srgbClr val="006DAE"/>
            </a:solidFill>
          </c:spPr>
          <c:dLbls>
            <c:dLbl>
              <c:idx val="0"/>
              <c:tx>
                <c:rich>
                  <a:bodyPr xmlns:a="http://schemas.openxmlformats.org/drawingml/2006/main"/>
                  <a:lstStyle xmlns:a="http://schemas.openxmlformats.org/drawingml/2006/main"/>
                  <a:p xmlns:a="http://schemas.openxmlformats.org/drawingml/2006/main">
                    <a:r>
                      <a:rPr sz="2100">
                        <a:latin typeface="Arial"/>
                        <a:ea typeface="Arial"/>
                        <a:cs typeface="Arial"/>
                      </a:rPr>
                      <a:t>79.4%</a:t>
                    </a:r>
                  </a:p>
                </c:rich>
              </c:tx>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2100">
                        <a:latin typeface="Arial"/>
                        <a:ea typeface="Arial"/>
                        <a:cs typeface="Arial"/>
                      </a:rPr>
                      <a:t>72.5%</a:t>
                    </a:r>
                  </a:p>
                </c:rich>
              </c:tx>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showLegendKey val="0"/>
              <c:showVal val="0"/>
              <c:showCatName val="0"/>
              <c:showSerName val="0"/>
              <c:showPercent val="0"/>
              <c:showBubbleSize val="0"/>
            </c:dLbl>
          </c:dLbls>
          <c:cat>
            <c:strRef>
              <c:f>'Chart Data'!$A$2:$A$3</c:f>
              <c:strCache>
                <c:ptCount val="2"/>
                <c:pt idx="0">
                  <c:v>Overall accuracy</c:v>
                </c:pt>
                <c:pt idx="1">
                  <c:v>Equal weight per phase</c:v>
                </c:pt>
              </c:strCache>
            </c:strRef>
          </c:cat>
          <c:val>
            <c:numRef>
              <c:f>'Chart Data'!$B$2:$B$3</c:f>
              <c:numCache>
                <c:formatCode>0.0%</c:formatCode>
                <c:ptCount val="2"/>
                <c:pt idx="0">
                  <c:v>0.7937</c:v>
                </c:pt>
                <c:pt idx="1">
                  <c:v>0.725</c:v>
                </c:pt>
              </c:numCache>
            </c:numRef>
          </c:val>
        </c:ser>
        <c:dLbls>
          <c:txPr>
            <a:bodyPr xmlns:a="http://schemas.openxmlformats.org/drawingml/2006/main" anchorCtr="1"/>
            <a:lstStyle xmlns:a="http://schemas.openxmlformats.org/drawingml/2006/main"/>
            <a:p xmlns:a="http://schemas.openxmlformats.org/drawingml/2006/main">
              <a:pPr>
                <a:defRPr sz="2100">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25"/>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Higher</c:v>
          </c:tx>
          <c:spPr>
            <a:solidFill xmlns:a="http://schemas.openxmlformats.org/drawingml/2006/main">
              <a:srgbClr val="89C6B4"/>
            </a:solidFill>
          </c:spPr>
          <c:cat>
            <c:strRef>
              <c:f>'Chart Data'!$A$2:$A$3</c:f>
              <c:strCache>
                <c:ptCount val="2"/>
                <c:pt idx="0">
                  <c:v>Felt safe</c:v>
                </c:pt>
                <c:pt idx="1">
                  <c:v>Trusted distance</c:v>
                </c:pt>
              </c:strCache>
            </c:strRef>
          </c:cat>
          <c:val>
            <c:numRef>
              <c:f>'Chart Data'!$B$2:$B$3</c:f>
              <c:numCache>
                <c:formatCode>General</c:formatCode>
                <c:ptCount val="2"/>
                <c:pt idx="0">
                  <c:v>8</c:v>
                </c:pt>
                <c:pt idx="1">
                  <c:v>5</c:v>
                </c:pt>
              </c:numCache>
            </c:numRef>
          </c:val>
        </c:ser>
        <c:ser>
          <c:idx val="1"/>
          <c:order val="1"/>
          <c:tx>
            <c:v>Unchanged</c:v>
          </c:tx>
          <c:spPr>
            <a:solidFill xmlns:a="http://schemas.openxmlformats.org/drawingml/2006/main">
              <a:srgbClr val="D5DDE2"/>
            </a:solidFill>
          </c:spPr>
          <c:cat>
            <c:strRef>
              <c:f>'Chart Data'!$C$2:$C$3</c:f>
              <c:strCache>
                <c:ptCount val="2"/>
                <c:pt idx="0">
                  <c:v>Felt safe</c:v>
                </c:pt>
                <c:pt idx="1">
                  <c:v>Trusted distance</c:v>
                </c:pt>
              </c:strCache>
            </c:strRef>
          </c:cat>
          <c:val>
            <c:numRef>
              <c:f>'Chart Data'!$D$2:$D$3</c:f>
              <c:numCache>
                <c:formatCode>General</c:formatCode>
                <c:ptCount val="2"/>
                <c:pt idx="0">
                  <c:v>1</c:v>
                </c:pt>
                <c:pt idx="1">
                  <c:v>3</c:v>
                </c:pt>
              </c:numCache>
            </c:numRef>
          </c:val>
        </c:ser>
        <c:ser>
          <c:idx val="2"/>
          <c:order val="2"/>
          <c:tx>
            <c:v>Lower</c:v>
          </c:tx>
          <c:spPr>
            <a:solidFill xmlns:a="http://schemas.openxmlformats.org/drawingml/2006/main">
              <a:srgbClr val="E4B47E"/>
            </a:solidFill>
          </c:spPr>
          <c:cat>
            <c:strRef>
              <c:f>'Chart Data'!$E$2:$E$3</c:f>
              <c:strCache>
                <c:ptCount val="2"/>
                <c:pt idx="0">
                  <c:v>Felt safe</c:v>
                </c:pt>
                <c:pt idx="1">
                  <c:v>Trusted distance</c:v>
                </c:pt>
              </c:strCache>
            </c:strRef>
          </c:cat>
          <c:val>
            <c:numRef>
              <c:f>'Chart Data'!$F$2:$F$3</c:f>
              <c:numCache>
                <c:formatCode>General</c:formatCode>
                <c:ptCount val="2"/>
                <c:pt idx="0">
                  <c:v>2</c:v>
                </c:pt>
                <c:pt idx="1">
                  <c:v>3</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D3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666666"/>
                </a:solidFill>
                <a:latin typeface="Arial"/>
                <a:ea typeface="Arial"/>
                <a:cs typeface="Arial"/>
              </a:defRPr>
            </a:pPr>
          </a:p>
        </c:txPr>
        <c:crossAx val="48672768"/>
      </c:catAx>
      <c:valAx>
        <c:axId val="48672768"/>
        <c:scaling>
          <c:orientation val="minMax"/>
          <c:max val="11"/>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1"/>
      </c:valAx>
    </c:plotArea>
    <c:legend>
      <c:legendPos val="b"/>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95th-percentile discrepancy (m)</c:v>
          </c:tx>
          <c:spPr>
            <a:solidFill xmlns:a="http://schemas.openxmlformats.org/drawingml/2006/main">
              <a:srgbClr val="668598"/>
            </a:solidFill>
          </c:spPr>
          <c:dPt>
            <c:idx val="13"/>
            <c:invertIfNegative val="0"/>
            <c:spPr>
              <a:solidFill xmlns:a="http://schemas.openxmlformats.org/drawingml/2006/main">
                <a:srgbClr val="16866C"/>
              </a:solidFill>
            </c:spPr>
          </c:dPt>
          <c:cat>
            <c:numRef>
              <c:f>'Chart Data'!$A$2:$A$15</c:f>
              <c:numCache>
                <c:formatCode>General</c:formatCod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numCache>
            </c:numRef>
          </c:cat>
          <c:val>
            <c:numRef>
              <c:f>'Chart Data'!$B$2:$B$15</c:f>
              <c:numCache>
                <c:formatCode>0.0</c:formatCode>
                <c:ptCount val="14"/>
                <c:pt idx="0">
                  <c:v>0.479</c:v>
                </c:pt>
                <c:pt idx="1">
                  <c:v>0.469</c:v>
                </c:pt>
                <c:pt idx="2">
                  <c:v>0.491</c:v>
                </c:pt>
                <c:pt idx="3">
                  <c:v>0.462</c:v>
                </c:pt>
                <c:pt idx="4">
                  <c:v>0.413</c:v>
                </c:pt>
                <c:pt idx="5">
                  <c:v>0.422</c:v>
                </c:pt>
                <c:pt idx="6">
                  <c:v>0.458</c:v>
                </c:pt>
                <c:pt idx="7">
                  <c:v>0.429</c:v>
                </c:pt>
                <c:pt idx="8">
                  <c:v>0.5</c:v>
                </c:pt>
                <c:pt idx="9">
                  <c:v>0.424</c:v>
                </c:pt>
                <c:pt idx="10">
                  <c:v>0.534</c:v>
                </c:pt>
                <c:pt idx="11">
                  <c:v>0.429</c:v>
                </c:pt>
                <c:pt idx="12">
                  <c:v>0.469</c:v>
                </c:pt>
                <c:pt idx="13">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0.6"/>
          <c:min val="0"/>
        </c:scaling>
        <c:delete val="0"/>
        <c:axPos val="l"/>
        <c:title>
          <c:tx>
            <c:rich>
              <a:bodyPr xmlns:a="http://schemas.openxmlformats.org/drawingml/2006/main"/>
              <a:lstStyle xmlns:a="http://schemas.openxmlformats.org/drawingml/2006/main"/>
              <a:p xmlns:a="http://schemas.openxmlformats.org/drawingml/2006/main">
                <a:r>
                  <a:rPr sz="1725">
                    <a:latin typeface="Arial"/>
                    <a:ea typeface="Arial"/>
                    <a:cs typeface="Arial"/>
                  </a:rPr>
                  <a:t>Discrepancy (m)</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majorUnit val="0.2"/>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CONTEXT-AWARE&#10;ROBOT SAFETY">
            <a:extLst xmlns:a="http://schemas.openxmlformats.org/drawingml/2006/main">
              <a:ext uri="{FF2B5EF4-FFF2-40B4-BE49-F238E27FC236}">
                <a16:creationId xmlns:a16="http://schemas.microsoft.com/office/drawing/2014/main" id="{A3317F18-32B7-44E5-8BC5-E14E9441CD69}"/>
              </a:ext>
            </a:extLst>
          </p:cNvPr>
          <p:cNvSpPr>
            <a:spLocks xmlns:a="http://schemas.openxmlformats.org/drawingml/2006/main" noGrp="1"/>
          </p:cNvSpPr>
          <p:nvPr/>
        </p:nvSpPr>
        <p:spPr>
          <a:xfrm xmlns:a="http://schemas.openxmlformats.org/drawingml/2006/main">
            <a:off x="514350" y="1714500"/>
            <a:ext cx="103822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0B3551"/>
                </a:solidFill>
                <a:latin typeface="Arial"/>
                <a:ea typeface="Arial"/>
                <a:cs typeface="Arial"/>
              </a:defRPr>
            </a:pPr>
            <a:r>
              <a:rPr sz="4425" b="1">
                <a:solidFill>
                  <a:srgbClr val="0B3551"/>
                </a:solidFill>
                <a:latin typeface="Arial"/>
                <a:ea typeface="Arial"/>
                <a:cs typeface="Arial"/>
              </a:rPr>
              <a:t>CONTEXT-AWARE</a:t>
            </a:r>
          </a:p>
          <a:p xmlns:a="http://schemas.openxmlformats.org/drawingml/2006/main">
            <a:pPr>
              <a:defRPr sz="4425" b="1">
                <a:solidFill>
                  <a:srgbClr val="0B3551"/>
                </a:solidFill>
                <a:latin typeface="Arial"/>
                <a:ea typeface="Arial"/>
                <a:cs typeface="Arial"/>
              </a:defRPr>
            </a:pPr>
            <a:r>
              <a:rPr sz="4425" b="1">
                <a:solidFill>
                  <a:srgbClr val="0B3551"/>
                </a:solidFill>
                <a:latin typeface="Arial"/>
                <a:ea typeface="Arial"/>
                <a:cs typeface="Arial"/>
              </a:rPr>
              <a:t>ROBOT SAFETY</a:t>
            </a:r>
          </a:p>
        </p:txBody>
      </p:sp>
      <p:sp>
        <p:nvSpPr>
          <p:cNvPr id="2" name="Human–robot ceiling-panel installation">
            <a:extLst xmlns:a="http://schemas.openxmlformats.org/drawingml/2006/main">
              <a:ext uri="{FF2B5EF4-FFF2-40B4-BE49-F238E27FC236}">
                <a16:creationId xmlns:a16="http://schemas.microsoft.com/office/drawing/2014/main" id="{E152C5E9-2D23-4825-81A4-987AECF6E701}"/>
              </a:ext>
            </a:extLst>
          </p:cNvPr>
          <p:cNvSpPr>
            <a:spLocks xmlns:a="http://schemas.openxmlformats.org/drawingml/2006/main" noGrp="1"/>
          </p:cNvSpPr>
          <p:nvPr/>
        </p:nvSpPr>
        <p:spPr>
          <a:xfrm xmlns:a="http://schemas.openxmlformats.org/drawingml/2006/main">
            <a:off x="533400" y="34480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006DAE"/>
                </a:solidFill>
                <a:latin typeface="Arial"/>
                <a:ea typeface="Arial"/>
                <a:cs typeface="Arial"/>
              </a:defRPr>
            </a:pPr>
            <a:r>
              <a:rPr sz="2775" b="0">
                <a:solidFill>
                  <a:srgbClr val="006DAE"/>
                </a:solidFill>
                <a:latin typeface="Arial"/>
                <a:ea typeface="Arial"/>
                <a:cs typeface="Arial"/>
              </a:rPr>
              <a:t>Human–robot ceiling-panel installation</a:t>
            </a:r>
          </a:p>
        </p:txBody>
      </p:sp>
      <p:sp>
        <p:nvSpPr>
          <p:cNvPr id="3" name="Zenan Wu · Luke Siniakov · Michael Magila">
            <a:extLst xmlns:a="http://schemas.openxmlformats.org/drawingml/2006/main">
              <a:ext uri="{FF2B5EF4-FFF2-40B4-BE49-F238E27FC236}">
                <a16:creationId xmlns:a16="http://schemas.microsoft.com/office/drawing/2014/main" id="{EF599501-92F0-4D29-8278-A8C45B8FD8D4}"/>
              </a:ext>
            </a:extLst>
          </p:cNvPr>
          <p:cNvSpPr>
            <a:spLocks xmlns:a="http://schemas.openxmlformats.org/drawingml/2006/main" noGrp="1"/>
          </p:cNvSpPr>
          <p:nvPr/>
        </p:nvSpPr>
        <p:spPr>
          <a:xfrm xmlns:a="http://schemas.openxmlformats.org/drawingml/2006/main">
            <a:off x="533400" y="43053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D3D"/>
                </a:solidFill>
                <a:latin typeface="Arial"/>
                <a:ea typeface="Arial"/>
                <a:cs typeface="Arial"/>
              </a:defRPr>
            </a:pPr>
            <a:r>
              <a:rPr sz="2025" b="0">
                <a:solidFill>
                  <a:srgbClr val="172D3D"/>
                </a:solidFill>
                <a:latin typeface="Arial"/>
                <a:ea typeface="Arial"/>
                <a:cs typeface="Arial"/>
              </a:rPr>
              <a:t>Zenan Wu · Luke Siniakov · Michael Magila</a:t>
            </a:r>
          </a:p>
        </p:txBody>
      </p:sp>
      <p:sp>
        <p:nvSpPr>
          <p:cNvPr id="4" name="Primary supervisor: Associate Professor Yihai Fang">
            <a:extLst xmlns:a="http://schemas.openxmlformats.org/drawingml/2006/main">
              <a:ext uri="{FF2B5EF4-FFF2-40B4-BE49-F238E27FC236}">
                <a16:creationId xmlns:a16="http://schemas.microsoft.com/office/drawing/2014/main" id="{189FF469-DE45-4D12-A788-3626CF454F4D}"/>
              </a:ext>
            </a:extLst>
          </p:cNvPr>
          <p:cNvSpPr>
            <a:spLocks xmlns:a="http://schemas.openxmlformats.org/drawingml/2006/main" noGrp="1"/>
          </p:cNvSpPr>
          <p:nvPr/>
        </p:nvSpPr>
        <p:spPr>
          <a:xfrm xmlns:a="http://schemas.openxmlformats.org/drawingml/2006/main">
            <a:off x="533400" y="50006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D3D"/>
                </a:solidFill>
                <a:latin typeface="Arial"/>
                <a:ea typeface="Arial"/>
                <a:cs typeface="Arial"/>
              </a:defRPr>
            </a:pPr>
            <a:r>
              <a:rPr sz="1875" b="0">
                <a:solidFill>
                  <a:srgbClr val="172D3D"/>
                </a:solidFill>
                <a:latin typeface="Arial"/>
                <a:ea typeface="Arial"/>
                <a:cs typeface="Arial"/>
              </a:rPr>
              <a:t>Primary supervisor: Associate Professor Yihai Fang</a:t>
            </a:r>
          </a:p>
        </p:txBody>
      </p:sp>
      <p:sp>
        <p:nvSpPr>
          <p:cNvPr id="5" name="Technical support: Yizhe (Will) Wang">
            <a:extLst xmlns:a="http://schemas.openxmlformats.org/drawingml/2006/main">
              <a:ext uri="{FF2B5EF4-FFF2-40B4-BE49-F238E27FC236}">
                <a16:creationId xmlns:a16="http://schemas.microsoft.com/office/drawing/2014/main" id="{C035169A-14F2-43F7-8797-C2C657DED983}"/>
              </a:ext>
            </a:extLst>
          </p:cNvPr>
          <p:cNvSpPr>
            <a:spLocks xmlns:a="http://schemas.openxmlformats.org/drawingml/2006/main" noGrp="1"/>
          </p:cNvSpPr>
          <p:nvPr/>
        </p:nvSpPr>
        <p:spPr>
          <a:xfrm xmlns:a="http://schemas.openxmlformats.org/drawingml/2006/main">
            <a:off x="533400" y="5410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79"/>
                </a:solidFill>
                <a:latin typeface="Arial"/>
                <a:ea typeface="Arial"/>
                <a:cs typeface="Arial"/>
              </a:defRPr>
            </a:pPr>
            <a:r>
              <a:rPr sz="1725" b="0">
                <a:solidFill>
                  <a:srgbClr val="536B79"/>
                </a:solidFill>
                <a:latin typeface="Arial"/>
                <a:ea typeface="Arial"/>
                <a:cs typeface="Arial"/>
              </a:rPr>
              <a:t>Technical support: Yizhe (Will) Wang</a:t>
            </a:r>
          </a:p>
        </p:txBody>
      </p:sp>
    </p:spTree>
    <p:extLst>
      <p:ext uri="{BB962C8B-B14F-4D97-AF65-F5344CB8AC3E}">
        <p14:creationId xmlns:p14="http://schemas.microsoft.com/office/powerpoint/2010/main" val="18225140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 name="Why ceiling-panel installation?">
            <a:extLst xmlns:a="http://schemas.openxmlformats.org/drawingml/2006/main">
              <a:ext uri="{FF2B5EF4-FFF2-40B4-BE49-F238E27FC236}">
                <a16:creationId xmlns:a16="http://schemas.microsoft.com/office/drawing/2014/main" id="{49B531E9-0792-4B69-9FED-6AA66F6A54EC}"/>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Why ceiling-panel installation?</a:t>
            </a:r>
          </a:p>
        </p:txBody>
      </p:sp>
      <p:sp>
        <p:nvSpPr>
          <p:cNvPr id="2" name="02">
            <a:extLst xmlns:a="http://schemas.openxmlformats.org/drawingml/2006/main">
              <a:ext uri="{FF2B5EF4-FFF2-40B4-BE49-F238E27FC236}">
                <a16:creationId xmlns:a16="http://schemas.microsoft.com/office/drawing/2014/main" id="{827ACDC4-7302-4283-A994-3A35376F6D28}"/>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02</a:t>
            </a:r>
          </a:p>
        </p:txBody>
      </p:sp>
      <p:sp>
        <p:nvSpPr>
          <p:cNvPr id="3" name="The robot supports the panel.&#10;The worker still needs access.">
            <a:extLst xmlns:a="http://schemas.openxmlformats.org/drawingml/2006/main">
              <a:ext uri="{FF2B5EF4-FFF2-40B4-BE49-F238E27FC236}">
                <a16:creationId xmlns:a16="http://schemas.microsoft.com/office/drawing/2014/main" id="{B0538F59-0C59-4FA7-B1F1-87BDAC679F3F}"/>
              </a:ext>
            </a:extLst>
          </p:cNvPr>
          <p:cNvSpPr>
            <a:spLocks xmlns:a="http://schemas.openxmlformats.org/drawingml/2006/main" noGrp="1"/>
          </p:cNvSpPr>
          <p:nvPr/>
        </p:nvSpPr>
        <p:spPr>
          <a:xfrm xmlns:a="http://schemas.openxmlformats.org/drawingml/2006/main">
            <a:off x="571500" y="1419225"/>
            <a:ext cx="10763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6DAE"/>
                </a:solidFill>
                <a:latin typeface="Arial"/>
                <a:ea typeface="Arial"/>
                <a:cs typeface="Arial"/>
              </a:defRPr>
            </a:pPr>
            <a:r>
              <a:rPr sz="3300" b="1">
                <a:solidFill>
                  <a:srgbClr val="006DAE"/>
                </a:solidFill>
                <a:latin typeface="Arial"/>
                <a:ea typeface="Arial"/>
                <a:cs typeface="Arial"/>
              </a:rPr>
              <a:t>The robot supports the panel.</a:t>
            </a:r>
          </a:p>
          <a:p xmlns:a="http://schemas.openxmlformats.org/drawingml/2006/main">
            <a:pPr>
              <a:defRPr sz="3300" b="1">
                <a:solidFill>
                  <a:srgbClr val="006DAE"/>
                </a:solidFill>
                <a:latin typeface="Arial"/>
                <a:ea typeface="Arial"/>
                <a:cs typeface="Arial"/>
              </a:defRPr>
            </a:pPr>
            <a:r>
              <a:rPr sz="3300" b="1">
                <a:solidFill>
                  <a:srgbClr val="006DAE"/>
                </a:solidFill>
                <a:latin typeface="Arial"/>
                <a:ea typeface="Arial"/>
                <a:cs typeface="Arial"/>
              </a:rPr>
              <a:t>The worker still needs access.</a:t>
            </a:r>
          </a:p>
        </p:txBody>
      </p:sp>
      <p:sp>
        <p:nvSpPr>
          <p:cNvPr id="4" name="Workers need room to align and fasten the panel.&#10;Stopping to">
            <a:extLst xmlns:a="http://schemas.openxmlformats.org/drawingml/2006/main">
              <a:ext uri="{FF2B5EF4-FFF2-40B4-BE49-F238E27FC236}">
                <a16:creationId xmlns:a16="http://schemas.microsoft.com/office/drawing/2014/main" id="{4676B21C-091D-44B0-A70D-EE173B572227}"/>
              </a:ext>
            </a:extLst>
          </p:cNvPr>
          <p:cNvSpPr>
            <a:spLocks xmlns:a="http://schemas.openxmlformats.org/drawingml/2006/main" noGrp="1"/>
          </p:cNvSpPr>
          <p:nvPr/>
        </p:nvSpPr>
        <p:spPr>
          <a:xfrm xmlns:a="http://schemas.openxmlformats.org/drawingml/2006/main">
            <a:off x="571500" y="29718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D3D"/>
                </a:solidFill>
                <a:latin typeface="Arial"/>
                <a:ea typeface="Arial"/>
                <a:cs typeface="Arial"/>
              </a:defRPr>
            </a:pPr>
            <a:r>
              <a:rPr sz="2400" b="0">
                <a:solidFill>
                  <a:srgbClr val="172D3D"/>
                </a:solidFill>
                <a:latin typeface="Arial"/>
                <a:ea typeface="Arial"/>
                <a:cs typeface="Arial"/>
              </a:rPr>
              <a:t>Workers need room to align and fasten the panel.</a:t>
            </a:r>
          </a:p>
          <a:p xmlns:a="http://schemas.openxmlformats.org/drawingml/2006/main">
            <a:pPr>
              <a:defRPr sz="2400" b="0">
                <a:solidFill>
                  <a:srgbClr val="172D3D"/>
                </a:solidFill>
                <a:latin typeface="Arial"/>
                <a:ea typeface="Arial"/>
                <a:cs typeface="Arial"/>
              </a:defRPr>
            </a:pPr>
            <a:r>
              <a:rPr sz="2400" b="0">
                <a:solidFill>
                  <a:srgbClr val="172D3D"/>
                </a:solidFill>
                <a:latin typeface="Arial"/>
                <a:ea typeface="Arial"/>
                <a:cs typeface="Arial"/>
              </a:rPr>
              <a:t>Stopping too often can interrupt that coordination.</a:t>
            </a:r>
          </a:p>
        </p:txBody>
      </p:sp>
      <p:sp>
        <p:nvSpPr>
          <p:cNvPr id="5" name="Potential beneficiaries: installation crews and the engineer">
            <a:extLst xmlns:a="http://schemas.openxmlformats.org/drawingml/2006/main">
              <a:ext uri="{FF2B5EF4-FFF2-40B4-BE49-F238E27FC236}">
                <a16:creationId xmlns:a16="http://schemas.microsoft.com/office/drawing/2014/main" id="{7C9F4C65-82B7-48FA-BB9F-00FADC90B9A1}"/>
              </a:ext>
            </a:extLst>
          </p:cNvPr>
          <p:cNvSpPr>
            <a:spLocks xmlns:a="http://schemas.openxmlformats.org/drawingml/2006/main" noGrp="1"/>
          </p:cNvSpPr>
          <p:nvPr/>
        </p:nvSpPr>
        <p:spPr>
          <a:xfrm xmlns:a="http://schemas.openxmlformats.org/drawingml/2006/main">
            <a:off x="571500" y="41624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D"/>
                </a:solidFill>
                <a:latin typeface="Arial"/>
                <a:ea typeface="Arial"/>
                <a:cs typeface="Arial"/>
              </a:defRPr>
            </a:pPr>
            <a:r>
              <a:rPr sz="2250" b="0">
                <a:solidFill>
                  <a:srgbClr val="172D3D"/>
                </a:solidFill>
                <a:latin typeface="Arial"/>
                <a:ea typeface="Arial"/>
                <a:cs typeface="Arial"/>
              </a:rPr>
              <a:t>Potential beneficiaries: installation crews and the engineers</a:t>
            </a:r>
          </a:p>
          <a:p xmlns:a="http://schemas.openxmlformats.org/drawingml/2006/main">
            <a:pPr>
              <a:defRPr sz="2250" b="0">
                <a:solidFill>
                  <a:srgbClr val="172D3D"/>
                </a:solidFill>
                <a:latin typeface="Arial"/>
                <a:ea typeface="Arial"/>
                <a:cs typeface="Arial"/>
              </a:defRPr>
            </a:pPr>
            <a:r>
              <a:rPr sz="2250" b="0">
                <a:solidFill>
                  <a:srgbClr val="172D3D"/>
                </a:solidFill>
                <a:latin typeface="Arial"/>
                <a:ea typeface="Arial"/>
                <a:cs typeface="Arial"/>
              </a:rPr>
              <a:t>who design collaborative construction systems.</a:t>
            </a:r>
          </a:p>
        </p:txBody>
      </p:sp>
      <p:sp>
        <p:nvSpPr>
          <p:cNvPr id="6" name="Research question: can task context improve coordination&#10;wit">
            <a:extLst xmlns:a="http://schemas.openxmlformats.org/drawingml/2006/main">
              <a:ext uri="{FF2B5EF4-FFF2-40B4-BE49-F238E27FC236}">
                <a16:creationId xmlns:a16="http://schemas.microsoft.com/office/drawing/2014/main" id="{6D0B6F88-DCE9-46A8-A55D-095F9C7A309C}"/>
              </a:ext>
            </a:extLst>
          </p:cNvPr>
          <p:cNvSpPr>
            <a:spLocks xmlns:a="http://schemas.openxmlformats.org/drawingml/2006/main" noGrp="1"/>
          </p:cNvSpPr>
          <p:nvPr/>
        </p:nvSpPr>
        <p:spPr>
          <a:xfrm xmlns:a="http://schemas.openxmlformats.org/drawingml/2006/main">
            <a:off x="571500" y="5143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2D3D"/>
                </a:solidFill>
                <a:latin typeface="Arial"/>
                <a:ea typeface="Arial"/>
                <a:cs typeface="Arial"/>
              </a:defRPr>
            </a:pPr>
            <a:r>
              <a:rPr sz="2025" b="1">
                <a:solidFill>
                  <a:srgbClr val="172D3D"/>
                </a:solidFill>
                <a:latin typeface="Arial"/>
                <a:ea typeface="Arial"/>
                <a:cs typeface="Arial"/>
              </a:rPr>
              <a:t>Research question: can task context improve coordination</a:t>
            </a:r>
          </a:p>
          <a:p xmlns:a="http://schemas.openxmlformats.org/drawingml/2006/main">
            <a:pPr>
              <a:defRPr sz="2025" b="1">
                <a:solidFill>
                  <a:srgbClr val="172D3D"/>
                </a:solidFill>
                <a:latin typeface="Arial"/>
                <a:ea typeface="Arial"/>
                <a:cs typeface="Arial"/>
              </a:defRPr>
            </a:pPr>
            <a:r>
              <a:rPr sz="2025" b="1">
                <a:solidFill>
                  <a:srgbClr val="172D3D"/>
                </a:solidFill>
                <a:latin typeface="Arial"/>
                <a:ea typeface="Arial"/>
                <a:cs typeface="Arial"/>
              </a:rPr>
              <a:t>within a fixed geometric command limit?</a:t>
            </a:r>
          </a:p>
        </p:txBody>
      </p:sp>
    </p:spTree>
    <p:extLst>
      <p:ext uri="{BB962C8B-B14F-4D97-AF65-F5344CB8AC3E}">
        <p14:creationId xmlns:p14="http://schemas.microsoft.com/office/powerpoint/2010/main" val="151232738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 name="The task and laboratory prototype">
            <a:extLst xmlns:a="http://schemas.openxmlformats.org/drawingml/2006/main">
              <a:ext uri="{FF2B5EF4-FFF2-40B4-BE49-F238E27FC236}">
                <a16:creationId xmlns:a16="http://schemas.microsoft.com/office/drawing/2014/main" id="{DA806EAB-9D1F-4D99-9E8F-92CEBF025533}"/>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The task and laboratory prototype</a:t>
            </a:r>
          </a:p>
        </p:txBody>
      </p:sp>
      <p:sp>
        <p:nvSpPr>
          <p:cNvPr id="2" name="03">
            <a:extLst xmlns:a="http://schemas.openxmlformats.org/drawingml/2006/main">
              <a:ext uri="{FF2B5EF4-FFF2-40B4-BE49-F238E27FC236}">
                <a16:creationId xmlns:a16="http://schemas.microsoft.com/office/drawing/2014/main" id="{CFB5FF92-5DE5-431F-B644-183C6C08DB02}"/>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03</a:t>
            </a:r>
          </a:p>
        </p:txBody>
      </p:sp>
      <p:sp>
        <p:nvSpPr>
          <p:cNvPr id="4" name="UR10 robot&#10;Panel surrogate&#10;Optical head tracking&#10;Body-segmen">
            <a:extLst xmlns:a="http://schemas.openxmlformats.org/drawingml/2006/main">
              <a:ext uri="{FF2B5EF4-FFF2-40B4-BE49-F238E27FC236}">
                <a16:creationId xmlns:a16="http://schemas.microsoft.com/office/drawing/2014/main" id="{8B38F4BD-A4AB-4999-A492-26BB7F873FFC}"/>
              </a:ext>
            </a:extLst>
          </p:cNvPr>
          <p:cNvSpPr>
            <a:spLocks xmlns:a="http://schemas.openxmlformats.org/drawingml/2006/main" noGrp="1"/>
          </p:cNvSpPr>
          <p:nvPr/>
        </p:nvSpPr>
        <p:spPr>
          <a:xfrm xmlns:a="http://schemas.openxmlformats.org/drawingml/2006/main">
            <a:off x="8334375" y="1619250"/>
            <a:ext cx="323850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UR10 robot</a:t>
            </a:r>
          </a:p>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Panel surrogate</a:t>
            </a:r>
          </a:p>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Optical head tracking</a:t>
            </a:r>
          </a:p>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Body-segment tracking</a:t>
            </a:r>
          </a:p>
        </p:txBody>
      </p:sp>
      <p:sp>
        <p:nvSpPr>
          <p:cNvPr id="5" name="Load → retreat → lift → work → retreat → lower / unload">
            <a:extLst xmlns:a="http://schemas.openxmlformats.org/drawingml/2006/main">
              <a:ext uri="{FF2B5EF4-FFF2-40B4-BE49-F238E27FC236}">
                <a16:creationId xmlns:a16="http://schemas.microsoft.com/office/drawing/2014/main" id="{F2534CDA-8026-48C5-B240-46D698435715}"/>
              </a:ext>
            </a:extLst>
          </p:cNvPr>
          <p:cNvSpPr>
            <a:spLocks xmlns:a="http://schemas.openxmlformats.org/drawingml/2006/main" noGrp="1"/>
          </p:cNvSpPr>
          <p:nvPr/>
        </p:nvSpPr>
        <p:spPr>
          <a:xfrm xmlns:a="http://schemas.openxmlformats.org/drawingml/2006/main">
            <a:off x="571500" y="4886325"/>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DAE"/>
                </a:solidFill>
                <a:latin typeface="Arial"/>
                <a:ea typeface="Arial"/>
                <a:cs typeface="Arial"/>
              </a:defRPr>
            </a:pPr>
            <a:r>
              <a:rPr sz="2250" b="1">
                <a:solidFill>
                  <a:srgbClr val="006DAE"/>
                </a:solidFill>
                <a:latin typeface="Arial"/>
                <a:ea typeface="Arial"/>
                <a:cs typeface="Arial"/>
              </a:rPr>
              <a:t>Load → retreat → lift → work → retreat → lower / unload</a:t>
            </a:r>
          </a:p>
        </p:txBody>
      </p:sp>
      <p:sp>
        <p:nvSpPr>
          <p:cNvPr id="6" name="Schematic of the procedure; scale and motion are illustrativ">
            <a:extLst xmlns:a="http://schemas.openxmlformats.org/drawingml/2006/main">
              <a:ext uri="{FF2B5EF4-FFF2-40B4-BE49-F238E27FC236}">
                <a16:creationId xmlns:a16="http://schemas.microsoft.com/office/drawing/2014/main" id="{2BCF01A8-A812-4BB7-ADB0-153753A61F5C}"/>
              </a:ext>
            </a:extLst>
          </p:cNvPr>
          <p:cNvSpPr>
            <a:spLocks xmlns:a="http://schemas.openxmlformats.org/drawingml/2006/main" noGrp="1"/>
          </p:cNvSpPr>
          <p:nvPr/>
        </p:nvSpPr>
        <p:spPr>
          <a:xfrm xmlns:a="http://schemas.openxmlformats.org/drawingml/2006/main">
            <a:off x="571500" y="5524500"/>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B79"/>
                </a:solidFill>
                <a:latin typeface="Arial"/>
                <a:ea typeface="Arial"/>
                <a:cs typeface="Arial"/>
              </a:defRPr>
            </a:pPr>
            <a:r>
              <a:rPr sz="1650" b="0">
                <a:solidFill>
                  <a:srgbClr val="536B79"/>
                </a:solidFill>
                <a:latin typeface="Arial"/>
                <a:ea typeface="Arial"/>
                <a:cs typeface="Arial"/>
              </a:rPr>
              <a:t>Lab cell during a session: UR10 holding the panel at ceiling height; OptiTrack cameras on the frame. Faces obscured.</a:t>
            </a:r>
          </a:p>
        </p:txBody>
      </p:sp>
      <p:pic xmlns:a="http://schemas.openxmlformats.org/drawingml/2006/main" xmlns:r="http://schemas.openxmlformats.org/officeDocument/2006/relationships">
        <p:nvPicPr>
          <p:cNvPr id="8" name="Picture 7" descr="apparatus-a.jpg"/>
          <p:cNvPicPr>
            <a:picLocks noChangeAspect="1"/>
          </p:cNvPicPr>
          <p:nvPr/>
        </p:nvPicPr>
        <p:blipFill>
          <a:blip r:embed="rId4"/>
          <a:stretch>
            <a:fillRect/>
          </a:stretch>
        </p:blipFill>
        <p:spPr>
          <a:xfrm>
            <a:off x="1214438" y="1266825"/>
            <a:ext cx="6096000" cy="3429000"/>
          </a:xfrm>
          <a:prstGeom prst="rect">
            <a:avLst/>
          </a:prstGeom>
        </p:spPr>
      </p:pic>
    </p:spTree>
    <p:extLst>
      <p:ext uri="{BB962C8B-B14F-4D97-AF65-F5344CB8AC3E}">
        <p14:creationId xmlns:p14="http://schemas.microsoft.com/office/powerpoint/2010/main" val="151232738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Why compare three controllers?">
            <a:extLst xmlns:a="http://schemas.openxmlformats.org/drawingml/2006/main">
              <a:ext uri="{FF2B5EF4-FFF2-40B4-BE49-F238E27FC236}">
                <a16:creationId xmlns:a16="http://schemas.microsoft.com/office/drawing/2014/main" id="{33A41847-0DA5-4C1E-82A2-FB41F86F54E0}"/>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Why compare three controllers?</a:t>
            </a:r>
          </a:p>
        </p:txBody>
      </p:sp>
      <p:sp>
        <p:nvSpPr>
          <p:cNvPr id="2" name="04">
            <a:extLst xmlns:a="http://schemas.openxmlformats.org/drawingml/2006/main">
              <a:ext uri="{FF2B5EF4-FFF2-40B4-BE49-F238E27FC236}">
                <a16:creationId xmlns:a16="http://schemas.microsoft.com/office/drawing/2014/main" id="{9187A050-299B-4625-A4AC-06DB096C5727}"/>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04</a:t>
            </a:r>
          </a:p>
        </p:txBody>
      </p:sp>
      <p:graphicFrame>
        <p:nvGraphicFramePr>
          <p:cNvPr id="8" name=""/>
          <p:cNvGraphicFramePr/>
          <p:nvPr/>
        </p:nvGraphicFramePr>
        <p:xfrm>
          <a:off xmlns:a="http://schemas.openxmlformats.org/drawingml/2006/main" x="523875" y="1419225"/>
          <a:ext xmlns:a="http://schemas.openxmlformats.org/drawingml/2006/main" cx="11144250" cy="2619375"/>
        </p:xfrm>
        <a:graphic xmlns:a="http://schemas.openxmlformats.org/drawingml/2006/main">
          <a:graphicData uri="http://schemas.openxmlformats.org/drawingml/2006/table">
            <a:tbl>
              <a:tblPr/>
              <a:tblGrid>
                <a:gridCol w="2095500"/>
                <a:gridCol w="5143500"/>
                <a:gridCol w="3905250"/>
              </a:tblGrid>
              <a:tr h="654844">
                <a:tc>
                  <a:txBody>
                    <a:bodyPr/>
                    <a:lstStyle/>
                    <a:p>
                      <a:r>
                        <a:rPr sz="2175" b="1">
                          <a:solidFill>
                            <a:srgbClr val="172D3D"/>
                          </a:solidFill>
                          <a:latin typeface="Arial"/>
                          <a:ea typeface="Arial"/>
                          <a:cs typeface="Arial"/>
                        </a:rPr>
                        <a:t>Controller</a:t>
                      </a:r>
                    </a:p>
                  </a:txBody>
                  <a:tcPr marL="91440" marR="91440" marT="45720" marB="45720">
                    <a:solidFill>
                      <a:srgbClr val="E5EDF2"/>
                    </a:solidFill>
                  </a:tcPr>
                </a:tc>
                <a:tc>
                  <a:txBody>
                    <a:bodyPr/>
                    <a:lstStyle/>
                    <a:p>
                      <a:r>
                        <a:rPr sz="2175" b="1">
                          <a:solidFill>
                            <a:srgbClr val="172D3D"/>
                          </a:solidFill>
                          <a:latin typeface="Arial"/>
                          <a:ea typeface="Arial"/>
                          <a:cs typeface="Arial"/>
                        </a:rPr>
                        <a:t>Information used</a:t>
                      </a:r>
                    </a:p>
                  </a:txBody>
                  <a:tcPr marL="91440" marR="91440" marT="45720" marB="45720">
                    <a:solidFill>
                      <a:srgbClr val="E5EDF2"/>
                    </a:solidFill>
                  </a:tcPr>
                </a:tc>
                <a:tc>
                  <a:txBody>
                    <a:bodyPr/>
                    <a:lstStyle/>
                    <a:p>
                      <a:r>
                        <a:rPr sz="2175" b="1">
                          <a:solidFill>
                            <a:srgbClr val="172D3D"/>
                          </a:solidFill>
                          <a:latin typeface="Arial"/>
                          <a:ea typeface="Arial"/>
                          <a:cs typeface="Arial"/>
                        </a:rPr>
                        <a:t>Why include it?</a:t>
                      </a:r>
                    </a:p>
                  </a:txBody>
                  <a:tcPr marL="91440" marR="91440" marT="45720" marB="45720">
                    <a:solidFill>
                      <a:srgbClr val="E5EDF2"/>
                    </a:solidFill>
                  </a:tcPr>
                </a:tc>
              </a:tr>
              <a:tr h="654844">
                <a:tc>
                  <a:txBody>
                    <a:bodyPr/>
                    <a:lstStyle/>
                    <a:p>
                      <a:r>
                        <a:rPr sz="2175" b="0">
                          <a:solidFill>
                            <a:srgbClr val="172D3D"/>
                          </a:solidFill>
                          <a:latin typeface="Arial"/>
                          <a:ea typeface="Arial"/>
                          <a:cs typeface="Arial"/>
                        </a:rPr>
                        <a:t>Fixed zone</a:t>
                      </a:r>
                    </a:p>
                  </a:txBody>
                  <a:tcPr marL="91440" marR="91440" marT="45720" marB="45720">
                    <a:solidFill>
                      <a:srgbClr val="FFFFFF"/>
                    </a:solidFill>
                  </a:tcPr>
                </a:tc>
                <a:tc>
                  <a:txBody>
                    <a:bodyPr/>
                    <a:lstStyle/>
                    <a:p>
                      <a:r>
                        <a:rPr sz="2175" b="0">
                          <a:solidFill>
                            <a:srgbClr val="172D3D"/>
                          </a:solidFill>
                          <a:latin typeface="Arial"/>
                          <a:ea typeface="Arial"/>
                          <a:cs typeface="Arial"/>
                        </a:rPr>
                        <a:t>Distance</a:t>
                      </a:r>
                    </a:p>
                  </a:txBody>
                  <a:tcPr marL="91440" marR="91440" marT="45720" marB="45720">
                    <a:solidFill>
                      <a:srgbClr val="FFFFFF"/>
                    </a:solidFill>
                  </a:tcPr>
                </a:tc>
                <a:tc>
                  <a:txBody>
                    <a:bodyPr/>
                    <a:lstStyle/>
                    <a:p>
                      <a:r>
                        <a:rPr sz="2175" b="0">
                          <a:solidFill>
                            <a:srgbClr val="172D3D"/>
                          </a:solidFill>
                          <a:latin typeface="Arial"/>
                          <a:ea typeface="Arial"/>
                          <a:cs typeface="Arial"/>
                        </a:rPr>
                        <a:t>Simple reference</a:t>
                      </a:r>
                    </a:p>
                  </a:txBody>
                  <a:tcPr marL="91440" marR="91440" marT="45720" marB="45720">
                    <a:solidFill>
                      <a:srgbClr val="FFFFFF"/>
                    </a:solidFill>
                  </a:tcPr>
                </a:tc>
              </a:tr>
              <a:tr h="654844">
                <a:tc>
                  <a:txBody>
                    <a:bodyPr/>
                    <a:lstStyle/>
                    <a:p>
                      <a:r>
                        <a:rPr sz="2175" b="0">
                          <a:solidFill>
                            <a:srgbClr val="172D3D"/>
                          </a:solidFill>
                          <a:latin typeface="Arial"/>
                          <a:ea typeface="Arial"/>
                          <a:cs typeface="Arial"/>
                        </a:rPr>
                        <a:t>Reactive</a:t>
                      </a:r>
                    </a:p>
                  </a:txBody>
                  <a:tcPr marL="91440" marR="91440" marT="45720" marB="45720">
                    <a:solidFill>
                      <a:srgbClr val="FFFFFF"/>
                    </a:solidFill>
                  </a:tcPr>
                </a:tc>
                <a:tc>
                  <a:txBody>
                    <a:bodyPr/>
                    <a:lstStyle/>
                    <a:p>
                      <a:r>
                        <a:rPr sz="2175" b="0">
                          <a:solidFill>
                            <a:srgbClr val="172D3D"/>
                          </a:solidFill>
                          <a:latin typeface="Arial"/>
                          <a:ea typeface="Arial"/>
                          <a:cs typeface="Arial"/>
                        </a:rPr>
                        <a:t>Distance + closing speed</a:t>
                      </a:r>
                    </a:p>
                  </a:txBody>
                  <a:tcPr marL="91440" marR="91440" marT="45720" marB="45720">
                    <a:solidFill>
                      <a:srgbClr val="FFFFFF"/>
                    </a:solidFill>
                  </a:tcPr>
                </a:tc>
                <a:tc>
                  <a:txBody>
                    <a:bodyPr/>
                    <a:lstStyle/>
                    <a:p>
                      <a:r>
                        <a:rPr sz="2175" b="0">
                          <a:solidFill>
                            <a:srgbClr val="172D3D"/>
                          </a:solidFill>
                          <a:latin typeface="Arial"/>
                          <a:ea typeface="Arial"/>
                          <a:cs typeface="Arial"/>
                        </a:rPr>
                        <a:t>Isolate movement information</a:t>
                      </a:r>
                    </a:p>
                  </a:txBody>
                  <a:tcPr marL="91440" marR="91440" marT="45720" marB="45720">
                    <a:solidFill>
                      <a:srgbClr val="FFFFFF"/>
                    </a:solidFill>
                  </a:tcPr>
                </a:tc>
              </a:tr>
              <a:tr h="654844">
                <a:tc>
                  <a:txBody>
                    <a:bodyPr/>
                    <a:lstStyle/>
                    <a:p>
                      <a:r>
                        <a:rPr sz="2175" b="0">
                          <a:solidFill>
                            <a:srgbClr val="172D3D"/>
                          </a:solidFill>
                          <a:latin typeface="Arial"/>
                          <a:ea typeface="Arial"/>
                          <a:cs typeface="Arial"/>
                        </a:rPr>
                        <a:t>Predictive</a:t>
                      </a:r>
                    </a:p>
                  </a:txBody>
                  <a:tcPr marL="91440" marR="91440" marT="45720" marB="45720">
                    <a:solidFill>
                      <a:srgbClr val="FFFFFF"/>
                    </a:solidFill>
                  </a:tcPr>
                </a:tc>
                <a:tc>
                  <a:txBody>
                    <a:bodyPr/>
                    <a:lstStyle/>
                    <a:p>
                      <a:r>
                        <a:rPr sz="2175" b="0">
                          <a:solidFill>
                            <a:srgbClr val="172D3D"/>
                          </a:solidFill>
                          <a:latin typeface="Arial"/>
                          <a:ea typeface="Arial"/>
                          <a:cs typeface="Arial"/>
                        </a:rPr>
                        <a:t>Reactive limit + task phase</a:t>
                      </a:r>
                    </a:p>
                    <a:p>
                      <a:r>
                        <a:rPr sz="2175" b="0">
                          <a:solidFill>
                            <a:srgbClr val="172D3D"/>
                          </a:solidFill>
                          <a:latin typeface="Arial"/>
                          <a:ea typeface="Arial"/>
                          <a:cs typeface="Arial"/>
                        </a:rPr>
                        <a:t>+ predicted boundary approach</a:t>
                      </a:r>
                    </a:p>
                  </a:txBody>
                  <a:tcPr marL="91440" marR="91440" marT="45720" marB="45720">
                    <a:solidFill>
                      <a:srgbClr val="FFFFFF"/>
                    </a:solidFill>
                  </a:tcPr>
                </a:tc>
                <a:tc>
                  <a:txBody>
                    <a:bodyPr/>
                    <a:lstStyle/>
                    <a:p>
                      <a:r>
                        <a:rPr sz="2175" b="0">
                          <a:solidFill>
                            <a:srgbClr val="172D3D"/>
                          </a:solidFill>
                          <a:latin typeface="Arial"/>
                          <a:ea typeface="Arial"/>
                          <a:cs typeface="Arial"/>
                        </a:rPr>
                        <a:t>Test added context</a:t>
                      </a:r>
                    </a:p>
                  </a:txBody>
                  <a:tcPr marL="91440" marR="91440" marT="45720" marB="45720">
                    <a:solidFill>
                      <a:srgbClr val="FFFFFF"/>
                    </a:solidFill>
                  </a:tcPr>
                </a:tc>
              </a:tr>
            </a:tbl>
          </a:graphicData>
        </a:graphic>
      </p:graphicFrame>
      <p:sp>
        <p:nvSpPr>
          <p:cNvPr id="4" name="Speed and separation monitoring: adjust robot motion&#10;accordi">
            <a:extLst xmlns:a="http://schemas.openxmlformats.org/drawingml/2006/main">
              <a:ext uri="{FF2B5EF4-FFF2-40B4-BE49-F238E27FC236}">
                <a16:creationId xmlns:a16="http://schemas.microsoft.com/office/drawing/2014/main" id="{0B30B465-2C6E-471F-9DA5-22B929EC676D}"/>
              </a:ext>
            </a:extLst>
          </p:cNvPr>
          <p:cNvSpPr>
            <a:spLocks xmlns:a="http://schemas.openxmlformats.org/drawingml/2006/main" noGrp="1"/>
          </p:cNvSpPr>
          <p:nvPr/>
        </p:nvSpPr>
        <p:spPr>
          <a:xfrm xmlns:a="http://schemas.openxmlformats.org/drawingml/2006/main">
            <a:off x="571500" y="42386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Speed and separation monitoring: adjust robot motion</a:t>
            </a:r>
          </a:p>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according to separation and movement.</a:t>
            </a:r>
          </a:p>
        </p:txBody>
      </p:sp>
      <p:sp>
        <p:nvSpPr>
          <p:cNvPr id="5" name="Learned context can add caution; it cannot raise the speed l">
            <a:extLst xmlns:a="http://schemas.openxmlformats.org/drawingml/2006/main">
              <a:ext uri="{FF2B5EF4-FFF2-40B4-BE49-F238E27FC236}">
                <a16:creationId xmlns:a16="http://schemas.microsoft.com/office/drawing/2014/main" id="{4B3FE9AF-B55A-4273-A6CC-6240DC6EC097}"/>
              </a:ext>
            </a:extLst>
          </p:cNvPr>
          <p:cNvSpPr>
            <a:spLocks xmlns:a="http://schemas.openxmlformats.org/drawingml/2006/main" noGrp="1"/>
          </p:cNvSpPr>
          <p:nvPr/>
        </p:nvSpPr>
        <p:spPr>
          <a:xfrm xmlns:a="http://schemas.openxmlformats.org/drawingml/2006/main">
            <a:off x="571500" y="52387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DAE"/>
                </a:solidFill>
                <a:latin typeface="Arial"/>
                <a:ea typeface="Arial"/>
                <a:cs typeface="Arial"/>
              </a:defRPr>
            </a:pPr>
            <a:r>
              <a:rPr sz="2175" b="1">
                <a:solidFill>
                  <a:srgbClr val="006DAE"/>
                </a:solidFill>
                <a:latin typeface="Arial"/>
                <a:ea typeface="Arial"/>
                <a:cs typeface="Arial"/>
              </a:rPr>
              <a:t>Learned context can add caution; it cannot raise the speed limit.</a:t>
            </a:r>
          </a:p>
        </p:txBody>
      </p:sp>
    </p:spTree>
    <p:extLst>
      <p:ext uri="{BB962C8B-B14F-4D97-AF65-F5344CB8AC3E}">
        <p14:creationId xmlns:p14="http://schemas.microsoft.com/office/powerpoint/2010/main" val="151232738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 name="How the prototype was evaluated">
            <a:extLst xmlns:a="http://schemas.openxmlformats.org/drawingml/2006/main">
              <a:ext uri="{FF2B5EF4-FFF2-40B4-BE49-F238E27FC236}">
                <a16:creationId xmlns:a16="http://schemas.microsoft.com/office/drawing/2014/main" id="{3FEE3BA2-283C-4D1D-9E9B-6C57D4E4D8BD}"/>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How the prototype was evaluated</a:t>
            </a:r>
          </a:p>
        </p:txBody>
      </p:sp>
      <p:sp>
        <p:nvSpPr>
          <p:cNvPr id="2" name="05">
            <a:extLst xmlns:a="http://schemas.openxmlformats.org/drawingml/2006/main">
              <a:ext uri="{FF2B5EF4-FFF2-40B4-BE49-F238E27FC236}">
                <a16:creationId xmlns:a16="http://schemas.microsoft.com/office/drawing/2014/main" id="{AC71E37B-6829-4B12-8373-4FD8F2F8BCFE}"/>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05</a:t>
            </a:r>
          </a:p>
        </p:txBody>
      </p:sp>
      <p:sp>
        <p:nvSpPr>
          <p:cNvPr id="3" name="Three controller conditions, with rotated order">
            <a:extLst xmlns:a="http://schemas.openxmlformats.org/drawingml/2006/main">
              <a:ext uri="{FF2B5EF4-FFF2-40B4-BE49-F238E27FC236}">
                <a16:creationId xmlns:a16="http://schemas.microsoft.com/office/drawing/2014/main" id="{9162C6F2-3F1A-48AE-9C46-25DBF007C13B}"/>
              </a:ext>
            </a:extLst>
          </p:cNvPr>
          <p:cNvSpPr>
            <a:spLocks xmlns:a="http://schemas.openxmlformats.org/drawingml/2006/main" noGrp="1"/>
          </p:cNvSpPr>
          <p:nvPr/>
        </p:nvSpPr>
        <p:spPr>
          <a:xfrm xmlns:a="http://schemas.openxmlformats.org/drawingml/2006/main">
            <a:off x="571500" y="14001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6DAE"/>
                </a:solidFill>
                <a:latin typeface="Arial"/>
                <a:ea typeface="Arial"/>
                <a:cs typeface="Arial"/>
              </a:defRPr>
            </a:pPr>
            <a:r>
              <a:rPr sz="2775" b="1">
                <a:solidFill>
                  <a:srgbClr val="006DAE"/>
                </a:solidFill>
                <a:latin typeface="Arial"/>
                <a:ea typeface="Arial"/>
                <a:cs typeface="Arial"/>
              </a:rPr>
              <a:t>Three controller conditions, with rotated order</a:t>
            </a:r>
          </a:p>
        </p:txBody>
      </p:sp>
      <p:sp>
        <p:nvSpPr>
          <p:cNvPr id="4" name="Routine task · Distractor · Cued rapid movement">
            <a:extLst xmlns:a="http://schemas.openxmlformats.org/drawingml/2006/main">
              <a:ext uri="{FF2B5EF4-FFF2-40B4-BE49-F238E27FC236}">
                <a16:creationId xmlns:a16="http://schemas.microsoft.com/office/drawing/2014/main" id="{FBE1C89D-80A0-4295-B314-2AF9339B5E69}"/>
              </a:ext>
            </a:extLst>
          </p:cNvPr>
          <p:cNvSpPr>
            <a:spLocks xmlns:a="http://schemas.openxmlformats.org/drawingml/2006/main" noGrp="1"/>
          </p:cNvSpPr>
          <p:nvPr/>
        </p:nvSpPr>
        <p:spPr>
          <a:xfrm xmlns:a="http://schemas.openxmlformats.org/drawingml/2006/main">
            <a:off x="571500" y="2181225"/>
            <a:ext cx="1076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Routine task · Distractor · Cued rapid movement</a:t>
            </a:r>
          </a:p>
        </p:txBody>
      </p:sp>
      <p:graphicFrame>
        <p:nvGraphicFramePr>
          <p:cNvPr id="11" name=""/>
          <p:cNvGraphicFramePr/>
          <p:nvPr/>
        </p:nvGraphicFramePr>
        <p:xfrm>
          <a:off xmlns:a="http://schemas.openxmlformats.org/drawingml/2006/main" x="523875" y="2667000"/>
          <a:ext xmlns:a="http://schemas.openxmlformats.org/drawingml/2006/main" cx="11144250" cy="2286000"/>
        </p:xfrm>
        <a:graphic xmlns:a="http://schemas.openxmlformats.org/drawingml/2006/main">
          <a:graphicData uri="http://schemas.openxmlformats.org/drawingml/2006/table">
            <a:tbl>
              <a:tblPr/>
              <a:tblGrid>
                <a:gridCol w="3857625"/>
                <a:gridCol w="7286625"/>
              </a:tblGrid>
              <a:tr h="571500">
                <a:tc>
                  <a:txBody>
                    <a:bodyPr/>
                    <a:lstStyle/>
                    <a:p>
                      <a:r>
                        <a:rPr sz="2025" b="1">
                          <a:solidFill>
                            <a:srgbClr val="172D3D"/>
                          </a:solidFill>
                          <a:latin typeface="Arial"/>
                          <a:ea typeface="Arial"/>
                          <a:cs typeface="Arial"/>
                        </a:rPr>
                        <a:t>Measurement</a:t>
                      </a:r>
                    </a:p>
                  </a:txBody>
                  <a:tcPr marL="91440" marR="91440" marT="45720" marB="45720">
                    <a:solidFill>
                      <a:srgbClr val="E5EDF2"/>
                    </a:solidFill>
                  </a:tcPr>
                </a:tc>
                <a:tc>
                  <a:txBody>
                    <a:bodyPr/>
                    <a:lstStyle/>
                    <a:p>
                      <a:r>
                        <a:rPr sz="2025" b="1">
                          <a:solidFill>
                            <a:srgbClr val="172D3D"/>
                          </a:solidFill>
                          <a:latin typeface="Arial"/>
                          <a:ea typeface="Arial"/>
                          <a:cs typeface="Arial"/>
                        </a:rPr>
                        <a:t>Purpose</a:t>
                      </a:r>
                    </a:p>
                  </a:txBody>
                  <a:tcPr marL="91440" marR="91440" marT="45720" marB="45720">
                    <a:solidFill>
                      <a:srgbClr val="E5EDF2"/>
                    </a:solidFill>
                  </a:tcPr>
                </a:tc>
              </a:tr>
              <a:tr h="571500">
                <a:tc>
                  <a:txBody>
                    <a:bodyPr/>
                    <a:lstStyle/>
                    <a:p>
                      <a:r>
                        <a:rPr sz="2025" b="0">
                          <a:solidFill>
                            <a:srgbClr val="172D3D"/>
                          </a:solidFill>
                          <a:latin typeface="Arial"/>
                          <a:ea typeface="Arial"/>
                          <a:cs typeface="Arial"/>
                        </a:rPr>
                        <a:t>Robot and tracking data</a:t>
                      </a:r>
                    </a:p>
                  </a:txBody>
                  <a:tcPr marL="91440" marR="91440" marT="45720" marB="45720">
                    <a:solidFill>
                      <a:srgbClr val="FFFFFF"/>
                    </a:solidFill>
                  </a:tcPr>
                </a:tc>
                <a:tc>
                  <a:txBody>
                    <a:bodyPr/>
                    <a:lstStyle/>
                    <a:p>
                      <a:r>
                        <a:rPr sz="2025" b="0">
                          <a:solidFill>
                            <a:srgbClr val="172D3D"/>
                          </a:solidFill>
                          <a:latin typeface="Arial"/>
                          <a:ea typeface="Arial"/>
                          <a:cs typeface="Arial"/>
                        </a:rPr>
                        <a:t>Inputs, speed requests and measured motion</a:t>
                      </a:r>
                    </a:p>
                  </a:txBody>
                  <a:tcPr marL="91440" marR="91440" marT="45720" marB="45720">
                    <a:solidFill>
                      <a:srgbClr val="FFFFFF"/>
                    </a:solidFill>
                  </a:tcPr>
                </a:tc>
              </a:tr>
              <a:tr h="571500">
                <a:tc>
                  <a:txBody>
                    <a:bodyPr/>
                    <a:lstStyle/>
                    <a:p>
                      <a:r>
                        <a:rPr sz="2025" b="0">
                          <a:solidFill>
                            <a:srgbClr val="172D3D"/>
                          </a:solidFill>
                          <a:latin typeface="Arial"/>
                          <a:ea typeface="Arial"/>
                          <a:cs typeface="Arial"/>
                        </a:rPr>
                        <a:t>After each block</a:t>
                      </a:r>
                    </a:p>
                  </a:txBody>
                  <a:tcPr marL="91440" marR="91440" marT="45720" marB="45720">
                    <a:solidFill>
                      <a:srgbClr val="FFFFFF"/>
                    </a:solidFill>
                  </a:tcPr>
                </a:tc>
                <a:tc>
                  <a:txBody>
                    <a:bodyPr/>
                    <a:lstStyle/>
                    <a:p>
                      <a:r>
                        <a:rPr sz="2025" b="0">
                          <a:solidFill>
                            <a:srgbClr val="172D3D"/>
                          </a:solidFill>
                          <a:latin typeface="Arial"/>
                          <a:ea typeface="Arial"/>
                          <a:cs typeface="Arial"/>
                        </a:rPr>
                        <a:t>Describe confidence, demand and interruption</a:t>
                      </a:r>
                    </a:p>
                  </a:txBody>
                  <a:tcPr marL="91440" marR="91440" marT="45720" marB="45720">
                    <a:solidFill>
                      <a:srgbClr val="FFFFFF"/>
                    </a:solidFill>
                  </a:tcPr>
                </a:tc>
              </a:tr>
              <a:tr h="571500">
                <a:tc>
                  <a:txBody>
                    <a:bodyPr/>
                    <a:lstStyle/>
                    <a:p>
                      <a:r>
                        <a:rPr sz="2025" b="0">
                          <a:solidFill>
                            <a:srgbClr val="172D3D"/>
                          </a:solidFill>
                          <a:latin typeface="Arial"/>
                          <a:ea typeface="Arial"/>
                          <a:cs typeface="Arial"/>
                        </a:rPr>
                        <a:t>Intake and end forms</a:t>
                      </a:r>
                    </a:p>
                  </a:txBody>
                  <a:tcPr marL="91440" marR="91440" marT="45720" marB="45720">
                    <a:solidFill>
                      <a:srgbClr val="FFFFFF"/>
                    </a:solidFill>
                  </a:tcPr>
                </a:tc>
                <a:tc>
                  <a:txBody>
                    <a:bodyPr/>
                    <a:lstStyle/>
                    <a:p>
                      <a:r>
                        <a:rPr sz="2025" b="0">
                          <a:solidFill>
                            <a:srgbClr val="172D3D"/>
                          </a:solidFill>
                          <a:latin typeface="Arial"/>
                          <a:ea typeface="Arial"/>
                          <a:cs typeface="Arial"/>
                        </a:rPr>
                        <a:t>Compare expected and experienced safety / trust</a:t>
                      </a:r>
                    </a:p>
                  </a:txBody>
                  <a:tcPr marL="91440" marR="91440" marT="45720" marB="45720">
                    <a:solidFill>
                      <a:srgbClr val="FFFFFF"/>
                    </a:solidFill>
                  </a:tcPr>
                </a:tc>
              </a:tr>
            </a:tbl>
          </a:graphicData>
        </a:graphic>
      </p:graphicFrame>
      <p:sp>
        <p:nvSpPr>
          <p:cNvPr id="6" name="Analysed: 14 telemetry trials and 31 block responses;&#10;11 mat">
            <a:extLst xmlns:a="http://schemas.openxmlformats.org/drawingml/2006/main">
              <a:ext uri="{FF2B5EF4-FFF2-40B4-BE49-F238E27FC236}">
                <a16:creationId xmlns:a16="http://schemas.microsoft.com/office/drawing/2014/main" id="{DBEE5147-2EB8-4D0F-B05B-3D9A1A0B3985}"/>
              </a:ext>
            </a:extLst>
          </p:cNvPr>
          <p:cNvSpPr>
            <a:spLocks xmlns:a="http://schemas.openxmlformats.org/drawingml/2006/main" noGrp="1"/>
          </p:cNvSpPr>
          <p:nvPr/>
        </p:nvSpPr>
        <p:spPr>
          <a:xfrm xmlns:a="http://schemas.openxmlformats.org/drawingml/2006/main">
            <a:off x="571500" y="52101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Analysed: 14 telemetry trials and 31 block responses;</a:t>
            </a:r>
          </a:p>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11 matched intake/end sets. Complete individual linkage is unavailable.</a:t>
            </a:r>
          </a:p>
        </p:txBody>
      </p:sp>
    </p:spTree>
    <p:extLst>
      <p:ext uri="{BB962C8B-B14F-4D97-AF65-F5344CB8AC3E}">
        <p14:creationId xmlns:p14="http://schemas.microsoft.com/office/powerpoint/2010/main" val="151232738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 name="Task-phase recognition">
            <a:extLst xmlns:a="http://schemas.openxmlformats.org/drawingml/2006/main">
              <a:ext uri="{FF2B5EF4-FFF2-40B4-BE49-F238E27FC236}">
                <a16:creationId xmlns:a16="http://schemas.microsoft.com/office/drawing/2014/main" id="{96A2AFE6-22E8-453C-8953-0DBB4028953C}"/>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Task-phase recognition</a:t>
            </a:r>
          </a:p>
        </p:txBody>
      </p:sp>
      <p:sp>
        <p:nvSpPr>
          <p:cNvPr id="2" name="06">
            <a:extLst xmlns:a="http://schemas.openxmlformats.org/drawingml/2006/main">
              <a:ext uri="{FF2B5EF4-FFF2-40B4-BE49-F238E27FC236}">
                <a16:creationId xmlns:a16="http://schemas.microsoft.com/office/drawing/2014/main" id="{AC64141E-F65C-4F79-B767-F9AB54E188D9}"/>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06</a:t>
            </a:r>
          </a:p>
        </p:txBody>
      </p:sp>
      <p:sp>
        <p:nvSpPr>
          <p:cNvPr id="3" name="The model recognises approaching, working and retreating">
            <a:extLst xmlns:a="http://schemas.openxmlformats.org/drawingml/2006/main">
              <a:ext uri="{FF2B5EF4-FFF2-40B4-BE49-F238E27FC236}">
                <a16:creationId xmlns:a16="http://schemas.microsoft.com/office/drawing/2014/main" id="{688F278D-A7FA-4FF6-BC11-CA003FC63529}"/>
              </a:ext>
            </a:extLst>
          </p:cNvPr>
          <p:cNvSpPr>
            <a:spLocks xmlns:a="http://schemas.openxmlformats.org/drawingml/2006/main" noGrp="1"/>
          </p:cNvSpPr>
          <p:nvPr/>
        </p:nvSpPr>
        <p:spPr>
          <a:xfrm xmlns:a="http://schemas.openxmlformats.org/drawingml/2006/main">
            <a:off x="571500" y="12858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The model recognises approaching, working and retreating</a:t>
            </a:r>
          </a:p>
        </p:txBody>
      </p:sp>
      <p:graphicFrame>
        <p:nvGraphicFramePr>
          <p:cNvPr id="11" name="Chart"/>
          <p:cNvGraphicFramePr/>
          <p:nvPr/>
        </p:nvGraphicFramePr>
        <p:xfrm>
          <a:off xmlns:a="http://schemas.openxmlformats.org/drawingml/2006/main" x="619125" y="2038350"/>
          <a:ext xmlns:a="http://schemas.openxmlformats.org/drawingml/2006/main" cx="6667500" cy="2952750"/>
        </p:xfrm>
        <a:graphic xmlns:a="http://schemas.openxmlformats.org/drawingml/2006/main">
          <a:graphicData uri="http://schemas.openxmlformats.org/drawingml/2006/chart">
            <c:chart xmlns:r="http://schemas.openxmlformats.org/officeDocument/2006/relationships" xmlns:c="http://schemas.openxmlformats.org/drawingml/2006/chart" r:id="Rf75f28609aee42cb"/>
          </a:graphicData>
        </a:graphic>
      </p:graphicFrame>
      <p:sp>
        <p:nvSpPr>
          <p:cNvPr id="5" name="32 development trials&#10;from 3 operators">
            <a:extLst xmlns:a="http://schemas.openxmlformats.org/drawingml/2006/main">
              <a:ext uri="{FF2B5EF4-FFF2-40B4-BE49-F238E27FC236}">
                <a16:creationId xmlns:a16="http://schemas.microsoft.com/office/drawing/2014/main" id="{1D5C0430-4D0E-4A82-A702-E802FCCA0569}"/>
              </a:ext>
            </a:extLst>
          </p:cNvPr>
          <p:cNvSpPr>
            <a:spLocks xmlns:a="http://schemas.openxmlformats.org/drawingml/2006/main" noGrp="1"/>
          </p:cNvSpPr>
          <p:nvPr/>
        </p:nvSpPr>
        <p:spPr>
          <a:xfrm xmlns:a="http://schemas.openxmlformats.org/drawingml/2006/main">
            <a:off x="7953375" y="2314575"/>
            <a:ext cx="3524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D3D"/>
                </a:solidFill>
                <a:latin typeface="Arial"/>
                <a:ea typeface="Arial"/>
                <a:cs typeface="Arial"/>
              </a:defRPr>
            </a:pPr>
            <a:r>
              <a:rPr sz="2400" b="1">
                <a:solidFill>
                  <a:srgbClr val="172D3D"/>
                </a:solidFill>
                <a:latin typeface="Arial"/>
                <a:ea typeface="Arial"/>
                <a:cs typeface="Arial"/>
              </a:rPr>
              <a:t>32 development trials</a:t>
            </a:r>
          </a:p>
          <a:p xmlns:a="http://schemas.openxmlformats.org/drawingml/2006/main">
            <a:pPr>
              <a:defRPr sz="2400" b="1">
                <a:solidFill>
                  <a:srgbClr val="172D3D"/>
                </a:solidFill>
                <a:latin typeface="Arial"/>
                <a:ea typeface="Arial"/>
                <a:cs typeface="Arial"/>
              </a:defRPr>
            </a:pPr>
            <a:r>
              <a:rPr sz="2400" b="1">
                <a:solidFill>
                  <a:srgbClr val="172D3D"/>
                </a:solidFill>
                <a:latin typeface="Arial"/>
                <a:ea typeface="Arial"/>
                <a:cs typeface="Arial"/>
              </a:rPr>
              <a:t>from 3 operators</a:t>
            </a:r>
          </a:p>
        </p:txBody>
      </p:sp>
      <p:sp>
        <p:nvSpPr>
          <p:cNvPr id="6" name="Each operator was held&#10;out in turn during&#10;validation.">
            <a:extLst xmlns:a="http://schemas.openxmlformats.org/drawingml/2006/main">
              <a:ext uri="{FF2B5EF4-FFF2-40B4-BE49-F238E27FC236}">
                <a16:creationId xmlns:a16="http://schemas.microsoft.com/office/drawing/2014/main" id="{1CD572CB-78F6-4641-B899-95899A8F497E}"/>
              </a:ext>
            </a:extLst>
          </p:cNvPr>
          <p:cNvSpPr>
            <a:spLocks xmlns:a="http://schemas.openxmlformats.org/drawingml/2006/main" noGrp="1"/>
          </p:cNvSpPr>
          <p:nvPr/>
        </p:nvSpPr>
        <p:spPr>
          <a:xfrm xmlns:a="http://schemas.openxmlformats.org/drawingml/2006/main">
            <a:off x="7953375" y="3505200"/>
            <a:ext cx="3524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Each operator was held</a:t>
            </a:r>
          </a:p>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out in turn during</a:t>
            </a:r>
          </a:p>
          <a:p xmlns:a="http://schemas.openxmlformats.org/drawingml/2006/main">
            <a:pPr>
              <a:defRPr sz="2175" b="0">
                <a:solidFill>
                  <a:srgbClr val="172D3D"/>
                </a:solidFill>
                <a:latin typeface="Arial"/>
                <a:ea typeface="Arial"/>
                <a:cs typeface="Arial"/>
              </a:defRPr>
            </a:pPr>
            <a:r>
              <a:rPr sz="2175" b="0">
                <a:solidFill>
                  <a:srgbClr val="172D3D"/>
                </a:solidFill>
                <a:latin typeface="Arial"/>
                <a:ea typeface="Arial"/>
                <a:cs typeface="Arial"/>
              </a:rPr>
              <a:t>validation.</a:t>
            </a:r>
          </a:p>
        </p:txBody>
      </p:sp>
      <p:sp>
        <p:nvSpPr>
          <p:cNvPr id="7" name="Recognition used present and past observations.&#10;These are de">
            <a:extLst xmlns:a="http://schemas.openxmlformats.org/drawingml/2006/main">
              <a:ext uri="{FF2B5EF4-FFF2-40B4-BE49-F238E27FC236}">
                <a16:creationId xmlns:a16="http://schemas.microsoft.com/office/drawing/2014/main" id="{61552150-185B-4660-9ABC-0ECD18018E3B}"/>
              </a:ext>
            </a:extLst>
          </p:cNvPr>
          <p:cNvSpPr>
            <a:spLocks xmlns:a="http://schemas.openxmlformats.org/drawingml/2006/main" noGrp="1"/>
          </p:cNvSpPr>
          <p:nvPr/>
        </p:nvSpPr>
        <p:spPr>
          <a:xfrm xmlns:a="http://schemas.openxmlformats.org/drawingml/2006/main">
            <a:off x="571500" y="52578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B79"/>
                </a:solidFill>
                <a:latin typeface="Arial"/>
                <a:ea typeface="Arial"/>
                <a:cs typeface="Arial"/>
              </a:defRPr>
            </a:pPr>
            <a:r>
              <a:rPr sz="1875" b="0">
                <a:solidFill>
                  <a:srgbClr val="536B79"/>
                </a:solidFill>
                <a:latin typeface="Arial"/>
                <a:ea typeface="Arial"/>
                <a:cs typeface="Arial"/>
              </a:rPr>
              <a:t>Recognition used present and past observations.</a:t>
            </a:r>
          </a:p>
          <a:p xmlns:a="http://schemas.openxmlformats.org/drawingml/2006/main">
            <a:pPr>
              <a:defRPr sz="1875" b="0">
                <a:solidFill>
                  <a:srgbClr val="536B79"/>
                </a:solidFill>
                <a:latin typeface="Arial"/>
                <a:ea typeface="Arial"/>
                <a:cs typeface="Arial"/>
              </a:defRPr>
            </a:pPr>
            <a:r>
              <a:rPr sz="1875" b="0">
                <a:solidFill>
                  <a:srgbClr val="536B79"/>
                </a:solidFill>
                <a:latin typeface="Arial"/>
                <a:ea typeface="Arial"/>
                <a:cs typeface="Arial"/>
              </a:rPr>
              <a:t>These are development results, not a physical safety score.</a:t>
            </a:r>
          </a:p>
        </p:txBody>
      </p:sp>
    </p:spTree>
    <p:extLst>
      <p:ext uri="{BB962C8B-B14F-4D97-AF65-F5344CB8AC3E}">
        <p14:creationId xmlns:p14="http://schemas.microsoft.com/office/powerpoint/2010/main" val="151232738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Reported safety generally exceeded expectations">
            <a:extLst xmlns:a="http://schemas.openxmlformats.org/drawingml/2006/main">
              <a:ext uri="{FF2B5EF4-FFF2-40B4-BE49-F238E27FC236}">
                <a16:creationId xmlns:a16="http://schemas.microsoft.com/office/drawing/2014/main" id="{5814CDDA-1AB1-4D61-8FAF-E713491B3C34}"/>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Reported safety generally exceeded expectations</a:t>
            </a:r>
          </a:p>
        </p:txBody>
      </p:sp>
      <p:sp>
        <p:nvSpPr>
          <p:cNvPr id="2" name="07">
            <a:extLst xmlns:a="http://schemas.openxmlformats.org/drawingml/2006/main">
              <a:ext uri="{FF2B5EF4-FFF2-40B4-BE49-F238E27FC236}">
                <a16:creationId xmlns:a16="http://schemas.microsoft.com/office/drawing/2014/main" id="{C4C99FBE-1199-451A-A032-F316AA2D1434}"/>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07</a:t>
            </a:r>
          </a:p>
        </p:txBody>
      </p:sp>
      <p:sp>
        <p:nvSpPr>
          <p:cNvPr id="3" name="Changes between intake and end ratings">
            <a:extLst xmlns:a="http://schemas.openxmlformats.org/drawingml/2006/main">
              <a:ext uri="{FF2B5EF4-FFF2-40B4-BE49-F238E27FC236}">
                <a16:creationId xmlns:a16="http://schemas.microsoft.com/office/drawing/2014/main" id="{2DFEBB9F-3B8E-435B-BEE5-DF4C4122DD86}"/>
              </a:ext>
            </a:extLst>
          </p:cNvPr>
          <p:cNvSpPr>
            <a:spLocks xmlns:a="http://schemas.openxmlformats.org/drawingml/2006/main" noGrp="1"/>
          </p:cNvSpPr>
          <p:nvPr/>
        </p:nvSpPr>
        <p:spPr>
          <a:xfrm xmlns:a="http://schemas.openxmlformats.org/drawingml/2006/main">
            <a:off x="571500" y="12954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D"/>
                </a:solidFill>
                <a:latin typeface="Arial"/>
                <a:ea typeface="Arial"/>
                <a:cs typeface="Arial"/>
              </a:defRPr>
            </a:pPr>
            <a:r>
              <a:rPr sz="2250" b="0">
                <a:solidFill>
                  <a:srgbClr val="172D3D"/>
                </a:solidFill>
                <a:latin typeface="Arial"/>
                <a:ea typeface="Arial"/>
                <a:cs typeface="Arial"/>
              </a:rPr>
              <a:t>Changes between intake and end ratings</a:t>
            </a:r>
          </a:p>
        </p:txBody>
      </p:sp>
      <p:graphicFrame>
        <p:nvGraphicFramePr>
          <p:cNvPr id="10" name="Chart"/>
          <p:cNvGraphicFramePr/>
          <p:nvPr/>
        </p:nvGraphicFramePr>
        <p:xfrm>
          <a:off xmlns:a="http://schemas.openxmlformats.org/drawingml/2006/main" x="619125" y="1952625"/>
          <a:ext xmlns:a="http://schemas.openxmlformats.org/drawingml/2006/main" cx="10715625" cy="2571750"/>
        </p:xfrm>
        <a:graphic xmlns:a="http://schemas.openxmlformats.org/drawingml/2006/main">
          <a:graphicData uri="http://schemas.openxmlformats.org/drawingml/2006/chart">
            <c:chart xmlns:r="http://schemas.openxmlformats.org/officeDocument/2006/relationships" xmlns:c="http://schemas.openxmlformats.org/drawingml/2006/chart" r:id="Rb2a10100880f4f5f"/>
          </a:graphicData>
        </a:graphic>
      </p:graphicFrame>
      <p:sp>
        <p:nvSpPr>
          <p:cNvPr id="5" name="8 of 11 safety ratings increased; trust responses were more ">
            <a:extLst xmlns:a="http://schemas.openxmlformats.org/drawingml/2006/main">
              <a:ext uri="{FF2B5EF4-FFF2-40B4-BE49-F238E27FC236}">
                <a16:creationId xmlns:a16="http://schemas.microsoft.com/office/drawing/2014/main" id="{4C68F436-7C3E-4DDA-A61F-723CD0311D75}"/>
              </a:ext>
            </a:extLst>
          </p:cNvPr>
          <p:cNvSpPr>
            <a:spLocks xmlns:a="http://schemas.openxmlformats.org/drawingml/2006/main" noGrp="1"/>
          </p:cNvSpPr>
          <p:nvPr/>
        </p:nvSpPr>
        <p:spPr>
          <a:xfrm xmlns:a="http://schemas.openxmlformats.org/drawingml/2006/main">
            <a:off x="571500" y="46958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DAE"/>
                </a:solidFill>
                <a:latin typeface="Arial"/>
                <a:ea typeface="Arial"/>
                <a:cs typeface="Arial"/>
              </a:defRPr>
            </a:pPr>
            <a:r>
              <a:rPr sz="2250" b="1">
                <a:solidFill>
                  <a:srgbClr val="006DAE"/>
                </a:solidFill>
                <a:latin typeface="Arial"/>
                <a:ea typeface="Arial"/>
                <a:cs typeface="Arial"/>
              </a:rPr>
              <a:t>8 of 11 safety ratings increased; trust responses were more mixed.</a:t>
            </a:r>
          </a:p>
        </p:txBody>
      </p:sp>
      <p:sp>
        <p:nvSpPr>
          <p:cNvPr id="6" name="Matched response sets, not a confirmed count of distinct peo">
            <a:extLst xmlns:a="http://schemas.openxmlformats.org/drawingml/2006/main">
              <a:ext uri="{FF2B5EF4-FFF2-40B4-BE49-F238E27FC236}">
                <a16:creationId xmlns:a16="http://schemas.microsoft.com/office/drawing/2014/main" id="{DD433E31-694F-46D7-9C78-BABB08EABEFF}"/>
              </a:ext>
            </a:extLst>
          </p:cNvPr>
          <p:cNvSpPr>
            <a:spLocks xmlns:a="http://schemas.openxmlformats.org/drawingml/2006/main" noGrp="1"/>
          </p:cNvSpPr>
          <p:nvPr/>
        </p:nvSpPr>
        <p:spPr>
          <a:xfrm xmlns:a="http://schemas.openxmlformats.org/drawingml/2006/main">
            <a:off x="571500" y="52863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Matched response sets, not a confirmed count of distinct people.</a:t>
            </a:r>
          </a:p>
          <a:p xmlns:a="http://schemas.openxmlformats.org/drawingml/2006/main">
            <a:pPr>
              <a:defRPr sz="1800" b="0">
                <a:solidFill>
                  <a:srgbClr val="536B79"/>
                </a:solidFill>
                <a:latin typeface="Arial"/>
                <a:ea typeface="Arial"/>
                <a:cs typeface="Arial"/>
              </a:defRPr>
            </a:pPr>
            <a:r>
              <a:rPr sz="1800" b="0">
                <a:solidFill>
                  <a:srgbClr val="536B79"/>
                </a:solidFill>
                <a:latin typeface="Arial"/>
                <a:ea typeface="Arial"/>
                <a:cs typeface="Arial"/>
              </a:rPr>
              <a:t>Expected and experienced ratings do not identify a controller effect.</a:t>
            </a:r>
          </a:p>
        </p:txBody>
      </p:sp>
    </p:spTree>
    <p:extLst>
      <p:ext uri="{BB962C8B-B14F-4D97-AF65-F5344CB8AC3E}">
        <p14:creationId xmlns:p14="http://schemas.microsoft.com/office/powerpoint/2010/main" val="151232738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Distance measurement affects interpretation">
            <a:extLst xmlns:a="http://schemas.openxmlformats.org/drawingml/2006/main">
              <a:ext uri="{FF2B5EF4-FFF2-40B4-BE49-F238E27FC236}">
                <a16:creationId xmlns:a16="http://schemas.microsoft.com/office/drawing/2014/main" id="{FFC7571B-17B9-4E08-961F-B845C0F63CCE}"/>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Distance measurement affects interpretation</a:t>
            </a:r>
          </a:p>
        </p:txBody>
      </p:sp>
      <p:sp>
        <p:nvSpPr>
          <p:cNvPr id="2" name="08">
            <a:extLst xmlns:a="http://schemas.openxmlformats.org/drawingml/2006/main">
              <a:ext uri="{FF2B5EF4-FFF2-40B4-BE49-F238E27FC236}">
                <a16:creationId xmlns:a16="http://schemas.microsoft.com/office/drawing/2014/main" id="{1A79DD21-D1B3-4B4E-8680-03C521251282}"/>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08</a:t>
            </a:r>
          </a:p>
        </p:txBody>
      </p:sp>
      <p:sp>
        <p:nvSpPr>
          <p:cNvPr id="3" name="Recorded head distance versus a calculation using robot posi">
            <a:extLst xmlns:a="http://schemas.openxmlformats.org/drawingml/2006/main">
              <a:ext uri="{FF2B5EF4-FFF2-40B4-BE49-F238E27FC236}">
                <a16:creationId xmlns:a16="http://schemas.microsoft.com/office/drawing/2014/main" id="{02895C4F-FB3F-4F3B-847B-91E682181ADC}"/>
              </a:ext>
            </a:extLst>
          </p:cNvPr>
          <p:cNvSpPr>
            <a:spLocks xmlns:a="http://schemas.openxmlformats.org/drawingml/2006/main" noGrp="1"/>
          </p:cNvSpPr>
          <p:nvPr/>
        </p:nvSpPr>
        <p:spPr>
          <a:xfrm xmlns:a="http://schemas.openxmlformats.org/drawingml/2006/main">
            <a:off x="571500" y="12763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D"/>
                </a:solidFill>
                <a:latin typeface="Arial"/>
                <a:ea typeface="Arial"/>
                <a:cs typeface="Arial"/>
              </a:defRPr>
            </a:pPr>
            <a:r>
              <a:rPr sz="2100" b="0">
                <a:solidFill>
                  <a:srgbClr val="172D3D"/>
                </a:solidFill>
                <a:latin typeface="Arial"/>
                <a:ea typeface="Arial"/>
                <a:cs typeface="Arial"/>
              </a:rPr>
              <a:t>Recorded head distance versus a calculation using robot position</a:t>
            </a:r>
          </a:p>
        </p:txBody>
      </p:sp>
      <p:graphicFrame>
        <p:nvGraphicFramePr>
          <p:cNvPr id="10" name="Chart"/>
          <p:cNvGraphicFramePr/>
          <p:nvPr/>
        </p:nvGraphicFramePr>
        <p:xfrm>
          <a:off xmlns:a="http://schemas.openxmlformats.org/drawingml/2006/main" x="552450" y="1914525"/>
          <a:ext xmlns:a="http://schemas.openxmlformats.org/drawingml/2006/main" cx="10810875" cy="2667000"/>
        </p:xfrm>
        <a:graphic xmlns:a="http://schemas.openxmlformats.org/drawingml/2006/main">
          <a:graphicData uri="http://schemas.openxmlformats.org/drawingml/2006/chart">
            <c:chart xmlns:r="http://schemas.openxmlformats.org/officeDocument/2006/relationships" xmlns:c="http://schemas.openxmlformats.org/drawingml/2006/chart" r:id="R1c60fa73183041ae"/>
          </a:graphicData>
        </a:graphic>
      </p:graphicFrame>
      <p:sp>
        <p:nvSpPr>
          <p:cNvPr id="5" name="Trials 1–13: earlier reference, 0.41–0.53 m.&#10;Trial 14: live ">
            <a:extLst xmlns:a="http://schemas.openxmlformats.org/drawingml/2006/main">
              <a:ext uri="{FF2B5EF4-FFF2-40B4-BE49-F238E27FC236}">
                <a16:creationId xmlns:a16="http://schemas.microsoft.com/office/drawing/2014/main" id="{86A625D8-D4E7-4039-A4D5-017BA12DD5D8}"/>
              </a:ext>
            </a:extLst>
          </p:cNvPr>
          <p:cNvSpPr>
            <a:spLocks xmlns:a="http://schemas.openxmlformats.org/drawingml/2006/main" noGrp="1"/>
          </p:cNvSpPr>
          <p:nvPr/>
        </p:nvSpPr>
        <p:spPr>
          <a:xfrm xmlns:a="http://schemas.openxmlformats.org/drawingml/2006/main">
            <a:off x="571500" y="47148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6DAE"/>
                </a:solidFill>
                <a:latin typeface="Arial"/>
                <a:ea typeface="Arial"/>
                <a:cs typeface="Arial"/>
              </a:defRPr>
            </a:pPr>
            <a:r>
              <a:rPr sz="2175" b="1">
                <a:solidFill>
                  <a:srgbClr val="006DAE"/>
                </a:solidFill>
                <a:latin typeface="Arial"/>
                <a:ea typeface="Arial"/>
                <a:cs typeface="Arial"/>
              </a:rPr>
              <a:t>Trials 1–13: earlier reference, 0.41–0.53 m.</a:t>
            </a:r>
          </a:p>
          <a:p xmlns:a="http://schemas.openxmlformats.org/drawingml/2006/main">
            <a:pPr>
              <a:defRPr sz="2175" b="1">
                <a:solidFill>
                  <a:srgbClr val="006DAE"/>
                </a:solidFill>
                <a:latin typeface="Arial"/>
                <a:ea typeface="Arial"/>
                <a:cs typeface="Arial"/>
              </a:defRPr>
            </a:pPr>
            <a:r>
              <a:rPr sz="2175" b="1">
                <a:solidFill>
                  <a:srgbClr val="006DAE"/>
                </a:solidFill>
                <a:latin typeface="Arial"/>
                <a:ea typeface="Arial"/>
                <a:cs typeface="Arial"/>
              </a:rPr>
              <a:t>Trial 14: live robot reference, approximately zero.</a:t>
            </a:r>
          </a:p>
        </p:txBody>
      </p:sp>
      <p:sp>
        <p:nvSpPr>
          <p:cNvPr id="6" name="Per-trial 95th percentile. Arithmetic agreement is not valid">
            <a:extLst xmlns:a="http://schemas.openxmlformats.org/drawingml/2006/main">
              <a:ext uri="{FF2B5EF4-FFF2-40B4-BE49-F238E27FC236}">
                <a16:creationId xmlns:a16="http://schemas.microsoft.com/office/drawing/2014/main" id="{C4A625ED-5191-4790-A061-311E9E2E422C}"/>
              </a:ext>
            </a:extLst>
          </p:cNvPr>
          <p:cNvSpPr>
            <a:spLocks xmlns:a="http://schemas.openxmlformats.org/drawingml/2006/main" noGrp="1"/>
          </p:cNvSpPr>
          <p:nvPr/>
        </p:nvSpPr>
        <p:spPr>
          <a:xfrm xmlns:a="http://schemas.openxmlformats.org/drawingml/2006/main">
            <a:off x="571500" y="55626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79"/>
                </a:solidFill>
                <a:latin typeface="Arial"/>
                <a:ea typeface="Arial"/>
                <a:cs typeface="Arial"/>
              </a:defRPr>
            </a:pPr>
            <a:r>
              <a:rPr sz="1725" b="0">
                <a:solidFill>
                  <a:srgbClr val="536B79"/>
                </a:solidFill>
                <a:latin typeface="Arial"/>
                <a:ea typeface="Arial"/>
                <a:cs typeface="Arial"/>
              </a:rPr>
              <a:t>Per-trial 95th percentile. Arithmetic agreement is not validated body/panel clearance.</a:t>
            </a:r>
          </a:p>
        </p:txBody>
      </p:sp>
    </p:spTree>
    <p:extLst>
      <p:ext uri="{BB962C8B-B14F-4D97-AF65-F5344CB8AC3E}">
        <p14:creationId xmlns:p14="http://schemas.microsoft.com/office/powerpoint/2010/main" val="151232738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Project management and experimental controls">
            <a:extLst xmlns:a="http://schemas.openxmlformats.org/drawingml/2006/main">
              <a:ext uri="{FF2B5EF4-FFF2-40B4-BE49-F238E27FC236}">
                <a16:creationId xmlns:a16="http://schemas.microsoft.com/office/drawing/2014/main" id="{8E341662-CD17-41A8-BA0F-3E5121EE6AAB}"/>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Project management and experimental controls</a:t>
            </a:r>
          </a:p>
        </p:txBody>
      </p:sp>
      <p:sp>
        <p:nvSpPr>
          <p:cNvPr id="2" name="09">
            <a:extLst xmlns:a="http://schemas.openxmlformats.org/drawingml/2006/main">
              <a:ext uri="{FF2B5EF4-FFF2-40B4-BE49-F238E27FC236}">
                <a16:creationId xmlns:a16="http://schemas.microsoft.com/office/drawing/2014/main" id="{101C5FF0-2579-44A6-9522-30EE97903AB6}"/>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09</a:t>
            </a:r>
          </a:p>
        </p:txBody>
      </p:sp>
      <p:graphicFrame>
        <p:nvGraphicFramePr>
          <p:cNvPr id="7" name=""/>
          <p:cNvGraphicFramePr/>
          <p:nvPr/>
        </p:nvGraphicFramePr>
        <p:xfrm>
          <a:off xmlns:a="http://schemas.openxmlformats.org/drawingml/2006/main" x="523875" y="1466850"/>
          <a:ext xmlns:a="http://schemas.openxmlformats.org/drawingml/2006/main" cx="11144250" cy="3343275"/>
        </p:xfrm>
        <a:graphic xmlns:a="http://schemas.openxmlformats.org/drawingml/2006/main">
          <a:graphicData uri="http://schemas.openxmlformats.org/drawingml/2006/table">
            <a:tbl>
              <a:tblPr/>
              <a:tblGrid>
                <a:gridCol w="3952875"/>
                <a:gridCol w="7191375"/>
              </a:tblGrid>
              <a:tr h="835819">
                <a:tc>
                  <a:txBody>
                    <a:bodyPr/>
                    <a:lstStyle/>
                    <a:p>
                      <a:r>
                        <a:rPr sz="2100" b="1">
                          <a:solidFill>
                            <a:srgbClr val="172D3D"/>
                          </a:solidFill>
                          <a:latin typeface="Arial"/>
                          <a:ea typeface="Arial"/>
                          <a:cs typeface="Arial"/>
                        </a:rPr>
                        <a:t>Challenge</a:t>
                      </a:r>
                    </a:p>
                  </a:txBody>
                  <a:tcPr marL="91440" marR="91440" marT="45720" marB="45720">
                    <a:solidFill>
                      <a:srgbClr val="E5EDF2"/>
                    </a:solidFill>
                  </a:tcPr>
                </a:tc>
                <a:tc>
                  <a:txBody>
                    <a:bodyPr/>
                    <a:lstStyle/>
                    <a:p>
                      <a:r>
                        <a:rPr sz="2100" b="1">
                          <a:solidFill>
                            <a:srgbClr val="172D3D"/>
                          </a:solidFill>
                          <a:latin typeface="Arial"/>
                          <a:ea typeface="Arial"/>
                          <a:cs typeface="Arial"/>
                        </a:rPr>
                        <a:t>Engineering response</a:t>
                      </a:r>
                    </a:p>
                  </a:txBody>
                  <a:tcPr marL="91440" marR="91440" marT="45720" marB="45720">
                    <a:solidFill>
                      <a:srgbClr val="E5EDF2"/>
                    </a:solidFill>
                  </a:tcPr>
                </a:tc>
              </a:tr>
              <a:tr h="835819">
                <a:tc>
                  <a:txBody>
                    <a:bodyPr/>
                    <a:lstStyle/>
                    <a:p>
                      <a:r>
                        <a:rPr sz="2100" b="0">
                          <a:solidFill>
                            <a:srgbClr val="172D3D"/>
                          </a:solidFill>
                          <a:latin typeface="Arial"/>
                          <a:ea typeface="Arial"/>
                          <a:cs typeface="Arial"/>
                        </a:rPr>
                        <a:t>Hardware and software integration</a:t>
                      </a:r>
                    </a:p>
                  </a:txBody>
                  <a:tcPr marL="91440" marR="91440" marT="45720" marB="45720">
                    <a:solidFill>
                      <a:srgbClr val="FFFFFF"/>
                    </a:solidFill>
                  </a:tcPr>
                </a:tc>
                <a:tc>
                  <a:txBody>
                    <a:bodyPr/>
                    <a:lstStyle/>
                    <a:p>
                      <a:r>
                        <a:rPr sz="2100" b="0">
                          <a:solidFill>
                            <a:srgbClr val="172D3D"/>
                          </a:solidFill>
                          <a:latin typeface="Arial"/>
                          <a:ea typeface="Arial"/>
                          <a:cs typeface="Arial"/>
                        </a:rPr>
                        <a:t>Separate sensing, controller and robot interfaces;</a:t>
                      </a:r>
                    </a:p>
                    <a:p>
                      <a:r>
                        <a:rPr sz="2100" b="0">
                          <a:solidFill>
                            <a:srgbClr val="172D3D"/>
                          </a:solidFill>
                          <a:latin typeface="Arial"/>
                          <a:ea typeface="Arial"/>
                          <a:cs typeface="Arial"/>
                        </a:rPr>
                        <a:t>retain commands alongside measured motion</a:t>
                      </a:r>
                    </a:p>
                  </a:txBody>
                  <a:tcPr marL="91440" marR="91440" marT="45720" marB="45720">
                    <a:solidFill>
                      <a:srgbClr val="FFFFFF"/>
                    </a:solidFill>
                  </a:tcPr>
                </a:tc>
              </a:tr>
              <a:tr h="835819">
                <a:tc>
                  <a:txBody>
                    <a:bodyPr/>
                    <a:lstStyle/>
                    <a:p>
                      <a:r>
                        <a:rPr sz="2100" b="0">
                          <a:solidFill>
                            <a:srgbClr val="172D3D"/>
                          </a:solidFill>
                          <a:latin typeface="Arial"/>
                          <a:ea typeface="Arial"/>
                          <a:cs typeface="Arial"/>
                        </a:rPr>
                        <a:t>Changing geometry and variable cues</a:t>
                      </a:r>
                    </a:p>
                  </a:txBody>
                  <a:tcPr marL="91440" marR="91440" marT="45720" marB="45720">
                    <a:solidFill>
                      <a:srgbClr val="FFFFFF"/>
                    </a:solidFill>
                  </a:tcPr>
                </a:tc>
                <a:tc>
                  <a:txBody>
                    <a:bodyPr/>
                    <a:lstStyle/>
                    <a:p>
                      <a:r>
                        <a:rPr sz="2100" b="0">
                          <a:solidFill>
                            <a:srgbClr val="172D3D"/>
                          </a:solidFill>
                          <a:latin typeface="Arial"/>
                          <a:ea typeface="Arial"/>
                          <a:cs typeface="Arial"/>
                        </a:rPr>
                        <a:t>Compare geometry versions separately;</a:t>
                      </a:r>
                    </a:p>
                    <a:p>
                      <a:r>
                        <a:rPr sz="2100" b="0">
                          <a:solidFill>
                            <a:srgbClr val="172D3D"/>
                          </a:solidFill>
                          <a:latin typeface="Arial"/>
                          <a:ea typeface="Arial"/>
                          <a:cs typeface="Arial"/>
                        </a:rPr>
                        <a:t>check recorded movement before interpreting events</a:t>
                      </a:r>
                    </a:p>
                  </a:txBody>
                  <a:tcPr marL="91440" marR="91440" marT="45720" marB="45720">
                    <a:solidFill>
                      <a:srgbClr val="FFFFFF"/>
                    </a:solidFill>
                  </a:tcPr>
                </a:tc>
              </a:tr>
              <a:tr h="835819">
                <a:tc>
                  <a:txBody>
                    <a:bodyPr/>
                    <a:lstStyle/>
                    <a:p>
                      <a:r>
                        <a:rPr sz="2100" b="0">
                          <a:solidFill>
                            <a:srgbClr val="172D3D"/>
                          </a:solidFill>
                          <a:latin typeface="Arial"/>
                          <a:ea typeface="Arial"/>
                          <a:cs typeface="Arial"/>
                        </a:rPr>
                        <a:t>Incomplete sessions and identifier restarts</a:t>
                      </a:r>
                    </a:p>
                  </a:txBody>
                  <a:tcPr marL="91440" marR="91440" marT="45720" marB="45720">
                    <a:solidFill>
                      <a:srgbClr val="FFFFFF"/>
                    </a:solidFill>
                  </a:tcPr>
                </a:tc>
                <a:tc>
                  <a:txBody>
                    <a:bodyPr/>
                    <a:lstStyle/>
                    <a:p>
                      <a:r>
                        <a:rPr sz="2100" b="0">
                          <a:solidFill>
                            <a:srgbClr val="172D3D"/>
                          </a:solidFill>
                          <a:latin typeface="Arial"/>
                          <a:ea typeface="Arial"/>
                          <a:cs typeface="Arial"/>
                        </a:rPr>
                        <a:t>Analyse complete trial recordings;</a:t>
                      </a:r>
                    </a:p>
                    <a:p>
                      <a:r>
                        <a:rPr sz="2100" b="0">
                          <a:solidFill>
                            <a:srgbClr val="172D3D"/>
                          </a:solidFill>
                          <a:latin typeface="Arial"/>
                          <a:ea typeface="Arial"/>
                          <a:cs typeface="Arial"/>
                        </a:rPr>
                        <a:t>retain uncertainty in individual-level comparisons</a:t>
                      </a:r>
                    </a:p>
                  </a:txBody>
                  <a:tcPr marL="91440" marR="91440" marT="45720" marB="45720">
                    <a:solidFill>
                      <a:srgbClr val="FFFFFF"/>
                    </a:solidFill>
                  </a:tcPr>
                </a:tc>
              </a:tr>
            </a:tbl>
          </a:graphicData>
        </a:graphic>
      </p:graphicFrame>
      <p:sp>
        <p:nvSpPr>
          <p:cNvPr id="4" name="Scope covered sensing, model development, robot control,&#10;exp">
            <a:extLst xmlns:a="http://schemas.openxmlformats.org/drawingml/2006/main">
              <a:ext uri="{FF2B5EF4-FFF2-40B4-BE49-F238E27FC236}">
                <a16:creationId xmlns:a16="http://schemas.microsoft.com/office/drawing/2014/main" id="{C562354B-A59E-483F-8444-352D76F064BF}"/>
              </a:ext>
            </a:extLst>
          </p:cNvPr>
          <p:cNvSpPr>
            <a:spLocks xmlns:a="http://schemas.openxmlformats.org/drawingml/2006/main" noGrp="1"/>
          </p:cNvSpPr>
          <p:nvPr/>
        </p:nvSpPr>
        <p:spPr>
          <a:xfrm xmlns:a="http://schemas.openxmlformats.org/drawingml/2006/main">
            <a:off x="571500" y="50577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Scope covered sensing, model development, robot control,</a:t>
            </a:r>
          </a:p>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experimental operation and analysis.</a:t>
            </a:r>
          </a:p>
        </p:txBody>
      </p:sp>
    </p:spTree>
    <p:extLst>
      <p:ext uri="{BB962C8B-B14F-4D97-AF65-F5344CB8AC3E}">
        <p14:creationId xmlns:p14="http://schemas.microsoft.com/office/powerpoint/2010/main" val="15123273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Constraints on construction deployment">
            <a:extLst xmlns:a="http://schemas.openxmlformats.org/drawingml/2006/main">
              <a:ext uri="{FF2B5EF4-FFF2-40B4-BE49-F238E27FC236}">
                <a16:creationId xmlns:a16="http://schemas.microsoft.com/office/drawing/2014/main" id="{1517D547-4B02-4418-8D8B-2870650A5E2B}"/>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Constraints on construction deployment</a:t>
            </a:r>
          </a:p>
        </p:txBody>
      </p:sp>
      <p:sp>
        <p:nvSpPr>
          <p:cNvPr id="2" name="10">
            <a:extLst xmlns:a="http://schemas.openxmlformats.org/drawingml/2006/main">
              <a:ext uri="{FF2B5EF4-FFF2-40B4-BE49-F238E27FC236}">
                <a16:creationId xmlns:a16="http://schemas.microsoft.com/office/drawing/2014/main" id="{6A033DDF-9B6D-478A-A11A-4AC3A298FAE1}"/>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10</a:t>
            </a:r>
          </a:p>
        </p:txBody>
      </p:sp>
      <p:graphicFrame>
        <p:nvGraphicFramePr>
          <p:cNvPr id="7" name=""/>
          <p:cNvGraphicFramePr/>
          <p:nvPr/>
        </p:nvGraphicFramePr>
        <p:xfrm>
          <a:off xmlns:a="http://schemas.openxmlformats.org/drawingml/2006/main" x="523875" y="1457325"/>
          <a:ext xmlns:a="http://schemas.openxmlformats.org/drawingml/2006/main" cx="11144250" cy="3981450"/>
        </p:xfrm>
        <a:graphic xmlns:a="http://schemas.openxmlformats.org/drawingml/2006/main">
          <a:graphicData uri="http://schemas.openxmlformats.org/drawingml/2006/table">
            <a:tbl>
              <a:tblPr/>
              <a:tblGrid>
                <a:gridCol w="3286125"/>
                <a:gridCol w="7858125"/>
              </a:tblGrid>
              <a:tr h="796290">
                <a:tc>
                  <a:txBody>
                    <a:bodyPr/>
                    <a:lstStyle/>
                    <a:p>
                      <a:r>
                        <a:rPr sz="2100" b="1">
                          <a:solidFill>
                            <a:srgbClr val="172D3D"/>
                          </a:solidFill>
                          <a:latin typeface="Arial"/>
                          <a:ea typeface="Arial"/>
                          <a:cs typeface="Arial"/>
                        </a:rPr>
                        <a:t>Context</a:t>
                      </a:r>
                    </a:p>
                  </a:txBody>
                  <a:tcPr marL="91440" marR="91440" marT="45720" marB="45720">
                    <a:solidFill>
                      <a:srgbClr val="E5EDF2"/>
                    </a:solidFill>
                  </a:tcPr>
                </a:tc>
                <a:tc>
                  <a:txBody>
                    <a:bodyPr/>
                    <a:lstStyle/>
                    <a:p>
                      <a:r>
                        <a:rPr sz="2100" b="1">
                          <a:solidFill>
                            <a:srgbClr val="172D3D"/>
                          </a:solidFill>
                          <a:latin typeface="Arial"/>
                          <a:ea typeface="Arial"/>
                          <a:cs typeface="Arial"/>
                        </a:rPr>
                        <a:t>What deployment would require</a:t>
                      </a:r>
                    </a:p>
                  </a:txBody>
                  <a:tcPr marL="91440" marR="91440" marT="45720" marB="45720">
                    <a:solidFill>
                      <a:srgbClr val="E5EDF2"/>
                    </a:solidFill>
                  </a:tcPr>
                </a:tc>
              </a:tr>
              <a:tr h="796290">
                <a:tc>
                  <a:txBody>
                    <a:bodyPr/>
                    <a:lstStyle/>
                    <a:p>
                      <a:r>
                        <a:rPr sz="2100" b="0">
                          <a:solidFill>
                            <a:srgbClr val="172D3D"/>
                          </a:solidFill>
                          <a:latin typeface="Arial"/>
                          <a:ea typeface="Arial"/>
                          <a:cs typeface="Arial"/>
                        </a:rPr>
                        <a:t>Worker safety</a:t>
                      </a:r>
                    </a:p>
                  </a:txBody>
                  <a:tcPr marL="91440" marR="91440" marT="45720" marB="45720">
                    <a:solidFill>
                      <a:srgbClr val="FFFFFF"/>
                    </a:solidFill>
                  </a:tcPr>
                </a:tc>
                <a:tc>
                  <a:txBody>
                    <a:bodyPr/>
                    <a:lstStyle/>
                    <a:p>
                      <a:r>
                        <a:rPr sz="2100" b="0">
                          <a:solidFill>
                            <a:srgbClr val="172D3D"/>
                          </a:solidFill>
                          <a:latin typeface="Arial"/>
                          <a:ea typeface="Arial"/>
                          <a:cs typeface="Arial"/>
                        </a:rPr>
                        <a:t>Validated body, tool and panel clearance;</a:t>
                      </a:r>
                    </a:p>
                    <a:p>
                      <a:r>
                        <a:rPr sz="2100" b="0">
                          <a:solidFill>
                            <a:srgbClr val="172D3D"/>
                          </a:solidFill>
                          <a:latin typeface="Arial"/>
                          <a:ea typeface="Arial"/>
                          <a:cs typeface="Arial"/>
                        </a:rPr>
                        <a:t>measured stopping response and a safety-rated chain</a:t>
                      </a:r>
                    </a:p>
                  </a:txBody>
                  <a:tcPr marL="91440" marR="91440" marT="45720" marB="45720">
                    <a:solidFill>
                      <a:srgbClr val="FFFFFF"/>
                    </a:solidFill>
                  </a:tcPr>
                </a:tc>
              </a:tr>
              <a:tr h="796290">
                <a:tc>
                  <a:txBody>
                    <a:bodyPr/>
                    <a:lstStyle/>
                    <a:p>
                      <a:r>
                        <a:rPr sz="2100" b="0">
                          <a:solidFill>
                            <a:srgbClr val="172D3D"/>
                          </a:solidFill>
                          <a:latin typeface="Arial"/>
                          <a:ea typeface="Arial"/>
                          <a:cs typeface="Arial"/>
                        </a:rPr>
                        <a:t>Whole-life cost</a:t>
                      </a:r>
                    </a:p>
                  </a:txBody>
                  <a:tcPr marL="91440" marR="91440" marT="45720" marB="45720">
                    <a:solidFill>
                      <a:srgbClr val="FFFFFF"/>
                    </a:solidFill>
                  </a:tcPr>
                </a:tc>
                <a:tc>
                  <a:txBody>
                    <a:bodyPr/>
                    <a:lstStyle/>
                    <a:p>
                      <a:r>
                        <a:rPr sz="2100" b="0">
                          <a:solidFill>
                            <a:srgbClr val="172D3D"/>
                          </a:solidFill>
                          <a:latin typeface="Arial"/>
                          <a:ea typeface="Arial"/>
                          <a:cs typeface="Arial"/>
                        </a:rPr>
                        <a:t>Account for tracking equipment, calibration,</a:t>
                      </a:r>
                    </a:p>
                    <a:p>
                      <a:r>
                        <a:rPr sz="2100" b="0">
                          <a:solidFill>
                            <a:srgbClr val="172D3D"/>
                          </a:solidFill>
                          <a:latin typeface="Arial"/>
                          <a:ea typeface="Arial"/>
                          <a:cs typeface="Arial"/>
                        </a:rPr>
                        <a:t>maintenance and operator training</a:t>
                      </a:r>
                    </a:p>
                  </a:txBody>
                  <a:tcPr marL="91440" marR="91440" marT="45720" marB="45720">
                    <a:solidFill>
                      <a:srgbClr val="FFFFFF"/>
                    </a:solidFill>
                  </a:tcPr>
                </a:tc>
              </a:tr>
              <a:tr h="796290">
                <a:tc>
                  <a:txBody>
                    <a:bodyPr/>
                    <a:lstStyle/>
                    <a:p>
                      <a:r>
                        <a:rPr sz="2100" b="0">
                          <a:solidFill>
                            <a:srgbClr val="172D3D"/>
                          </a:solidFill>
                          <a:latin typeface="Arial"/>
                          <a:ea typeface="Arial"/>
                          <a:cs typeface="Arial"/>
                        </a:rPr>
                        <a:t>Worker experience</a:t>
                      </a:r>
                    </a:p>
                  </a:txBody>
                  <a:tcPr marL="91440" marR="91440" marT="45720" marB="45720">
                    <a:solidFill>
                      <a:srgbClr val="FFFFFF"/>
                    </a:solidFill>
                  </a:tcPr>
                </a:tc>
                <a:tc>
                  <a:txBody>
                    <a:bodyPr/>
                    <a:lstStyle/>
                    <a:p>
                      <a:r>
                        <a:rPr sz="2100" b="0">
                          <a:solidFill>
                            <a:srgbClr val="172D3D"/>
                          </a:solidFill>
                          <a:latin typeface="Arial"/>
                          <a:ea typeface="Arial"/>
                          <a:cs typeface="Arial"/>
                        </a:rPr>
                        <a:t>Assess suit restriction, workflow disruption</a:t>
                      </a:r>
                    </a:p>
                    <a:p>
                      <a:r>
                        <a:rPr sz="2100" b="0">
                          <a:solidFill>
                            <a:srgbClr val="172D3D"/>
                          </a:solidFill>
                          <a:latin typeface="Arial"/>
                          <a:ea typeface="Arial"/>
                          <a:cs typeface="Arial"/>
                        </a:rPr>
                        <a:t>and suitability beyond the laboratory</a:t>
                      </a:r>
                    </a:p>
                  </a:txBody>
                  <a:tcPr marL="91440" marR="91440" marT="45720" marB="45720">
                    <a:solidFill>
                      <a:srgbClr val="FFFFFF"/>
                    </a:solidFill>
                  </a:tcPr>
                </a:tc>
              </a:tr>
              <a:tr h="796290">
                <a:tc>
                  <a:txBody>
                    <a:bodyPr/>
                    <a:lstStyle/>
                    <a:p>
                      <a:r>
                        <a:rPr sz="2100" b="0">
                          <a:solidFill>
                            <a:srgbClr val="172D3D"/>
                          </a:solidFill>
                          <a:latin typeface="Arial"/>
                          <a:ea typeface="Arial"/>
                          <a:cs typeface="Arial"/>
                        </a:rPr>
                        <a:t>Environmental impact</a:t>
                      </a:r>
                    </a:p>
                  </a:txBody>
                  <a:tcPr marL="91440" marR="91440" marT="45720" marB="45720">
                    <a:solidFill>
                      <a:srgbClr val="FFFFFF"/>
                    </a:solidFill>
                  </a:tcPr>
                </a:tc>
                <a:tc>
                  <a:txBody>
                    <a:bodyPr/>
                    <a:lstStyle/>
                    <a:p>
                      <a:r>
                        <a:rPr sz="2100" b="0">
                          <a:solidFill>
                            <a:srgbClr val="172D3D"/>
                          </a:solidFill>
                          <a:latin typeface="Arial"/>
                          <a:ea typeface="Arial"/>
                          <a:cs typeface="Arial"/>
                        </a:rPr>
                        <a:t>Measure energy and material effects before</a:t>
                      </a:r>
                    </a:p>
                    <a:p>
                      <a:r>
                        <a:rPr sz="2100" b="0">
                          <a:solidFill>
                            <a:srgbClr val="172D3D"/>
                          </a:solidFill>
                          <a:latin typeface="Arial"/>
                          <a:ea typeface="Arial"/>
                          <a:cs typeface="Arial"/>
                        </a:rPr>
                        <a:t>claiming a carbon or waste benefit</a:t>
                      </a:r>
                    </a:p>
                  </a:txBody>
                  <a:tcPr marL="91440" marR="91440" marT="45720" marB="45720">
                    <a:solidFill>
                      <a:srgbClr val="FFFFFF"/>
                    </a:solidFill>
                  </a:tcPr>
                </a:tc>
              </a:tr>
            </a:tbl>
          </a:graphicData>
        </a:graphic>
      </p:graphicFrame>
      <p:sp>
        <p:nvSpPr>
          <p:cNvPr id="4" name="Laboratory feasibility is one step toward a usable construct">
            <a:extLst xmlns:a="http://schemas.openxmlformats.org/drawingml/2006/main">
              <a:ext uri="{FF2B5EF4-FFF2-40B4-BE49-F238E27FC236}">
                <a16:creationId xmlns:a16="http://schemas.microsoft.com/office/drawing/2014/main" id="{8A04D7A7-7BDE-44D0-B228-D4EA067FEDAB}"/>
              </a:ext>
            </a:extLst>
          </p:cNvPr>
          <p:cNvSpPr>
            <a:spLocks xmlns:a="http://schemas.openxmlformats.org/drawingml/2006/main" noGrp="1"/>
          </p:cNvSpPr>
          <p:nvPr/>
        </p:nvSpPr>
        <p:spPr>
          <a:xfrm xmlns:a="http://schemas.openxmlformats.org/drawingml/2006/main">
            <a:off x="571500" y="55816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6DAE"/>
                </a:solidFill>
                <a:latin typeface="Arial"/>
                <a:ea typeface="Arial"/>
                <a:cs typeface="Arial"/>
              </a:defRPr>
            </a:pPr>
            <a:r>
              <a:rPr sz="2025" b="1">
                <a:solidFill>
                  <a:srgbClr val="006DAE"/>
                </a:solidFill>
                <a:latin typeface="Arial"/>
                <a:ea typeface="Arial"/>
                <a:cs typeface="Arial"/>
              </a:rPr>
              <a:t>Laboratory feasibility is one step toward a usable construction system.</a:t>
            </a:r>
          </a:p>
        </p:txBody>
      </p:sp>
    </p:spTree>
    <p:extLst>
      <p:ext uri="{BB962C8B-B14F-4D97-AF65-F5344CB8AC3E}">
        <p14:creationId xmlns:p14="http://schemas.microsoft.com/office/powerpoint/2010/main" val="151232738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Team contribution">
            <a:extLst xmlns:a="http://schemas.openxmlformats.org/drawingml/2006/main">
              <a:ext uri="{FF2B5EF4-FFF2-40B4-BE49-F238E27FC236}">
                <a16:creationId xmlns:a16="http://schemas.microsoft.com/office/drawing/2014/main" id="{F3233F7B-160E-412B-88B9-CF7A24D0C582}"/>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Team contribution</a:t>
            </a:r>
          </a:p>
        </p:txBody>
      </p:sp>
      <p:sp>
        <p:nvSpPr>
          <p:cNvPr id="2" name="11">
            <a:extLst xmlns:a="http://schemas.openxmlformats.org/drawingml/2006/main">
              <a:ext uri="{FF2B5EF4-FFF2-40B4-BE49-F238E27FC236}">
                <a16:creationId xmlns:a16="http://schemas.microsoft.com/office/drawing/2014/main" id="{39260FF5-33CE-4C00-9DE7-6C339604E7C7}"/>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11</a:t>
            </a:r>
          </a:p>
        </p:txBody>
      </p:sp>
      <p:graphicFrame>
        <p:nvGraphicFramePr>
          <p:cNvPr id="8" name=""/>
          <p:cNvGraphicFramePr/>
          <p:nvPr/>
        </p:nvGraphicFramePr>
        <p:xfrm>
          <a:off xmlns:a="http://schemas.openxmlformats.org/drawingml/2006/main" x="523875" y="1485900"/>
          <a:ext xmlns:a="http://schemas.openxmlformats.org/drawingml/2006/main" cx="11144250" cy="3143250"/>
        </p:xfrm>
        <a:graphic xmlns:a="http://schemas.openxmlformats.org/drawingml/2006/main">
          <a:graphicData uri="http://schemas.openxmlformats.org/drawingml/2006/table">
            <a:tbl>
              <a:tblPr/>
              <a:tblGrid>
                <a:gridCol w="3238500"/>
                <a:gridCol w="7905750"/>
              </a:tblGrid>
              <a:tr h="785813">
                <a:tc>
                  <a:txBody>
                    <a:bodyPr/>
                    <a:lstStyle/>
                    <a:p>
                      <a:r>
                        <a:rPr sz="2100" b="1">
                          <a:solidFill>
                            <a:srgbClr val="172D3D"/>
                          </a:solidFill>
                          <a:latin typeface="Arial"/>
                          <a:ea typeface="Arial"/>
                          <a:cs typeface="Arial"/>
                        </a:rPr>
                        <a:t>Team member</a:t>
                      </a:r>
                    </a:p>
                  </a:txBody>
                  <a:tcPr marL="91440" marR="91440" marT="45720" marB="45720">
                    <a:solidFill>
                      <a:srgbClr val="E5EDF2"/>
                    </a:solidFill>
                  </a:tcPr>
                </a:tc>
                <a:tc>
                  <a:txBody>
                    <a:bodyPr/>
                    <a:lstStyle/>
                    <a:p>
                      <a:r>
                        <a:rPr sz="2100" b="1">
                          <a:solidFill>
                            <a:srgbClr val="172D3D"/>
                          </a:solidFill>
                          <a:latin typeface="Arial"/>
                          <a:ea typeface="Arial"/>
                          <a:cs typeface="Arial"/>
                        </a:rPr>
                        <a:t>Main contribution</a:t>
                      </a:r>
                    </a:p>
                  </a:txBody>
                  <a:tcPr marL="91440" marR="91440" marT="45720" marB="45720">
                    <a:solidFill>
                      <a:srgbClr val="E5EDF2"/>
                    </a:solidFill>
                  </a:tcPr>
                </a:tc>
              </a:tr>
              <a:tr h="785813">
                <a:tc>
                  <a:txBody>
                    <a:bodyPr/>
                    <a:lstStyle/>
                    <a:p>
                      <a:r>
                        <a:rPr sz="2100" b="0">
                          <a:solidFill>
                            <a:srgbClr val="172D3D"/>
                          </a:solidFill>
                          <a:latin typeface="Arial"/>
                          <a:ea typeface="Arial"/>
                          <a:cs typeface="Arial"/>
                        </a:rPr>
                        <a:t>Zenan Wu</a:t>
                      </a:r>
                    </a:p>
                  </a:txBody>
                  <a:tcPr marL="91440" marR="91440" marT="45720" marB="45720">
                    <a:solidFill>
                      <a:srgbClr val="FFFFFF"/>
                    </a:solidFill>
                  </a:tcPr>
                </a:tc>
                <a:tc>
                  <a:txBody>
                    <a:bodyPr/>
                    <a:lstStyle/>
                    <a:p>
                      <a:r>
                        <a:rPr sz="2100" b="0">
                          <a:solidFill>
                            <a:srgbClr val="172D3D"/>
                          </a:solidFill>
                          <a:latin typeface="Arial"/>
                          <a:ea typeface="Arial"/>
                          <a:cs typeface="Arial"/>
                        </a:rPr>
                        <a:t>Software development and technical integration</a:t>
                      </a:r>
                    </a:p>
                  </a:txBody>
                  <a:tcPr marL="91440" marR="91440" marT="45720" marB="45720">
                    <a:solidFill>
                      <a:srgbClr val="FFFFFF"/>
                    </a:solidFill>
                  </a:tcPr>
                </a:tc>
              </a:tr>
              <a:tr h="785813">
                <a:tc>
                  <a:txBody>
                    <a:bodyPr/>
                    <a:lstStyle/>
                    <a:p>
                      <a:r>
                        <a:rPr sz="2100" b="0">
                          <a:solidFill>
                            <a:srgbClr val="172D3D"/>
                          </a:solidFill>
                          <a:latin typeface="Arial"/>
                          <a:ea typeface="Arial"/>
                          <a:cs typeface="Arial"/>
                        </a:rPr>
                        <a:t>Luke Siniakov</a:t>
                      </a:r>
                    </a:p>
                  </a:txBody>
                  <a:tcPr marL="91440" marR="91440" marT="45720" marB="45720">
                    <a:solidFill>
                      <a:srgbClr val="FFFFFF"/>
                    </a:solidFill>
                  </a:tcPr>
                </a:tc>
                <a:tc>
                  <a:txBody>
                    <a:bodyPr/>
                    <a:lstStyle/>
                    <a:p>
                      <a:r>
                        <a:rPr sz="2100" b="0">
                          <a:solidFill>
                            <a:srgbClr val="172D3D"/>
                          </a:solidFill>
                          <a:latin typeface="Arial"/>
                          <a:ea typeface="Arial"/>
                          <a:cs typeface="Arial"/>
                        </a:rPr>
                        <a:t>Communication and coordination with</a:t>
                      </a:r>
                    </a:p>
                    <a:p>
                      <a:r>
                        <a:rPr sz="2100" b="0">
                          <a:solidFill>
                            <a:srgbClr val="172D3D"/>
                          </a:solidFill>
                          <a:latin typeface="Arial"/>
                          <a:ea typeface="Arial"/>
                          <a:cs typeface="Arial"/>
                        </a:rPr>
                        <a:t>laboratory staff and supervisors</a:t>
                      </a:r>
                    </a:p>
                  </a:txBody>
                  <a:tcPr marL="91440" marR="91440" marT="45720" marB="45720">
                    <a:solidFill>
                      <a:srgbClr val="FFFFFF"/>
                    </a:solidFill>
                  </a:tcPr>
                </a:tc>
              </a:tr>
              <a:tr h="785813">
                <a:tc>
                  <a:txBody>
                    <a:bodyPr/>
                    <a:lstStyle/>
                    <a:p>
                      <a:r>
                        <a:rPr sz="2100" b="0">
                          <a:solidFill>
                            <a:srgbClr val="172D3D"/>
                          </a:solidFill>
                          <a:latin typeface="Arial"/>
                          <a:ea typeface="Arial"/>
                          <a:cs typeface="Arial"/>
                        </a:rPr>
                        <a:t>Michael Magila</a:t>
                      </a:r>
                    </a:p>
                  </a:txBody>
                  <a:tcPr marL="91440" marR="91440" marT="45720" marB="45720">
                    <a:solidFill>
                      <a:srgbClr val="FFFFFF"/>
                    </a:solidFill>
                  </a:tcPr>
                </a:tc>
                <a:tc>
                  <a:txBody>
                    <a:bodyPr/>
                    <a:lstStyle/>
                    <a:p>
                      <a:r>
                        <a:rPr sz="2100" b="0">
                          <a:solidFill>
                            <a:srgbClr val="172D3D"/>
                          </a:solidFill>
                          <a:latin typeface="Arial"/>
                          <a:ea typeface="Arial"/>
                          <a:cs typeface="Arial"/>
                        </a:rPr>
                        <a:t>Physical setup and assembly support</a:t>
                      </a:r>
                    </a:p>
                  </a:txBody>
                  <a:tcPr marL="91440" marR="91440" marT="45720" marB="45720">
                    <a:solidFill>
                      <a:srgbClr val="FFFFFF"/>
                    </a:solidFill>
                  </a:tcPr>
                </a:tc>
              </a:tr>
            </a:tbl>
          </a:graphicData>
        </a:graphic>
      </p:graphicFrame>
      <p:sp>
        <p:nvSpPr>
          <p:cNvPr id="4" name="All team members contributed to experiment design&#10;and prepar">
            <a:extLst xmlns:a="http://schemas.openxmlformats.org/drawingml/2006/main">
              <a:ext uri="{FF2B5EF4-FFF2-40B4-BE49-F238E27FC236}">
                <a16:creationId xmlns:a16="http://schemas.microsoft.com/office/drawing/2014/main" id="{4BD76C28-99D3-4B2F-99F8-BB1EDFF266FD}"/>
              </a:ext>
            </a:extLst>
          </p:cNvPr>
          <p:cNvSpPr>
            <a:spLocks xmlns:a="http://schemas.openxmlformats.org/drawingml/2006/main" noGrp="1"/>
          </p:cNvSpPr>
          <p:nvPr/>
        </p:nvSpPr>
        <p:spPr>
          <a:xfrm xmlns:a="http://schemas.openxmlformats.org/drawingml/2006/main">
            <a:off x="571500" y="48196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All team members contributed to experiment design</a:t>
            </a:r>
          </a:p>
          <a:p xmlns:a="http://schemas.openxmlformats.org/drawingml/2006/main">
            <a:pPr>
              <a:defRPr sz="2325" b="1">
                <a:solidFill>
                  <a:srgbClr val="006DAE"/>
                </a:solidFill>
                <a:latin typeface="Arial"/>
                <a:ea typeface="Arial"/>
                <a:cs typeface="Arial"/>
              </a:defRPr>
            </a:pPr>
            <a:r>
              <a:rPr sz="2325" b="1">
                <a:solidFill>
                  <a:srgbClr val="006DAE"/>
                </a:solidFill>
                <a:latin typeface="Arial"/>
                <a:ea typeface="Arial"/>
                <a:cs typeface="Arial"/>
              </a:rPr>
              <a:t>and preparation of the final report.</a:t>
            </a:r>
          </a:p>
        </p:txBody>
      </p:sp>
      <p:sp>
        <p:nvSpPr>
          <p:cNvPr id="5" name="AI tools supported coding, analysis and manuscript preparati">
            <a:extLst xmlns:a="http://schemas.openxmlformats.org/drawingml/2006/main">
              <a:ext uri="{FF2B5EF4-FFF2-40B4-BE49-F238E27FC236}">
                <a16:creationId xmlns:a16="http://schemas.microsoft.com/office/drawing/2014/main" id="{78C17377-9A26-453F-B585-1DA9329BD9F8}"/>
              </a:ext>
            </a:extLst>
          </p:cNvPr>
          <p:cNvSpPr>
            <a:spLocks xmlns:a="http://schemas.openxmlformats.org/drawingml/2006/main" noGrp="1"/>
          </p:cNvSpPr>
          <p:nvPr/>
        </p:nvSpPr>
        <p:spPr>
          <a:xfrm xmlns:a="http://schemas.openxmlformats.org/drawingml/2006/main">
            <a:off x="571500" y="56388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B79"/>
                </a:solidFill>
                <a:latin typeface="Arial"/>
                <a:ea typeface="Arial"/>
                <a:cs typeface="Arial"/>
              </a:defRPr>
            </a:pPr>
            <a:r>
              <a:rPr sz="1650" b="0">
                <a:solidFill>
                  <a:srgbClr val="536B79"/>
                </a:solidFill>
                <a:latin typeface="Arial"/>
                <a:ea typeface="Arial"/>
                <a:cs typeface="Arial"/>
              </a:rPr>
              <a:t>AI tools supported coding, analysis and manuscript preparation.</a:t>
            </a:r>
          </a:p>
        </p:txBody>
      </p:sp>
    </p:spTree>
    <p:extLst>
      <p:ext uri="{BB962C8B-B14F-4D97-AF65-F5344CB8AC3E}">
        <p14:creationId xmlns:p14="http://schemas.microsoft.com/office/powerpoint/2010/main" val="151232738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7" name="Contribution and conclusion">
            <a:extLst xmlns:a="http://schemas.openxmlformats.org/drawingml/2006/main">
              <a:ext uri="{FF2B5EF4-FFF2-40B4-BE49-F238E27FC236}">
                <a16:creationId xmlns:a16="http://schemas.microsoft.com/office/drawing/2014/main" id="{208A47A5-14FC-4C92-9D99-011E795F40D6}"/>
              </a:ext>
            </a:extLst>
          </p:cNvPr>
          <p:cNvSpPr>
            <a:spLocks xmlns:a="http://schemas.openxmlformats.org/drawingml/2006/main" noGrp="1"/>
          </p:cNvSpPr>
          <p:nvPr/>
        </p:nvSpPr>
        <p:spPr>
          <a:xfrm xmlns:a="http://schemas.openxmlformats.org/drawingml/2006/main">
            <a:off x="438150" y="3810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D"/>
                </a:solidFill>
                <a:latin typeface="Arial"/>
                <a:ea typeface="Arial"/>
                <a:cs typeface="Arial"/>
              </a:defRPr>
            </a:pPr>
            <a:r>
              <a:rPr sz="3300" b="1">
                <a:solidFill>
                  <a:srgbClr val="172D3D"/>
                </a:solidFill>
                <a:latin typeface="Arial"/>
                <a:ea typeface="Arial"/>
                <a:cs typeface="Arial"/>
              </a:rPr>
              <a:t>Contribution and conclusion</a:t>
            </a:r>
          </a:p>
        </p:txBody>
      </p:sp>
      <p:sp>
        <p:nvSpPr>
          <p:cNvPr id="2" name="12">
            <a:extLst xmlns:a="http://schemas.openxmlformats.org/drawingml/2006/main">
              <a:ext uri="{FF2B5EF4-FFF2-40B4-BE49-F238E27FC236}">
                <a16:creationId xmlns:a16="http://schemas.microsoft.com/office/drawing/2014/main" id="{3D7308C6-76FC-4435-88DE-09311469FB52}"/>
              </a:ext>
            </a:extLst>
          </p:cNvPr>
          <p:cNvSpPr>
            <a:spLocks xmlns:a="http://schemas.openxmlformats.org/drawingml/2006/main" noGrp="1"/>
          </p:cNvSpPr>
          <p:nvPr/>
        </p:nvSpPr>
        <p:spPr>
          <a:xfrm xmlns:a="http://schemas.openxmlformats.org/drawingml/2006/main">
            <a:off x="466725" y="63627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9"/>
                </a:solidFill>
                <a:latin typeface="Arial"/>
                <a:ea typeface="Arial"/>
                <a:cs typeface="Arial"/>
              </a:defRPr>
            </a:pPr>
            <a:r>
              <a:rPr sz="1200" b="0">
                <a:solidFill>
                  <a:srgbClr val="536B79"/>
                </a:solidFill>
                <a:latin typeface="Arial"/>
                <a:ea typeface="Arial"/>
                <a:cs typeface="Arial"/>
              </a:rPr>
              <a:t>12</a:t>
            </a:r>
          </a:p>
        </p:txBody>
      </p:sp>
      <p:sp>
        <p:nvSpPr>
          <p:cNvPr id="3" name="A physical test of context-aware coordination&#10;for ceiling-pa">
            <a:extLst xmlns:a="http://schemas.openxmlformats.org/drawingml/2006/main">
              <a:ext uri="{FF2B5EF4-FFF2-40B4-BE49-F238E27FC236}">
                <a16:creationId xmlns:a16="http://schemas.microsoft.com/office/drawing/2014/main" id="{D9668A6C-F389-4DBE-BA75-7300C31EBE17}"/>
              </a:ext>
            </a:extLst>
          </p:cNvPr>
          <p:cNvSpPr>
            <a:spLocks xmlns:a="http://schemas.openxmlformats.org/drawingml/2006/main" noGrp="1"/>
          </p:cNvSpPr>
          <p:nvPr/>
        </p:nvSpPr>
        <p:spPr>
          <a:xfrm xmlns:a="http://schemas.openxmlformats.org/drawingml/2006/main">
            <a:off x="571500" y="1428750"/>
            <a:ext cx="10763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6DAE"/>
                </a:solidFill>
                <a:latin typeface="Arial"/>
                <a:ea typeface="Arial"/>
                <a:cs typeface="Arial"/>
              </a:defRPr>
            </a:pPr>
            <a:r>
              <a:rPr sz="3225" b="1">
                <a:solidFill>
                  <a:srgbClr val="006DAE"/>
                </a:solidFill>
                <a:latin typeface="Arial"/>
                <a:ea typeface="Arial"/>
                <a:cs typeface="Arial"/>
              </a:rPr>
              <a:t>A physical test of context-aware coordination</a:t>
            </a:r>
          </a:p>
          <a:p xmlns:a="http://schemas.openxmlformats.org/drawingml/2006/main">
            <a:pPr>
              <a:defRPr sz="3225" b="1">
                <a:solidFill>
                  <a:srgbClr val="006DAE"/>
                </a:solidFill>
                <a:latin typeface="Arial"/>
                <a:ea typeface="Arial"/>
                <a:cs typeface="Arial"/>
              </a:defRPr>
            </a:pPr>
            <a:r>
              <a:rPr sz="3225" b="1">
                <a:solidFill>
                  <a:srgbClr val="006DAE"/>
                </a:solidFill>
                <a:latin typeface="Arial"/>
                <a:ea typeface="Arial"/>
                <a:cs typeface="Arial"/>
              </a:rPr>
              <a:t>for ceiling-panel installation</a:t>
            </a:r>
          </a:p>
        </p:txBody>
      </p:sp>
      <p:sp>
        <p:nvSpPr>
          <p:cNvPr id="4" name="Task recognition worked imperfectly. Reported experience&#10;was">
            <a:extLst xmlns:a="http://schemas.openxmlformats.org/drawingml/2006/main">
              <a:ext uri="{FF2B5EF4-FFF2-40B4-BE49-F238E27FC236}">
                <a16:creationId xmlns:a16="http://schemas.microsoft.com/office/drawing/2014/main" id="{890C4838-63D7-4F32-87D1-AF600A136AF5}"/>
              </a:ext>
            </a:extLst>
          </p:cNvPr>
          <p:cNvSpPr>
            <a:spLocks xmlns:a="http://schemas.openxmlformats.org/drawingml/2006/main" noGrp="1"/>
          </p:cNvSpPr>
          <p:nvPr/>
        </p:nvSpPr>
        <p:spPr>
          <a:xfrm xmlns:a="http://schemas.openxmlformats.org/drawingml/2006/main">
            <a:off x="571500" y="303847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Task recognition worked imperfectly. Reported experience</a:t>
            </a:r>
          </a:p>
          <a:p xmlns:a="http://schemas.openxmlformats.org/drawingml/2006/main">
            <a:pPr>
              <a:defRPr sz="2325" b="0">
                <a:solidFill>
                  <a:srgbClr val="172D3D"/>
                </a:solidFill>
                <a:latin typeface="Arial"/>
                <a:ea typeface="Arial"/>
                <a:cs typeface="Arial"/>
              </a:defRPr>
            </a:pPr>
            <a:r>
              <a:rPr sz="2325" b="0">
                <a:solidFill>
                  <a:srgbClr val="172D3D"/>
                </a:solidFill>
                <a:latin typeface="Arial"/>
                <a:ea typeface="Arial"/>
                <a:cs typeface="Arial"/>
              </a:rPr>
              <a:t>was generally favourable. Geometry strongly affected interpretation.</a:t>
            </a:r>
          </a:p>
        </p:txBody>
      </p:sp>
      <p:sp>
        <p:nvSpPr>
          <p:cNvPr id="5" name="The study does not yet establish a safety or efficiency&#10;adva">
            <a:extLst xmlns:a="http://schemas.openxmlformats.org/drawingml/2006/main">
              <a:ext uri="{FF2B5EF4-FFF2-40B4-BE49-F238E27FC236}">
                <a16:creationId xmlns:a16="http://schemas.microsoft.com/office/drawing/2014/main" id="{A9F04D63-214F-4A40-90AB-3DC65295B7C0}"/>
              </a:ext>
            </a:extLst>
          </p:cNvPr>
          <p:cNvSpPr>
            <a:spLocks xmlns:a="http://schemas.openxmlformats.org/drawingml/2006/main" noGrp="1"/>
          </p:cNvSpPr>
          <p:nvPr/>
        </p:nvSpPr>
        <p:spPr>
          <a:xfrm xmlns:a="http://schemas.openxmlformats.org/drawingml/2006/main">
            <a:off x="571500" y="4267200"/>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D3D"/>
                </a:solidFill>
                <a:latin typeface="Arial"/>
                <a:ea typeface="Arial"/>
                <a:cs typeface="Arial"/>
              </a:defRPr>
            </a:pPr>
            <a:r>
              <a:rPr sz="2400" b="1">
                <a:solidFill>
                  <a:srgbClr val="172D3D"/>
                </a:solidFill>
                <a:latin typeface="Arial"/>
                <a:ea typeface="Arial"/>
                <a:cs typeface="Arial"/>
              </a:rPr>
              <a:t>The study does not yet establish a safety or efficiency</a:t>
            </a:r>
          </a:p>
          <a:p xmlns:a="http://schemas.openxmlformats.org/drawingml/2006/main">
            <a:pPr>
              <a:defRPr sz="2400" b="1">
                <a:solidFill>
                  <a:srgbClr val="172D3D"/>
                </a:solidFill>
                <a:latin typeface="Arial"/>
                <a:ea typeface="Arial"/>
                <a:cs typeface="Arial"/>
              </a:defRPr>
            </a:pPr>
            <a:r>
              <a:rPr sz="2400" b="1">
                <a:solidFill>
                  <a:srgbClr val="172D3D"/>
                </a:solidFill>
                <a:latin typeface="Arial"/>
                <a:ea typeface="Arial"/>
                <a:cs typeface="Arial"/>
              </a:rPr>
              <a:t>advantage for predictive control.</a:t>
            </a:r>
          </a:p>
        </p:txBody>
      </p:sp>
      <p:sp>
        <p:nvSpPr>
          <p:cNvPr id="6" name="Next evidence: validated clearance and stopping measurements">
            <a:extLst xmlns:a="http://schemas.openxmlformats.org/drawingml/2006/main">
              <a:ext uri="{FF2B5EF4-FFF2-40B4-BE49-F238E27FC236}">
                <a16:creationId xmlns:a16="http://schemas.microsoft.com/office/drawing/2014/main" id="{D773E361-3571-4F21-AE99-050296294530}"/>
              </a:ext>
            </a:extLst>
          </p:cNvPr>
          <p:cNvSpPr>
            <a:spLocks xmlns:a="http://schemas.openxmlformats.org/drawingml/2006/main" noGrp="1"/>
          </p:cNvSpPr>
          <p:nvPr/>
        </p:nvSpPr>
        <p:spPr>
          <a:xfrm xmlns:a="http://schemas.openxmlformats.org/drawingml/2006/main">
            <a:off x="571500" y="52673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79"/>
                </a:solidFill>
                <a:latin typeface="Arial"/>
                <a:ea typeface="Arial"/>
                <a:cs typeface="Arial"/>
              </a:defRPr>
            </a:pPr>
            <a:r>
              <a:rPr sz="2025" b="0">
                <a:solidFill>
                  <a:srgbClr val="536B79"/>
                </a:solidFill>
                <a:latin typeface="Arial"/>
                <a:ea typeface="Arial"/>
                <a:cs typeface="Arial"/>
              </a:rPr>
              <a:t>Next evidence: validated clearance and stopping measurements</a:t>
            </a:r>
          </a:p>
          <a:p xmlns:a="http://schemas.openxmlformats.org/drawingml/2006/main">
            <a:pPr>
              <a:defRPr sz="2025" b="0">
                <a:solidFill>
                  <a:srgbClr val="536B79"/>
                </a:solidFill>
                <a:latin typeface="Arial"/>
                <a:ea typeface="Arial"/>
                <a:cs typeface="Arial"/>
              </a:defRPr>
            </a:pPr>
            <a:r>
              <a:rPr sz="2025" b="0">
                <a:solidFill>
                  <a:srgbClr val="536B79"/>
                </a:solidFill>
                <a:latin typeface="Arial"/>
                <a:ea typeface="Arial"/>
                <a:cs typeface="Arial"/>
              </a:rPr>
              <a:t>with reliably linked controller comparisons.</a:t>
            </a:r>
          </a:p>
        </p:txBody>
      </p:sp>
    </p:spTree>
    <p:extLst>
      <p:ext uri="{BB962C8B-B14F-4D97-AF65-F5344CB8AC3E}">
        <p14:creationId xmlns:p14="http://schemas.microsoft.com/office/powerpoint/2010/main" val="1512327385"/>
      </p:ext>
    </p:extLst>
  </p:cSld>
</p:sld>
</file>

<file path=ppt/theme/theme1.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2026-09-19T06:40:41.5790000Z</dcterms:created>
  <dcterms:modified xsi:type="dcterms:W3CDTF">2026-09-19T06:40:41.5790000Z</dcterms:modified>
</coreProperties>
</file>